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4864" cy="496519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 ·  $15.6M ARR  ·  118 Employees  |  CONFIDENTIAL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359152"/>
            <a:ext cx="8503920" cy="18288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2487168"/>
            <a:ext cx="27432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42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$15.6M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3044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2487168"/>
            <a:ext cx="27432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542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3044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0760" y="2487168"/>
            <a:ext cx="27432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5420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 mo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3044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$18.2M cash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 Sarah Chen (Sequoia, Lead)  ·  David Park (Andreessen Horowitz)  ·  Marcus Webb (Independent)  ·  Priya Nair (Founder/CEO)  ·  James Liu (Founder/CTO)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58521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084832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$15.6M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35331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" y="152704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+10.6% QoQ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14016" y="868680"/>
            <a:ext cx="2084832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118%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87168" y="135331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87168" y="152704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120%+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45152" y="868680"/>
            <a:ext cx="2084832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135331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18304" y="152704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80%+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76288" y="868680"/>
            <a:ext cx="2084832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135331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49440" y="152704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&gt;0.75  ✓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1828800"/>
            <a:ext cx="4114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" y="18836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GROWTH TREND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157984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'25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'26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'26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'26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063240" y="3142722"/>
            <a:ext cx="148917" cy="844062"/>
          </a:xfrm>
          <a:prstGeom prst="rect">
            <a:avLst/>
          </a:prstGeom>
          <a:solidFill>
            <a:srgbClr val="1E4A78"/>
          </a:solidFill>
          <a:ln/>
        </p:spPr>
      </p:sp>
      <p:sp>
        <p:nvSpPr>
          <p:cNvPr id="26" name="Text 23"/>
          <p:cNvSpPr/>
          <p:nvPr/>
        </p:nvSpPr>
        <p:spPr>
          <a:xfrm>
            <a:off x="3044952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Q1'25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3248733" y="2990322"/>
            <a:ext cx="148917" cy="996462"/>
          </a:xfrm>
          <a:prstGeom prst="rect">
            <a:avLst/>
          </a:prstGeom>
          <a:solidFill>
            <a:srgbClr val="1E4A78"/>
          </a:solidFill>
          <a:ln/>
        </p:spPr>
      </p:sp>
      <p:sp>
        <p:nvSpPr>
          <p:cNvPr id="28" name="Text 25"/>
          <p:cNvSpPr/>
          <p:nvPr/>
        </p:nvSpPr>
        <p:spPr>
          <a:xfrm>
            <a:off x="3230445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Q2'25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3434225" y="2837922"/>
            <a:ext cx="148917" cy="1148862"/>
          </a:xfrm>
          <a:prstGeom prst="rect">
            <a:avLst/>
          </a:prstGeom>
          <a:solidFill>
            <a:srgbClr val="1E4A78"/>
          </a:solidFill>
          <a:ln/>
        </p:spPr>
      </p:sp>
      <p:sp>
        <p:nvSpPr>
          <p:cNvPr id="30" name="Text 27"/>
          <p:cNvSpPr/>
          <p:nvPr/>
        </p:nvSpPr>
        <p:spPr>
          <a:xfrm>
            <a:off x="3415937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Q3'25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3619718" y="2650353"/>
            <a:ext cx="148917" cy="1336431"/>
          </a:xfrm>
          <a:prstGeom prst="rect">
            <a:avLst/>
          </a:prstGeom>
          <a:solidFill>
            <a:srgbClr val="1E4A78"/>
          </a:solidFill>
          <a:ln/>
        </p:spPr>
      </p:sp>
      <p:sp>
        <p:nvSpPr>
          <p:cNvPr id="32" name="Text 29"/>
          <p:cNvSpPr/>
          <p:nvPr/>
        </p:nvSpPr>
        <p:spPr>
          <a:xfrm>
            <a:off x="3601430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Q4'25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3805210" y="2486230"/>
            <a:ext cx="148917" cy="1500554"/>
          </a:xfrm>
          <a:prstGeom prst="rect">
            <a:avLst/>
          </a:prstGeom>
          <a:solidFill>
            <a:srgbClr val="1E4A78"/>
          </a:solidFill>
          <a:ln/>
        </p:spPr>
      </p:sp>
      <p:sp>
        <p:nvSpPr>
          <p:cNvPr id="34" name="Text 31"/>
          <p:cNvSpPr/>
          <p:nvPr/>
        </p:nvSpPr>
        <p:spPr>
          <a:xfrm>
            <a:off x="3786922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Q1'26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3990703" y="2333830"/>
            <a:ext cx="148917" cy="1652954"/>
          </a:xfrm>
          <a:prstGeom prst="rect">
            <a:avLst/>
          </a:prstGeom>
          <a:solidFill>
            <a:srgbClr val="1E4A78"/>
          </a:solidFill>
          <a:ln/>
        </p:spPr>
      </p:sp>
      <p:sp>
        <p:nvSpPr>
          <p:cNvPr id="36" name="Text 33"/>
          <p:cNvSpPr/>
          <p:nvPr/>
        </p:nvSpPr>
        <p:spPr>
          <a:xfrm>
            <a:off x="3972415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Q2'26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176195" y="2157984"/>
            <a:ext cx="148917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5"/>
          <p:cNvSpPr/>
          <p:nvPr/>
        </p:nvSpPr>
        <p:spPr>
          <a:xfrm>
            <a:off x="4157907" y="4023360"/>
            <a:ext cx="18549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4389120" y="1828800"/>
            <a:ext cx="438912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7"/>
          <p:cNvSpPr/>
          <p:nvPr/>
        </p:nvSpPr>
        <p:spPr>
          <a:xfrm>
            <a:off x="4389120" y="188366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2157984"/>
          <a:ext cx="4434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731520"/>
                <a:gridCol w="59436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churn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Payback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&lt;16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</a:tbl>
          </a:graphicData>
        </a:graphic>
      </p:graphicFrame>
      <p:sp>
        <p:nvSpPr>
          <p:cNvPr id="42" name="Shape 38"/>
          <p:cNvSpPr/>
          <p:nvPr/>
        </p:nvSpPr>
        <p:spPr>
          <a:xfrm>
            <a:off x="182880" y="4041648"/>
            <a:ext cx="2834640" cy="822960"/>
          </a:xfrm>
          <a:prstGeom prst="rect">
            <a:avLst/>
          </a:prstGeom>
          <a:solidFill>
            <a:srgbClr val="0D1E3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92608" y="410565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BURN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292608" y="4279392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$18.2M cash  ·  $223K/mo burn  ·  81 mo runway  ·  0.36x burn multiple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3154680" y="4041648"/>
            <a:ext cx="5669280" cy="822960"/>
          </a:xfrm>
          <a:prstGeom prst="rect">
            <a:avLst/>
          </a:prstGeom>
          <a:solidFill>
            <a:srgbClr val="0D1E3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264408" y="4105656"/>
            <a:ext cx="5449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3264408" y="4279392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 jumped from 0.98 → 1.12 QoQ — sales efficiency is accelerating. NRR dipped 3pp due to Q3 churn cluster ($500K); see slide 3 for churn analysis and remediation plan.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49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&amp; Customer Health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0" y="502920"/>
            <a:ext cx="18288" cy="4526280"/>
          </a:xfrm>
          <a:prstGeom prst="rect">
            <a:avLst/>
          </a:prstGeom>
          <a:solidFill>
            <a:srgbClr val="C0D8E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530352"/>
            <a:ext cx="420624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5852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77824"/>
          <a:ext cx="4206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60120"/>
                <a:gridCol w="960120"/>
                <a:gridCol w="960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QoQ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450592"/>
            <a:ext cx="420624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25054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</a:t>
            </a:r>
            <a:endParaRPr lang="en-US" sz="9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79776"/>
          <a:ext cx="4206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640080"/>
                <a:gridCol w="82296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09160" y="530352"/>
            <a:ext cx="420624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5852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DEEP DIVE — Q3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709160" y="8778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total churn (up from $300K Q2) — requires immediate response</a:t>
            </a:r>
            <a:endParaRPr lang="en-US" sz="8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52144"/>
          <a:ext cx="4206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16459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Preventable?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Mfg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(M&amp;A)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Dynamics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SMB accts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TechFab Solutions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CS 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SMB accts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Consolidated Parts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709160" y="2926080"/>
            <a:ext cx="4206240" cy="411480"/>
          </a:xfrm>
          <a:prstGeom prst="rect">
            <a:avLst/>
          </a:prstGeom>
          <a:solidFill>
            <a:srgbClr val="EBF5F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18888" y="2999232"/>
            <a:ext cx="3986784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$290K / 58% preventable — CS capacity + onboarding gap are primary drivers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709160" y="3419856"/>
            <a:ext cx="420624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3"/>
          <p:cNvSpPr/>
          <p:nvPr/>
        </p:nvSpPr>
        <p:spPr>
          <a:xfrm>
            <a:off x="4709160" y="3474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Q4 ACCOUNTS</a:t>
            </a:r>
            <a:endParaRPr lang="en-US" sz="90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30752"/>
          <a:ext cx="4206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7724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Industries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 left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Midwest Components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drop -40%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ClearPath 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+ POC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</a:tbl>
          </a:graphicData>
        </a:graphic>
      </p:graphicFrame>
      <p:sp>
        <p:nvSpPr>
          <p:cNvPr id="20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21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Team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530352"/>
            <a:ext cx="8686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5852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86968"/>
            <a:ext cx="416052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418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Q3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88720"/>
          <a:ext cx="4160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2344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Maintenance 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 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Dashboards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dashboards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tickets -18%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accounts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accelerant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 8/15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Unblocked $380K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17720" y="886968"/>
            <a:ext cx="416052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9418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ROADMAP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1605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691640"/>
                <a:gridCol w="1005840"/>
                <a:gridCol w="114300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deals $200K+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MindSphere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starting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 TAM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churn 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28600" y="2578608"/>
            <a:ext cx="8686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" y="26334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9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80360"/>
          <a:ext cx="4572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31520"/>
                <a:gridCol w="731520"/>
                <a:gridCol w="685800"/>
                <a:gridCol w="7315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983480" y="2880360"/>
            <a:ext cx="3840480" cy="1554480"/>
          </a:xfrm>
          <a:prstGeom prst="rect">
            <a:avLst/>
          </a:prstGeom>
          <a:solidFill>
            <a:srgbClr val="EBF5F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102352" y="2944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Q3 HIRES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102352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VP Customer Success — ex-Datadog (scaled CS org 20→80), starts Q4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102352" y="35295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Head of Partnerships — ex-Siemens (SAP + Siemens channel)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102352" y="38770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2× Senior ML Engineers — PhD, Georgia Tech (Predictive Maintenance roadmap)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228600" y="4480560"/>
            <a:ext cx="8595360" cy="384048"/>
          </a:xfrm>
          <a:prstGeom prst="rect">
            <a:avLst/>
          </a:prstGeom>
          <a:solidFill>
            <a:srgbClr val="EBF5F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38328" y="4553712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headcount: 98 → 112 (+14 in Q3). 12 open roles funded. Largest growth: Engineering (+4) and Sales (+4). CS investment is the board ask on slide 6.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23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Financials &amp; Competitive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530352"/>
            <a:ext cx="8686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5852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COMPETITIVE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86968"/>
            <a:ext cx="8686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418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SUMMARY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88720"/>
          <a:ext cx="8686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005840"/>
                <a:gridCol w="1005840"/>
                <a:gridCol w="100584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($1.42M)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($1.58M)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($1.72M)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($6.48M)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($1.34M)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($1.48M)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($1.62M)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($6.04M)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($580K)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($700K)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($670K)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($2.52M)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145536"/>
            <a:ext cx="201168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" y="318211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$18.2M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01752" y="351129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04872" y="3145536"/>
            <a:ext cx="201168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78024" y="318211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$223K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478024" y="351129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81144" y="3145536"/>
            <a:ext cx="201168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54296" y="318211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 months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54296" y="351129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757416" y="3145536"/>
            <a:ext cx="201168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30568" y="318211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0.36x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30568" y="351129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28600" y="3867912"/>
            <a:ext cx="86868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19"/>
          <p:cNvSpPr/>
          <p:nvPr/>
        </p:nvSpPr>
        <p:spPr>
          <a:xfrm>
            <a:off x="228600" y="392277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WIN RATES</a:t>
            </a:r>
            <a:endParaRPr lang="en-US" sz="9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169664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2286000"/>
                <a:gridCol w="25603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Threat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Counter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DataForge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price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integration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Lite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domain expertise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VC-funded hiring blitz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certified + customer ROI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E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25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Asks — Q3 2026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58521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ASKS — Q3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86968"/>
            <a:ext cx="2834640" cy="3913632"/>
          </a:xfrm>
          <a:prstGeom prst="rect">
            <a:avLst/>
          </a:prstGeom>
          <a:solidFill>
            <a:srgbClr val="1A274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960120"/>
            <a:ext cx="7772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9601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0896" y="126187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$2.5M CS Investment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162763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FTEs over 12 months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" y="1883664"/>
            <a:ext cx="2615184" cy="18288"/>
          </a:xfrm>
          <a:prstGeom prst="rect">
            <a:avLst/>
          </a:prstGeom>
          <a:solidFill>
            <a:srgbClr val="1E3F6A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195681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VP CS (ex-Datadog) onboarding now — team build Q4-Q1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" y="234086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Projected churn savings: $700K/yr based on Q3 analysis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272491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Payback period: 14 months. IRR &gt; 80% at current NRR trajectory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" y="31089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Immediate actions: Onboarding revamp + health score tooling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" y="34930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 of inaction: $340K+ at-risk ARR in Q4 alone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72968" y="886968"/>
            <a:ext cx="2834640" cy="3913632"/>
          </a:xfrm>
          <a:prstGeom prst="rect">
            <a:avLst/>
          </a:prstGeom>
          <a:solidFill>
            <a:srgbClr val="1A274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960120"/>
            <a:ext cx="7772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9601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82696" y="126187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SMB Usage-Based Pricing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82696" y="162763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 self-serve tier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82696" y="1883664"/>
            <a:ext cx="2615184" cy="18288"/>
          </a:xfrm>
          <a:prstGeom prst="rect">
            <a:avLst/>
          </a:prstGeom>
          <a:solidFill>
            <a:srgbClr val="1E3F6A"/>
          </a:solidFill>
          <a:ln/>
        </p:spPr>
      </p:sp>
      <p:sp>
        <p:nvSpPr>
          <p:cNvPr id="23" name="Text 21"/>
          <p:cNvSpPr/>
          <p:nvPr/>
        </p:nvSpPr>
        <p:spPr>
          <a:xfrm>
            <a:off x="3282696" y="195681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PLG motion: 8 deals, $18K ACV, $6.2K CAC already proven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82696" y="234086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Projected new ARR: +$1.2M in first 12 months post-launch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82696" y="272491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Addresses 58% preventable churn from SMB price sensitivity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31089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 spec complete — engineering 6 weeks to launch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82696" y="34930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 revenue positive: expansion &gt; contraction modeled at 2:1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44768" y="886968"/>
            <a:ext cx="2834640" cy="3913632"/>
          </a:xfrm>
          <a:prstGeom prst="rect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1928" y="960120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281928" y="9601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54496" y="126187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C Timing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54496" y="162763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now vs. wait for $30M ARR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54496" y="1883664"/>
            <a:ext cx="2615184" cy="18288"/>
          </a:xfrm>
          <a:prstGeom prst="rect">
            <a:avLst/>
          </a:prstGeom>
          <a:solidFill>
            <a:srgbClr val="1E3F6A"/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195681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Current: 81mo runway, $15.6M ARR, accelerating growth (+10.6% QoQ)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54496" y="234086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Option A: Raise Q2 2027 at $22-25M ARR — stronger SaaS comps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54496" y="272491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Option B: Wait for $30M ARR — higher valuation, more dilution risk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54496" y="31089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 inputs: Siemens integration TAM, board investor relationships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54496" y="34930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Board input requested: timing preference, target size, lead investor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21031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18888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Confidential  ·  Q3 2026 Board Meeting  ·  Prepared by Priya Nair, CEO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2026-03-30T21:37:51Z</dcterms:created>
  <dcterms:modified xsi:type="dcterms:W3CDTF">2026-03-30T21:37:51Z</dcterms:modified>
</cp:coreProperties>
</file>