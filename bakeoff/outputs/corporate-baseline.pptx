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INVESTOR PRESENTATION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1005840" cy="1005840"/>
          </a:xfrm>
          <a:prstGeom prst="ellipse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FY2025 Results &amp; 2026 Outlook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0" y="329184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364992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4564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UAL  |  NASDAQ  |  January 20,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114800"/>
            <a:ext cx="1828800" cy="1024128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" y="415137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$59.1B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" y="45902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FY2025 Revenue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0" y="4114800"/>
            <a:ext cx="1828800" cy="10241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874520" y="415137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$10.62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74520" y="45902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Adj. EPS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0" y="4114800"/>
            <a:ext cx="1828800" cy="1024128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8" name="Text 16"/>
          <p:cNvSpPr/>
          <p:nvPr/>
        </p:nvSpPr>
        <p:spPr>
          <a:xfrm>
            <a:off x="3703320" y="415137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181.1M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03320" y="45902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Passengers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0" y="4114800"/>
            <a:ext cx="1828800" cy="10241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415137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45902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Fleet Size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0" y="4114800"/>
            <a:ext cx="1828800" cy="1024128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24" name="Text 22"/>
          <p:cNvSpPr/>
          <p:nvPr/>
        </p:nvSpPr>
        <p:spPr>
          <a:xfrm>
            <a:off x="7360920" y="415137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$12–$14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60920" y="45902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E4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2026E EPS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pillars supporting UAL re-rating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97280"/>
            <a:ext cx="4343400" cy="1783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434340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133856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Scale &amp; Hub Dominance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Largest U.S. airline by ASMs (330.3B)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764792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#1 at ORD, DEN, IAH, EWR, SFO, IAD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48256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Only U.S. carrier to Bangkok, Ho Chi Minh City, Adelaide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331720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Network moat compounds with every new route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4343400" cy="1783080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097280"/>
            <a:ext cx="434340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4727448" y="1133856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Premium / Loyalty Revenue Quality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481328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Premium cabin +11% in 2025 — growing 2× basic economy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764792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130M MileagePlus members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048256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Chase co-brand adding 1M+ cards/yr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Signature Interior rolling out across fleet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944368"/>
            <a:ext cx="4343400" cy="1783080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944368"/>
            <a:ext cx="434340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" y="2980944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Balance Sheet Normalization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328416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Net leverage 2.2× (Dec'25) → &lt;2.0× (Dec'26)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611880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MileagePlus bonds fully retired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895344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Investment-grade trajectory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178808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Interest expense –16% YoY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2944368"/>
            <a:ext cx="4343400" cy="1783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2944368"/>
            <a:ext cx="434340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4727448" y="2980944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2026 EPS Inflection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328416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$12–$14 EPS guidance (vs. $10.62 in 2025): +13%–+32%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3611880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First time materially exceeding 2019 peak of $12.05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3895344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Labor headwinds largely absorbed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4178808"/>
            <a:ext cx="4069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TRASM inflection + aircraft efficiency = margin expansion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745736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332"/>
                </a:solidFill>
              </a:rPr>
              <a:t>UAL enters 2026 with labor contracts settled, the largest delivery pipeline in its history, record booking trends, and a balance sheet on track for investment-grade — the convergence of tailwinds that have been building since 2022.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Arc: 2021–2026E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Six-year revenue and earnings trajectory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8686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15568"/>
                <a:gridCol w="1115568"/>
                <a:gridCol w="1115568"/>
                <a:gridCol w="1115568"/>
                <a:gridCol w="1115568"/>
                <a:gridCol w="1097280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FY2021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FY2022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FY2023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FY2026E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Total Revenue ($B)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$24.6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$45.0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$53.7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$57.1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$59.1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Adj. EPS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Neg.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$10.61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$10.05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$10.61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$10.62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$12–$14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Adj. Pre-Tax Margin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Neg.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~6%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8.0%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8.1%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7.8%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~10%+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ASMs (B)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178.7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247.9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291.3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311.2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330.3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~349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Fleet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~1,300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1,358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1,406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1,490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~1,610E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172968"/>
            <a:ext cx="5486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Revenue ($B) — scaled to $65B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 rot="16200000">
            <a:off x="0" y="32461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7280"/>
                </a:solidFill>
              </a:rPr>
              <a:t>Revenue ($B)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02920" y="3701041"/>
            <a:ext cx="1319784" cy="249167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3737617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$24.6B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02920" y="3977640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2021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1905000" y="3494415"/>
            <a:ext cx="1319784" cy="455793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3" name="Text 10"/>
          <p:cNvSpPr/>
          <p:nvPr/>
        </p:nvSpPr>
        <p:spPr>
          <a:xfrm>
            <a:off x="1905000" y="3530991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$45B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905000" y="3977640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2022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3307080" y="3406295"/>
            <a:ext cx="1319784" cy="543913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6" name="Text 13"/>
          <p:cNvSpPr/>
          <p:nvPr/>
        </p:nvSpPr>
        <p:spPr>
          <a:xfrm>
            <a:off x="3307080" y="3442871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$53.7B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307080" y="3977640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2023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4709160" y="3371857"/>
            <a:ext cx="1319784" cy="578351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3408433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$57.1B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709160" y="3977640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2024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111240" y="3351600"/>
            <a:ext cx="1319784" cy="598608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22" name="Text 19"/>
          <p:cNvSpPr/>
          <p:nvPr/>
        </p:nvSpPr>
        <p:spPr>
          <a:xfrm>
            <a:off x="6111240" y="3388176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$59.1B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111240" y="3977640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2025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513320" y="3312097"/>
            <a:ext cx="1319784" cy="63811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2"/>
          <p:cNvSpPr/>
          <p:nvPr/>
        </p:nvSpPr>
        <p:spPr>
          <a:xfrm>
            <a:off x="7513320" y="3348673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2332"/>
                </a:solidFill>
              </a:rPr>
              <a:t>$63B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7513320" y="3977640"/>
            <a:ext cx="131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2026E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228600" y="4133088"/>
            <a:ext cx="8686800" cy="100584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65760" y="4160520"/>
            <a:ext cx="84124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332"/>
                </a:solidFill>
              </a:rPr>
              <a:t>EPS Plateau 2022–2025: $10.61 → $10.05 → $10.61 → $10.62 reflects absorption of $10B+ in cumulative pilot/FA contract obligations — NOT operational underperformance. Revenue +31% since 2022. The plateau ends in 2026.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Quarterly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Revenue, earnings, and margin by quarter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8686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17320"/>
                <a:gridCol w="822960"/>
                <a:gridCol w="1188720"/>
                <a:gridCol w="1097280"/>
                <a:gridCol w="1463040"/>
                <a:gridCol w="13258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Quarter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 Revenue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Net Income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Adj. EPS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Pre-Tax Margin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ASMs (B)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Q1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$13.213B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+5.4%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$0.387B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$0.91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3.0%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75.155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Q2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$15.236B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+1.7%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$0.973B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$3.87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11.0%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84.347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Q3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$15.225B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+2.6%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$0.949B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$2.78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8.0%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87.417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Q4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$15.394B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+4.8%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$1.024B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$3.10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8.5%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83.365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FY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$59.068B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+3.5%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$3.400B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$10.62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7.8%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330.284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3566160"/>
            <a:ext cx="2852928" cy="1435608"/>
          </a:xfrm>
          <a:prstGeom prst="rect">
            <a:avLst/>
          </a:prstGeom>
          <a:solidFill>
            <a:srgbClr val="D6E4F0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8600" y="3566160"/>
            <a:ext cx="2852928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35661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Context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38328" y="3895344"/>
            <a:ext cx="265176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Revenue +4.8% but EPS –4.9% vs. Q4'24 ($3.10 vs. $3.26). Comps problem + temporary domestic fare softness, not structural.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72968" y="3566160"/>
            <a:ext cx="2852928" cy="143560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72968" y="3566160"/>
            <a:ext cx="2852928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0"/>
          <p:cNvSpPr/>
          <p:nvPr/>
        </p:nvSpPr>
        <p:spPr>
          <a:xfrm>
            <a:off x="3264408" y="35661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Story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282696" y="3895344"/>
            <a:ext cx="265176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Initial $11.50–$13.50 → revised to $9.00–$11.00 mid-year → delivered $10.62 at/near top of revised range.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17336" y="3566160"/>
            <a:ext cx="2852928" cy="1435608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17336" y="3566160"/>
            <a:ext cx="2852928" cy="29260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7" name="Text 14"/>
          <p:cNvSpPr/>
          <p:nvPr/>
        </p:nvSpPr>
        <p:spPr>
          <a:xfrm>
            <a:off x="6208776" y="35661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C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GAAP vs. Adj.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227064" y="3895344"/>
            <a:ext cx="265176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$447M fleet write-offs pulled GAAP EPS below adjusted; retirements economically rational.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 The TRASM/CASM Story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trends and 2025 quarterly breakdown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78992"/>
            <a:ext cx="2286000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789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Annual Trends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80160"/>
          <a:ext cx="53035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41248"/>
                <a:gridCol w="841248"/>
                <a:gridCol w="877824"/>
                <a:gridCol w="877824"/>
                <a:gridCol w="950976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TRASM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PRASM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CASM-ex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Fuel/Gal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Load Factor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FY2023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18.44¢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12.03¢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$3.01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83.9%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FY2024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18.34¢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16.66¢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12.58¢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$2.65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83.1%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FY2025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17.88¢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16.18¢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12.64¢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$2.44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82.2%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2724912"/>
            <a:ext cx="2560320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2724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2025 Quarterly</a:t>
            </a:r>
            <a:endParaRPr lang="en-US" sz="8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926080"/>
          <a:ext cx="53035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41248"/>
                <a:gridCol w="841248"/>
                <a:gridCol w="877824"/>
                <a:gridCol w="877824"/>
                <a:gridCol w="950976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Quarter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TRASM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PRASM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CASM-ex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Fuel/Gal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Load Factor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Q1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17.58¢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15.78¢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13.17¢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$2.53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79.2%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Q2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18.06¢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16.40¢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12.36¢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$2.34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83.1%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Q3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17.42¢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15.80¢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12.15¢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$2.43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84.4%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Q4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18.47¢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16.71¢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12.94¢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$2.49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81.9%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760720" y="1078992"/>
            <a:ext cx="3154680" cy="1207008"/>
          </a:xfrm>
          <a:prstGeom prst="rect">
            <a:avLst/>
          </a:prstGeom>
          <a:solidFill>
            <a:srgbClr val="D6E4F0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870448" y="1124712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TRASM –2.5% in 2025: NOT a demand problem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870448" y="1408176"/>
            <a:ext cx="29443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Record 181M passengers. Industry capacity grew faster than unit revenue. Response: UAL pulled 4 ppts domestic capacity mid-year, retired 21 aircraft early.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760720" y="2395728"/>
            <a:ext cx="3154680" cy="749808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870448" y="2441448"/>
            <a:ext cx="2944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Unhedged by Policy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870448" y="2679192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$0.10/gal = ~$466M annual P&amp;L impact at 4.663B gallons consumed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760720" y="3246120"/>
            <a:ext cx="3154680" cy="1783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870448" y="3291840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</a:rPr>
              <a:t>2026 Thesis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870448" y="3566160"/>
            <a:ext cx="294436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TRASM inflects positive as industry capacity normalizes → CASM-ex stabilizes with aircraft deliveries → gap widens = margin expansion toward 10%+ pre-tax margin target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Structure: Composition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FY2025 vs. FY2024 operating expense detail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8686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51560"/>
                <a:gridCol w="1051560"/>
                <a:gridCol w="914400"/>
                <a:gridCol w="731520"/>
                <a:gridCol w="3200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Line Item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YoY $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YoY 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Salaries &amp; related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$17.647B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$16.678B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+$969M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+5.8%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Bounded — pilot contract peaks in early years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Aircraft fuel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$11.396B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$11.756B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–$360M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–3.1%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Genuine tailwind; new aircraft insulates further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Landing fees &amp; rent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$3.849B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$3.437B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+$412M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+12.0%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Good cost: EWR T-A, ORD, DEN upgrades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Maintenance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$3.294B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$3.063B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+$231M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+7.5%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Fleet growth + aging aircraft in transition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Depreciation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$2.939B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$2.928B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+$11M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+0.4%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Stable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Regional capacity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$2.693B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$2.516B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+$177M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+7.0%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Volume growth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Distribution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$2.109B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$2.231B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–$122M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–5.5%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Tailwind: direct channel shift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Other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$9.919B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$9.053B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+$866M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+9.6%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Total OpEx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$54.356B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$51.967B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+$2.389B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+4.6%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332"/>
                          </a:solidFill>
                        </a:rPr>
                        <a:t>vs. Revenue +3.5%</a:t>
                      </a: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526280"/>
            <a:ext cx="2852928" cy="502920"/>
          </a:xfrm>
          <a:prstGeom prst="rect">
            <a:avLst/>
          </a:prstGeom>
          <a:solidFill>
            <a:srgbClr val="D6E4F0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4544568"/>
            <a:ext cx="2697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2332"/>
                </a:solidFill>
              </a:rPr>
              <a:t>Labor: Up $2.9B in 2 yrs. 32.5% of OpEx. Gauge-up means labor cost per SEAT rises less than cost per employee — 150 pax vs. 50 on replaced planes.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3172968" y="4526280"/>
            <a:ext cx="2852928" cy="502920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64408" y="4544568"/>
            <a:ext cx="2697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Landing Fees: +12% = UAL's own $2.7B EWR Terminal A + ORD T2 satellite + DEN gates. Premium product in OpEx, not just CapEx.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6117336" y="4526280"/>
            <a:ext cx="2852928" cy="50292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08776" y="4544568"/>
            <a:ext cx="2697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2332"/>
                </a:solidFill>
              </a:rPr>
              <a:t>Distribution –5.5%: Direct channels handle 85%+ of check-ins. GDS fee avoidance has legs as app engagement accelerates.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Two-Speed Airline: Regional Revenue Trends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International outperformance driving revenue quality improvement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5029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22960"/>
                <a:gridCol w="822960"/>
                <a:gridCol w="822960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FY2023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FY2025E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3-Yr CAGR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Domestic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$31.874B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$28.458B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~$31.6B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–0.4%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Atlantic — Europe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$8.068B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$8.099B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~$10.1B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+11.9%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Atlantic — MEIA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$1.000B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$1.141B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~$1.3B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+14.0%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Pacific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$4.437B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$5.226B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~$6.88B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+24.5%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Latin America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$3.667B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$4.827B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~$5.53B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+22.8%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40680" y="1078992"/>
            <a:ext cx="3474720" cy="868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50408" y="114300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MEIA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50408" y="139903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+58.7% Q4 revenue | +56% capacity | EWR-Dubai, EWR-Delhi, SFO-Bangalore ramping | India = structural opportunity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40680" y="2011680"/>
            <a:ext cx="3474720" cy="868680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50408" y="207568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Pacific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550408" y="2331720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+10.1% Q4 | Only U.S. carrier to Bangkok, Adelaide, Ho Chi Minh City | Monopoly routes support yield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440680" y="2944368"/>
            <a:ext cx="3474720" cy="868680"/>
          </a:xfrm>
          <a:prstGeom prst="rect">
            <a:avLst/>
          </a:prstGeom>
          <a:solidFill>
            <a:srgbClr val="D6E4F0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550408" y="30083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Domestic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50408" y="326440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</a:rPr>
              <a:t>+2.0% Q4 revenue but PRASM –1.9% | Soft all year | Mid-year capacity discipline in progress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440680" y="3877056"/>
            <a:ext cx="3474720" cy="1143000"/>
          </a:xfrm>
          <a:prstGeom prst="rect">
            <a:avLst/>
          </a:prstGeom>
          <a:solidFill>
            <a:srgbClr val="374151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550408" y="394106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Latin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50408" y="4197096"/>
            <a:ext cx="32918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+0.5% Q4 but PRASM –7.6% | Brazilian competition + macro | ~10% of pax revenue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28600" y="3401568"/>
            <a:ext cx="5029200" cy="960120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38328" y="3447288"/>
            <a:ext cx="4828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</a:rPr>
              <a:t>2026 Route Expansion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38328" y="3703320"/>
            <a:ext cx="48280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New routes in 2025–2026: EWR-Dubai (daily), EWR-Delhi (daily), SFO-Bangalore, SFO-Singapore (787-9 Elevated April 2026), ORD-Melbourne. Pacific + MEIA corridors represent the highest PRASM expansion opportunity in the portfolio.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28600" y="4434840"/>
            <a:ext cx="8686800" cy="5669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44531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332"/>
                </a:solidFill>
              </a:rPr>
              <a:t>A321XLR (4,700 nm range) unlocks routes impossible for 757 or A321neo: EWR to Bari, Split, Glasgow, Santiago de Compostela — point-to-point international with narrowbody economics.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Quality: Premium &amp; Loyalty Flywheel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Structural shift to higher-margin revenue streams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78992"/>
            <a:ext cx="41148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78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Premium Cabin Performance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353312"/>
            <a:ext cx="4114800" cy="36576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8988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Premium cabin FY2025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0" y="13898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+11% YoY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4114800" cy="365760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773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Basic Economy FY2025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26080" y="17739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+5% YoY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121408"/>
            <a:ext cx="4114800" cy="36576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1579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Premium seats flown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0" y="21579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27.4M (12% of seats)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505456"/>
            <a:ext cx="4114800" cy="365760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5420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Premium seats/N.Am. dep. since 2021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26080" y="25420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+40%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889504"/>
            <a:ext cx="4114800" cy="36576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926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Narrowbodies w/ Signature Interior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26080" y="29260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119 (68% of fleet)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3273552"/>
            <a:ext cx="4114800" cy="365760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3101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Signature Interior NPS premium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26080" y="33101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+10 pts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1078992"/>
            <a:ext cx="4343400" cy="274320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107899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MileagePlus / Loyalty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1353312"/>
            <a:ext cx="4343400" cy="36576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13898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Total members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543800" y="138988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130M+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1737360"/>
            <a:ext cx="4343400" cy="365760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177393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Chase co-brand spend growth Q4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43800" y="177393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+14%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2121408"/>
            <a:ext cx="4343400" cy="36576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21579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Chase co-brand spend growth FY2025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543800" y="2157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+12%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2505456"/>
            <a:ext cx="4343400" cy="365760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25420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New cards/year (3rd consecutive yr)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543800" y="25420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1M+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2889504"/>
            <a:ext cx="4343400" cy="36576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29260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Chase deal expiry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543800" y="29260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2029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0" y="3273552"/>
            <a:ext cx="4343400" cy="365760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33101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CEO target: MileagePlus profit growth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543800" y="331012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2× by 2030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3886200"/>
            <a:ext cx="8686800" cy="109728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65760" y="3931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MileagePlus Standalone Valuation Opportunity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4224528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In 2020, bankers valued MileagePlus at ~$22B as loan collateral — and the program has grown since. UAL total market cap today: ~$28B. This implies minimal standalone loyalty value is priced in — a significant re-rating opportunity vs. the Delta/AmEx model. New April 2026: primary cardholders earn 2× more miles; 10–15% discount on award redemptions.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Next Fleet Transformation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Largest delivery pipeline in UAL history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78992"/>
            <a:ext cx="1965960" cy="731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155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1358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Dec'23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078992"/>
            <a:ext cx="1965960" cy="731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1155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1406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96312" y="15087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Dec'24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1078992"/>
            <a:ext cx="1965960" cy="731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11155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1490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72584" y="15087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Dec'25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48856" y="1078992"/>
            <a:ext cx="1965960" cy="73152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48856" y="11155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332"/>
                </a:solidFill>
              </a:rPr>
              <a:t>1610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48856" y="15087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Dec'26E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1920240"/>
            <a:ext cx="4114800" cy="4572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19476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2025 Deliveries: 71 narrowbody + 11 widebody = 82 aircraft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920240"/>
            <a:ext cx="4343400" cy="457200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947672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2026 Plan: ~100 NB + ~20 WB = ~120 aircraft (largest U.S. widebody intake since 1988)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487168"/>
          <a:ext cx="5943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182880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Aircraft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Orders Remaining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Boeing 787-9 Elevated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Long-haul premium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47+ next wave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Boeing 737 MAX 8/9/10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Domestic narrowbody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200+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Airbus A321neo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General domestic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18+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A321neo Coastliner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Domestic transcon lie-flat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50 total, 40 by Apr'28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Airbus A321XLR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New intl routes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50 total, 25+ by 2028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CRJ450 (SkyWest)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Premium regional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70 total, 50 by 2028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Total United Next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2332"/>
                          </a:solidFill>
                        </a:rPr>
                        <a:t>630+ by 2034</a:t>
                      </a:r>
                      <a:endParaRPr lang="en-US" sz="8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355080" y="2487168"/>
            <a:ext cx="2560320" cy="1097280"/>
          </a:xfrm>
          <a:prstGeom prst="rect">
            <a:avLst/>
          </a:prstGeom>
          <a:solidFill>
            <a:srgbClr val="D6E4F0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46520" y="25328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Gauge-Up Impact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46520" y="280720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</a:rPr>
              <a:t>Avg mainline seats/dep: 151 (2019) → 174 (2025). 50-seat RJs → 150+ seat mainline = 20% better fuel/seat, lower crew cost per passenger.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355080" y="3685032"/>
            <a:ext cx="2560320" cy="128016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46520" y="3730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Boeing Risk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46520" y="4005072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A2332"/>
                </a:solidFill>
              </a:rPr>
              <a:t>FAA 38 MAX/month production cap. MAX 10 certification pending — 200 aircraft waiting. Each month delay = ~$30–40M deferred efficiency. Mitigation: A321neo/XLR Airbus orders provide operational hedge.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Architecture: 2026–2028 Launches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differentiated products entering service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78992"/>
            <a:ext cx="434340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78992"/>
            <a:ext cx="43434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106424"/>
            <a:ext cx="4123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787-9 Elevated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408176"/>
            <a:ext cx="4123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C872"/>
                </a:solidFill>
              </a:rPr>
              <a:t>April 2026 | SFO-Singapore, SFO-LHR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636776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8 Polaris Studio suites (27" 4K OLED)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929384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56 United Polaris + 35 Premium Plus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221992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222 total | 44.6% premium — highest among U.S. widebodies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14600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Target: 30+ aircraft by end 2027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7720" y="1078992"/>
            <a:ext cx="4343400" cy="2011680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78992"/>
            <a:ext cx="43434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727448" y="1106424"/>
            <a:ext cx="4123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A321neo Coastliner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27448" y="1408176"/>
            <a:ext cx="4123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C872"/>
                </a:solidFill>
              </a:rPr>
              <a:t>Summer 2026 | SFO/LAX ↔ EWR/JFK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636776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20 Polaris — FIRST lie-flat on any U.S. domestic narrowbody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0" y="1929384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12 Premium Plus — FIRST on domestic narrowbody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0" y="2221992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161 total | 50 ordered, 40 by Apr'28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2514600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Target: 10,000+ pax/day on these corridors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434340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926080"/>
            <a:ext cx="43434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" y="2953512"/>
            <a:ext cx="4123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A321XLR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" y="3255264"/>
            <a:ext cx="4123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C872"/>
                </a:solidFill>
              </a:rPr>
              <a:t>Summer 2026 | New European + S. American routes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3483864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20 Polaris (all-aisle access + privacy door)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3776472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12 Premium Plus | ~118 Economy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4069080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~150 total | All screens 4K OLED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4361688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Range: 4,700 nm — Unlocks Bari, Split, Glasgow, Santiago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17720" y="2926080"/>
            <a:ext cx="4343400" cy="2011680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926080"/>
            <a:ext cx="43434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30"/>
          <p:cNvSpPr/>
          <p:nvPr/>
        </p:nvSpPr>
        <p:spPr>
          <a:xfrm>
            <a:off x="4727448" y="2953512"/>
            <a:ext cx="4123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CRJ450 Premium Regional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27448" y="3255264"/>
            <a:ext cx="4123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C872"/>
                </a:solidFill>
              </a:rPr>
              <a:t>Fall 2026 | DEN + ORD hubs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54880" y="3483864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7 United First (37" pitch) — overhead luggage closets (industry first)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3776472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16 Economy Plus (33-34") | 18 Economy (31")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4069080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Free Starlink for MileagePlus members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0" y="4361688"/>
            <a:ext cx="4087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•  70 eventual fleet | 50 by 2028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as a Business: Starlink + Kinective Media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Monetizing the world's largest captive audience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78992"/>
            <a:ext cx="41148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78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Starlink Rollout Timeline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389888"/>
            <a:ext cx="4114800" cy="402336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264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May 2025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63040" y="1426464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First E175 regional enters service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" y="1828800"/>
            <a:ext cx="4114800" cy="402336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86537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Oct 15, 2025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63040" y="1865376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First mainline commercial flight (EWR)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2267712"/>
            <a:ext cx="4114800" cy="402336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30428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Feb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63040" y="230428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300+ mainline aircraft equipped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2706624"/>
            <a:ext cx="4114800" cy="402336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7432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End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63040" y="2743200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800+ total aircraft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3145536"/>
            <a:ext cx="4114800" cy="402336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18211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End 2027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63040" y="318211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Full fleet (~50+ installs/month)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3584448"/>
            <a:ext cx="4114800" cy="402336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62102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All time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63040" y="3621024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Free for all MileagePlus members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0" y="1078992"/>
            <a:ext cx="4343400" cy="274320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107899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Kinective Media — The Real Story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1399032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Three assets no competitor possesses simultaneously: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1664208"/>
            <a:ext cx="4343400" cy="438912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170992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227,000+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06440" y="170992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seatback screens — captive audience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0" y="2139696"/>
            <a:ext cx="4343400" cy="438912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21854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108M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806440" y="218541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unique annual flyers with known demographics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0" y="2615184"/>
            <a:ext cx="4343400" cy="438912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266090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130M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06440" y="266090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MileagePlus members with first-party transaction data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0" y="3108960"/>
            <a:ext cx="4343400" cy="9601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81728" y="3163824"/>
            <a:ext cx="4133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</a:rPr>
              <a:t>CFO on Q4 earnings call: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81728" y="3383280"/>
            <a:ext cx="4133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"Kinective will really start to accelerate in '26 and beyond." Media margins are dramatically higher than seat revenue margins. Even a few hundred million dollars of high-margin ad revenue changes the EBITDA profile in a way seat revenue cannot.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4187952"/>
            <a:ext cx="8686800" cy="7955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224528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Competitor Comparison: Delta has SkyMiles advertising. No competitor has UAL's level of integration between connectivity + behavioral data + programmatic capability. Market is currently valuing Kinective at approximately zero — a hidden asset not reflected in current multiples.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Excellence: Record Performance in 2025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Reliability and customer metrics at all-time highs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97280"/>
            <a:ext cx="2834640" cy="1261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</a:rPr>
              <a:t>181.1M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Passengers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(Company Record)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1214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872"/>
                </a:solidFill>
              </a:rPr>
              <a:t>+4.3% YoY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834640" cy="1261872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</a:rPr>
              <a:t>#2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46120" y="166420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D:14 On-Time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Industry Rank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46120" y="21214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872"/>
                </a:solidFill>
              </a:rPr>
              <a:t>Best-ever system completion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834640" cy="1261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</a:rPr>
              <a:t>303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72200" y="166420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Avg Daily Widebody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Departures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72200" y="21214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872"/>
                </a:solidFill>
              </a:rPr>
              <a:t>Company record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28600" y="2468880"/>
            <a:ext cx="2834640" cy="1261872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</a:rPr>
              <a:t>1M+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20040" y="303580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ConnectionSaver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Rescues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34930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872"/>
                </a:solidFill>
              </a:rPr>
              <a:t>+42% YoY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54680" y="2468880"/>
            <a:ext cx="2834640" cy="1261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</a:rPr>
              <a:t>85%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246120" y="303580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Digital Check-In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46120" y="34930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872"/>
                </a:solidFill>
              </a:rPr>
              <a:t>Q1 record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080760" y="2468880"/>
            <a:ext cx="2834640" cy="1261872"/>
          </a:xfrm>
          <a:prstGeom prst="rect">
            <a:avLst/>
          </a:prstGeom>
          <a:solidFill>
            <a:srgbClr val="2A4F7F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72200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</a:rPr>
              <a:t>Record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172200" y="303580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NPS 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Q4 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72200" y="34930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C872"/>
                </a:solidFill>
              </a:rPr>
              <a:t>Nov'25 highest ever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" y="3931920"/>
            <a:ext cx="8686800" cy="1069848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5760" y="398678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Early 2026 Demand Signals — Real-Time Leading Indicators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270248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Week of Jan 4, 2026: Highest flown revenue week in UAL history.  |  Week of Jan 11, 2026: Highest ticketing week AND highest business sales week ever recorded simultaneously.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Business travel leads leisure in recovery cycles — entering 2026 with record business bookings is the strongest real-time indicator that $12–$14 EPS guidance is achievable.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Normalization: Path to Investment Grade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Leverage declining; MileagePlus fully unencumbered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56692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37160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Period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 Liquidity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 Debt + Leases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Net Leverage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S&amp;P Rating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Dec 2023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$16.1B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$29.3B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2.9×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BB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Dec 2024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$17.4B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$28.7B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2.4×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BB+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Mar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$18.3B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$27.7B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2.0×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BB+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Jun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$18.6B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$27.1B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2.0×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BB+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Sep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$16.3B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$25.4B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2.1×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BB+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Dec 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$15.2B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$25.0B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2.2×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BB+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Dec 2026E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&lt;2.0× target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IG target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080760" y="1078992"/>
            <a:ext cx="2834640" cy="1664208"/>
          </a:xfrm>
          <a:prstGeom prst="rect">
            <a:avLst/>
          </a:prstGeom>
          <a:solidFill>
            <a:srgbClr val="D6E4F0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90488" y="113385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Key Events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90488" y="141732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</a:rPr>
              <a:t>•  Q3 2025: Prepaid final $1.5B of MileagePlus bonds — Full $6.8B COVID-era collateralized debt retired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90488" y="181051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</a:rPr>
              <a:t>•  MileagePlus asset now fully unencumbered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190488" y="2203704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</a:rPr>
              <a:t>•  Interest expense: $1.629B (2024) → $1.373B (2025) = –15.7% — flows straight to EPS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28600" y="3794760"/>
            <a:ext cx="8686800" cy="118872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5760" y="383133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Three Consequences of Investment-Grade Upgrade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1330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1. Lower financing cost on $25B fleet debt → $125–190M annual interest savings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65760" y="43891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2. IG mandate funds open to UAL equity — materially larger institutional buyer universe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65760" y="46451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3. Multiple re-rating: COVID-risk narrative to investment-quality enterprise complete. Delta carries BBB-. UAL at 2.2× leverage and falling — probability of upgrade is high. Question: own before or after the rating action.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Allocation: CapEx Bulge → FCF Normalization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Fleet investment peaking; FCF trajectory improving post-2027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49808"/>
                <a:gridCol w="749808"/>
                <a:gridCol w="749808"/>
                <a:gridCol w="76809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FY2023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FY2026E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Operating Cash Flow ($B)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$6.911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$9.4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$8.4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Net CapEx ($B)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$7.948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$5.6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$5.874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&lt;$8.0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Free Cash Flow ($B)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($1.037)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$3.4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$2.7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</a:rPr>
                        <a:t>~$2.7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40680" y="1078992"/>
            <a:ext cx="347472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5440680" y="10789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Capital Priority Stack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40680" y="1389888"/>
            <a:ext cx="3474720" cy="6217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Shape 7"/>
          <p:cNvSpPr/>
          <p:nvPr/>
        </p:nvSpPr>
        <p:spPr>
          <a:xfrm>
            <a:off x="5440680" y="1389888"/>
            <a:ext cx="320040" cy="6217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8"/>
          <p:cNvSpPr/>
          <p:nvPr/>
        </p:nvSpPr>
        <p:spPr>
          <a:xfrm>
            <a:off x="5440680" y="1389888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06440" y="1435608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Fleet CapEx (Non-negotiable)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06440" y="1673352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$5.9B in 2025, &lt;$8B guided 2026; 120 aircraft deliveries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5440680" y="2048256"/>
            <a:ext cx="3474720" cy="621792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40680" y="2048256"/>
            <a:ext cx="320040" cy="6217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3"/>
          <p:cNvSpPr/>
          <p:nvPr/>
        </p:nvSpPr>
        <p:spPr>
          <a:xfrm>
            <a:off x="5440680" y="2048256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06440" y="2093976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Debt Reduction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806440" y="2331720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$3.7B total debt reduction FY2025; $3–4B/yr pace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5440680" y="2706624"/>
            <a:ext cx="3474720" cy="621792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0" name="Shape 17"/>
          <p:cNvSpPr/>
          <p:nvPr/>
        </p:nvSpPr>
        <p:spPr>
          <a:xfrm>
            <a:off x="5440680" y="2706624"/>
            <a:ext cx="320040" cy="6217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8"/>
          <p:cNvSpPr/>
          <p:nvPr/>
        </p:nvSpPr>
        <p:spPr>
          <a:xfrm>
            <a:off x="5440680" y="2706624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806440" y="2752344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Share Buybacks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806440" y="2990088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2332"/>
                </a:solidFill>
              </a:rPr>
              <a:t>FY2024: $81M → FY2025: $640M → expanding. $1.5B authorization outstanding. ~325M shares 2026E.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5440680" y="3364992"/>
            <a:ext cx="3474720" cy="621792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25" name="Shape 22"/>
          <p:cNvSpPr/>
          <p:nvPr/>
        </p:nvSpPr>
        <p:spPr>
          <a:xfrm>
            <a:off x="5440680" y="3364992"/>
            <a:ext cx="320040" cy="6217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3"/>
          <p:cNvSpPr/>
          <p:nvPr/>
        </p:nvSpPr>
        <p:spPr>
          <a:xfrm>
            <a:off x="5440680" y="3364992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806440" y="341071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No Dividend (near-term)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806440" y="3648456"/>
            <a:ext cx="3063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2332"/>
                </a:solidFill>
              </a:rPr>
              <a:t>Free cash flow directed to fleet + delevering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228600" y="3858768"/>
            <a:ext cx="5029200" cy="109728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65760" y="39044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Post-2027 FCF Normalization Thesis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65760" y="4197096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332"/>
                </a:solidFill>
              </a:rPr>
              <a:t>CapEx bulge persists through 2027. Post-2028 steady-state: $5–6B CapEx on $8–9B operating CF = $3–4B sustained FCF. At 320M shares = ~$10–12/share FCF. Airlines historically trade at 5–8× FCF. At normalized FCF, current share price implies significant upside for investors who can look through the delivery cycle.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Sustainability: Honest Assessment &amp; Long-Term Commitments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Science-based targets; no greenwashing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78992"/>
            <a:ext cx="41148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78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Commitments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389888"/>
            <a:ext cx="4114800" cy="347472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173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•  Net zero GHG by 2050 — first global airline without traditional offsets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1773936"/>
            <a:ext cx="4114800" cy="347472"/>
          </a:xfrm>
          <a:prstGeom prst="rect">
            <a:avLst/>
          </a:prstGeom>
          <a:solidFill>
            <a:srgbClr val="EDF4F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8013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•  50% emissions intensity reduction by 2035 vs. 2019 (SBTi-validated May 2023)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2157984"/>
            <a:ext cx="4114800" cy="347472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1854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•  CDP Climate Disclosure: A-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2578608"/>
            <a:ext cx="4114800" cy="256032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5786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Emissions Intensity (per M ASMs)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 rot="16200000">
            <a:off x="228600" y="274320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</a:rPr>
              <a:t>CO2e / M ASM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844867"/>
            <a:ext cx="918972" cy="767013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2643699"/>
            <a:ext cx="9189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4F7F"/>
                </a:solidFill>
              </a:rPr>
              <a:t>187.5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" y="2881443"/>
            <a:ext cx="9189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187.5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" y="3630168"/>
            <a:ext cx="9189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2021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257300" y="2891092"/>
            <a:ext cx="918972" cy="72078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2" name="Text 20"/>
          <p:cNvSpPr/>
          <p:nvPr/>
        </p:nvSpPr>
        <p:spPr>
          <a:xfrm>
            <a:off x="1257300" y="2689924"/>
            <a:ext cx="9189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4F7F"/>
                </a:solidFill>
              </a:rPr>
              <a:t>176.2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57300" y="2927668"/>
            <a:ext cx="9189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176.2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57300" y="3630168"/>
            <a:ext cx="9189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2022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86000" y="2920545"/>
            <a:ext cx="918972" cy="691335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0" y="2719377"/>
            <a:ext cx="9189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4F7F"/>
                </a:solidFill>
              </a:rPr>
              <a:t>169.0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0" y="2957121"/>
            <a:ext cx="9189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169.0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286000" y="3630168"/>
            <a:ext cx="9189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2023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14700" y="2927500"/>
            <a:ext cx="918972" cy="6843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3314700" y="2726332"/>
            <a:ext cx="9189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167.3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14700" y="2964076"/>
            <a:ext cx="9189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167.3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14700" y="3630168"/>
            <a:ext cx="9189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2024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" y="3794760"/>
            <a:ext cx="164592" cy="10972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" y="3785616"/>
            <a:ext cx="10058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2021–2023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508760" y="3794760"/>
            <a:ext cx="164592" cy="109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1700784" y="3785616"/>
            <a:ext cx="10058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2024 (latest)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3950208"/>
            <a:ext cx="411480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228600" y="39502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SAF Progress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178808"/>
          <a:ext cx="4114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00200"/>
                <a:gridCol w="1600200"/>
              </a:tblGrid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SAF Gallons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CO2e Avoided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2021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0.6M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5,953 MT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2022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2.9M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29,362 MT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2023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7.3M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68,370 MT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2024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13.6M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2332"/>
                          </a:solidFill>
                        </a:rPr>
                        <a:t>126,174 MT</a:t>
                      </a:r>
                      <a:endParaRPr lang="en-US" sz="7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4572000" y="1078992"/>
            <a:ext cx="4343400" cy="192024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4681728" y="1124712"/>
            <a:ext cx="4133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Honest Assessment for Institutional Investors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681728" y="1435608"/>
            <a:ext cx="413308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Absolute emissions rising with capacity growth (Scope 1: +5.3% in 2024). 13.6M SAF gallons vs. 4.2B+ total consumed = &lt;0.35%. The 2050 net zero target depends on technologies not yet at commercial scale (green hydrogen, next-gen SAF, carbon removal). The 2035 intensity target is achievable with newer aircraft. Do not model material near-term emissions reductions into the financial case.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0" y="3127248"/>
            <a:ext cx="4343400" cy="1828800"/>
          </a:xfrm>
          <a:prstGeom prst="rect">
            <a:avLst/>
          </a:prstGeom>
          <a:solidFill>
            <a:srgbClr val="D6E4F0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4681728" y="3172968"/>
            <a:ext cx="4133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UAL SAF Ventures Portfolio ($200M+)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4681728" y="3456432"/>
            <a:ext cx="4133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•  Twelve (CO2-to-SAF) — direct air capture pathway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4681728" y="3822192"/>
            <a:ext cx="4133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•  ZeroAvia (hydrogen-electric) — regional aviation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681728" y="4187952"/>
            <a:ext cx="4133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•  Dimensional Energy, Cemvita, Svante (carbon capture)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681728" y="4553712"/>
            <a:ext cx="4133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•  Eco-Skies Alliance: 50+ corporate partners co-investing in SAF supply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Guidance &amp; Risk/Reward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C8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EPS inflection supported by multiple convergent tailwinds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Q1 2026E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FY2026E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vs. FY2025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Adj. EPS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$1.00–$1.50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$12.00–$14.00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+13% to +32%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EPS midpoint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$1.25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$13.00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+22%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Adj. Pre-Tax Margin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~10%+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+220+ bps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Free Cash Flow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~$2.7B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flat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Net CapEx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&lt;$8.0B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Net Leverage (target)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&lt;2.0×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3703320"/>
            <a:ext cx="5029200" cy="1234440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37490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</a:rPr>
              <a:t>Bull Case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65760" y="4023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If TRASM inflects positive in Q1–Q2 2026 as industry capacity tightens → tracking toward $14+ EPS → at current multiple = significant equity upside. 2019 EPS peak: $12.05. $14 would be first material all-time high.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86400" y="1078992"/>
            <a:ext cx="342900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10789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 Matrix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0" y="1389888"/>
            <a:ext cx="3429000" cy="457200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141732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GDP Recession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577840" y="161848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–1.5–2.0% rev/–1% GDP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656832" y="14630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332"/>
                </a:solidFill>
              </a:rPr>
              <a:t>Premium/intl mix; loyalty contract-based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486400" y="1883664"/>
            <a:ext cx="3429000" cy="4572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7" name="Text 14"/>
          <p:cNvSpPr/>
          <p:nvPr/>
        </p:nvSpPr>
        <p:spPr>
          <a:xfrm>
            <a:off x="5577840" y="1911096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Fuel Spike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577840" y="211226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$0.10/gal = ~$466M; unhedged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656832" y="195681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332"/>
                </a:solidFill>
              </a:rPr>
              <a:t>New aircraft –20% fuel/seat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486400" y="2377440"/>
            <a:ext cx="3429000" cy="457200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Text 18"/>
          <p:cNvSpPr/>
          <p:nvPr/>
        </p:nvSpPr>
        <p:spPr>
          <a:xfrm>
            <a:off x="5577840" y="2404872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Boeing MAX Delays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577840" y="2606040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~$30–40M/month deferred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656832" y="245059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332"/>
                </a:solidFill>
              </a:rPr>
              <a:t>A321neo/XLR Airbus hedge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486400" y="2871216"/>
            <a:ext cx="3429000" cy="4572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5" name="Text 22"/>
          <p:cNvSpPr/>
          <p:nvPr/>
        </p:nvSpPr>
        <p:spPr>
          <a:xfrm>
            <a:off x="5577840" y="289864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Domestic PRASM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577840" y="309981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Margin expansion stalls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656832" y="29443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332"/>
                </a:solidFill>
              </a:rPr>
              <a:t>Mid-year capacity cuts demonstrated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5486400" y="3364992"/>
            <a:ext cx="3429000" cy="457200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9" name="Text 26"/>
          <p:cNvSpPr/>
          <p:nvPr/>
        </p:nvSpPr>
        <p:spPr>
          <a:xfrm>
            <a:off x="5577840" y="3392424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MAX 10 Cert Slip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577840" y="359359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200 aircraft waiting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656832" y="343814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332"/>
                </a:solidFill>
              </a:rPr>
              <a:t>Can defer CapEx if needed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5486400" y="3858768"/>
            <a:ext cx="3429000" cy="4572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33" name="Text 30"/>
          <p:cNvSpPr/>
          <p:nvPr/>
        </p:nvSpPr>
        <p:spPr>
          <a:xfrm>
            <a:off x="5577840" y="388620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</a:rPr>
              <a:t>Chase Re-contract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577840" y="408736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2029 — terms uncertain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656832" y="39319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332"/>
                </a:solidFill>
              </a:rPr>
              <a:t>Delta/AmEx parity gives leverage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Multi-Year Income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C872"/>
                </a:solidFill>
              </a:rPr>
              <a:t>FY2023–FY2025 | Figures in billions unless noted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86968"/>
          <a:ext cx="8686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82880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Line Item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FY2023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Passenger Revenue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$51.829B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$53.436B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Cargo Revenue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$1.743B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$1.779B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Other Revenue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$3.491B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$3.853B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Total Revenue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$53.717B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$57.063B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$59.068B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Salaries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$14.787B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$16.678B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$17.647B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Fuel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$12.651B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$11.756B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$11.396B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Landing Fees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$3.437B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$3.849B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Maintenance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$2.736B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$3.063B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$3.294B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D&amp;A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$2.671B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$2.928B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$2.939B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Regional Capacity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$2.516B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$2.693B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Distribution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$2.231B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$2.109B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Other OpEx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$9.053B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$9.919B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Total OpEx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$49.506B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$51.967B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$54.356B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Operating Income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$4.211B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$5.096B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$4.713B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Net Income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$2.618B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$3.149B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$3.400B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Adj. Diluted EPS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$10.05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$10.61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$10.62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Adj. Pre-Tax Margin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8.0%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8.1%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7.8%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Adj. EBITDA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$7.938B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$8.211B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$8.076B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Adj. EBITDA Margin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14.8%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14.4%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13.7%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Operating CF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$6.911B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$9.4B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$8.4B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Net CapEx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$7.948B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$5.6B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$5.874B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Free Cash Flow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($1.037B)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$3.4B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$2.7B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Unit Economics &amp; Fleet Reference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C872"/>
                </a:solidFill>
              </a:rPr>
              <a:t>Annual + Quarterly Unit Economics | Fleet &amp; Workforce | CASM-ex Reconciliation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68680"/>
            <a:ext cx="2743200" cy="201168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8686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Annual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69848"/>
          <a:ext cx="8686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  <a:gridCol w="1005840"/>
                <a:gridCol w="1005840"/>
                <a:gridCol w="21031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TRASM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PRASM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Yield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CASM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CASM-ex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Fuel/Gal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Load Factor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FY2023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18.44¢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20.07¢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16.99¢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12.03¢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$3.01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83.9%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FY2024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18.34¢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16.66¢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20.05¢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16.70¢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12.58¢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$2.65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83.1%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FY2025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17.88¢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16.18¢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19.67¢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16.46¢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12.64¢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$2.44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82.2%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2194560"/>
            <a:ext cx="2743200" cy="201168"/>
          </a:xfrm>
          <a:prstGeom prst="rect">
            <a:avLst/>
          </a:prstGeom>
          <a:solidFill>
            <a:srgbClr val="2A4F7F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21945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2025 Quarterly</a:t>
            </a:r>
            <a:endParaRPr lang="en-US" sz="85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395728"/>
          <a:ext cx="8686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  <a:gridCol w="1005840"/>
                <a:gridCol w="1005840"/>
                <a:gridCol w="210312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Quarter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TRASM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PRASM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Yield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CASM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CASM-ex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Fuel/Gal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Load Factor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7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Q1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17.58¢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15.78¢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19.93¢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16.77¢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13.17¢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$2.53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79.2%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Q2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18.06¢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16.40¢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19.74¢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16.49¢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12.36¢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$2.34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83.1%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Q3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17.42¢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15.80¢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18.73¢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15.82¢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12.15¢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$2.43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84.4%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Q4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18.47¢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16.71¢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20.41¢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16.81¢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12.94¢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$2.49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81.9%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228600" y="3602736"/>
            <a:ext cx="4114800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9"/>
          <p:cNvSpPr/>
          <p:nvPr/>
        </p:nvSpPr>
        <p:spPr>
          <a:xfrm>
            <a:off x="228600" y="360273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Fleet &amp; Workforce</a:t>
            </a:r>
            <a:endParaRPr lang="en-US" sz="850" dirty="0"/>
          </a:p>
        </p:txBody>
      </p:sp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803904"/>
          <a:ext cx="4114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1188720"/>
                <a:gridCol w="146304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Fleet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Employees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Salaries ($B)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2021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~75,000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2022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~1,300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~92,000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2023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1,358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103,300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$14.787B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2024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1,406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107,300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$16.678B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2025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1,490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113,200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A2332"/>
                          </a:solidFill>
                        </a:rPr>
                        <a:t>$17.647B</a:t>
                      </a:r>
                      <a:endParaRPr lang="en-US" sz="78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4572000" y="3602736"/>
            <a:ext cx="4343400" cy="1444752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6" name="Text 11"/>
          <p:cNvSpPr/>
          <p:nvPr/>
        </p:nvSpPr>
        <p:spPr>
          <a:xfrm>
            <a:off x="4681728" y="3648456"/>
            <a:ext cx="4133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CASM-ex Reconciliation (Q1 2025 example)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681728" y="3895344"/>
            <a:ext cx="4133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CASM: 16.77¢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681728" y="4078224"/>
            <a:ext cx="4133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Less fuel: (3.59)¢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4681728" y="4261104"/>
            <a:ext cx="4133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Less profit sharing: (0.06)¢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681728" y="4443984"/>
            <a:ext cx="4133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Less third-party: (0.09)¢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681728" y="4626864"/>
            <a:ext cx="4133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Add back special charges: +0.14¢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681728" y="4809744"/>
            <a:ext cx="4133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</a:rPr>
              <a:t>CASM-ex: 13.17¢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4681728" y="4956048"/>
            <a:ext cx="4133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Fuel consumption: 4.663B gallons in 2025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2026-03-31T05:08:50Z</dcterms:created>
  <dcterms:modified xsi:type="dcterms:W3CDTF">2026-03-31T05:08:50Z</dcterms:modified>
</cp:coreProperties>
</file>