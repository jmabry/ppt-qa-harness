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</c:v>
                </c:pt>
              </c:strCache>
            </c:strRef>
          </c:tx>
          <c:spPr>
            <a:solidFill>
              <a:srgbClr val="2B6C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2D374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Q1 '25</c:v>
                  </c:pt>
                  <c:pt idx="1">
                    <c:v>Q2 '25</c:v>
                  </c:pt>
                  <c:pt idx="2">
                    <c:v>Q3 '25</c:v>
                  </c:pt>
                  <c:pt idx="3">
                    <c:v>Q4 '25</c:v>
                  </c:pt>
                  <c:pt idx="4">
                    <c:v>Q1 '26</c:v>
                  </c:pt>
                  <c:pt idx="5">
                    <c:v>Q2 '26</c:v>
                  </c:pt>
                  <c:pt idx="6">
                    <c:v>Q3 '26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8.5</c:v>
                </c:pt>
                <c:pt idx="1">
                  <c:v>9.2</c:v>
                </c:pt>
                <c:pt idx="2">
                  <c:v>10.1</c:v>
                </c:pt>
                <c:pt idx="3">
                  <c:v>11</c:v>
                </c:pt>
                <c:pt idx="4">
                  <c:v>12.2</c:v>
                </c:pt>
                <c:pt idx="5">
                  <c:v>12.7</c:v>
                </c:pt>
                <c:pt idx="6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2D374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Enterprise CAC</c:v>
                </c:pt>
              </c:strCache>
            </c:strRef>
          </c:tx>
          <c:spPr>
            <a:solidFill>
              <a:srgbClr val="2B6CB0"/>
            </a:solidFill>
            <a:ln w="25400" cap="flat">
              <a:solidFill>
                <a:srgbClr val="2B6CB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2B6CB0"/>
              </a:solidFill>
              <a:ln w="9525" cap="flat">
                <a:solidFill>
                  <a:srgbClr val="2B6CB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Q1</c:v>
                  </c:pt>
                  <c:pt idx="5">
                    <c:v>Q2</c:v>
                  </c:pt>
                  <c:pt idx="6">
                    <c:v>Q3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32</c:v>
                </c:pt>
                <c:pt idx="1">
                  <c:v>30</c:v>
                </c:pt>
                <c:pt idx="2">
                  <c:v>28</c:v>
                </c:pt>
                <c:pt idx="3">
                  <c:v>27</c:v>
                </c:pt>
                <c:pt idx="4">
                  <c:v>25</c:v>
                </c:pt>
                <c:pt idx="5">
                  <c:v>24</c:v>
                </c:pt>
                <c:pt idx="6">
                  <c:v>22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Mid-Market CAC</c:v>
                </c:pt>
              </c:strCache>
            </c:strRef>
          </c:tx>
          <c:spPr>
            <a:solidFill>
              <a:srgbClr val="975A16"/>
            </a:solidFill>
            <a:ln w="25400" cap="flat">
              <a:solidFill>
                <a:srgbClr val="975A1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975A16"/>
              </a:solidFill>
              <a:ln w="9525" cap="flat">
                <a:solidFill>
                  <a:srgbClr val="975A1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Q1</c:v>
                  </c:pt>
                  <c:pt idx="5">
                    <c:v>Q2</c:v>
                  </c:pt>
                  <c:pt idx="6">
                    <c:v>Q3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15</c:v>
                </c:pt>
                <c:pt idx="1">
                  <c:v>14</c:v>
                </c:pt>
                <c:pt idx="2">
                  <c:v>14</c:v>
                </c:pt>
                <c:pt idx="3">
                  <c:v>15</c:v>
                </c:pt>
                <c:pt idx="4">
                  <c:v>16</c:v>
                </c:pt>
                <c:pt idx="5">
                  <c:v>17</c:v>
                </c:pt>
                <c:pt idx="6">
                  <c:v>18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NPS</c:v>
                </c:pt>
              </c:strCache>
            </c:strRef>
          </c:tx>
          <c:spPr>
            <a:solidFill>
              <a:srgbClr val="2B6C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D374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Mid-Market</c:v>
                  </c:pt>
                  <c:pt idx="2">
                    <c:v>SMB</c:v>
                  </c:pt>
                  <c:pt idx="3">
                    <c:v>Overall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</c:v>
                </c:pt>
                <c:pt idx="1">
                  <c:v>38</c:v>
                </c:pt>
                <c:pt idx="2">
                  <c:v>45</c:v>
                </c:pt>
                <c:pt idx="3">
                  <c:v>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2D374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%</c:v>
                </c:pt>
              </c:strCache>
            </c:strRef>
          </c:tx>
          <c:spPr>
            <a:solidFill>
              <a:srgbClr val="9B2C2C"/>
            </a:solidFill>
            <a:ln w="25400" cap="flat">
              <a:solidFill>
                <a:srgbClr val="9B2C2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9B2C2C"/>
              </a:solidFill>
              <a:ln w="9525" cap="flat">
                <a:solidFill>
                  <a:srgbClr val="9B2C2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1.8</c:v>
                </c:pt>
                <c:pt idx="1">
                  <c:v>1.9</c:v>
                </c:pt>
                <c:pt idx="2">
                  <c:v>2</c:v>
                </c:pt>
                <c:pt idx="3">
                  <c:v>2.1</c:v>
                </c:pt>
                <c:pt idx="4">
                  <c:v>2.3</c:v>
                </c:pt>
                <c:pt idx="5">
                  <c:v>2.5</c:v>
                </c:pt>
                <c:pt idx="6">
                  <c:v>2.8</c:v>
                </c:pt>
                <c:pt idx="7">
                  <c:v>3</c:v>
                </c:pt>
                <c:pt idx="8">
                  <c:v>3.2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Headcount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D374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Engineering</c:v>
                  </c:pt>
                  <c:pt idx="1">
                    <c:v>Sales</c:v>
                  </c:pt>
                  <c:pt idx="2">
                    <c:v>CS/Support</c:v>
                  </c:pt>
                  <c:pt idx="3">
                    <c:v>Marketing</c:v>
                  </c:pt>
                  <c:pt idx="4">
                    <c:v>G&amp;A</c:v>
                  </c:pt>
                  <c:pt idx="5">
                    <c:v>Product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45</c:v>
                </c:pt>
                <c:pt idx="1">
                  <c:v>28</c:v>
                </c:pt>
                <c:pt idx="2">
                  <c:v>18</c:v>
                </c:pt>
                <c:pt idx="3">
                  <c:v>14</c:v>
                </c:pt>
                <c:pt idx="4">
                  <c:v>9</c:v>
                </c:pt>
                <c:pt idx="5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2D374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B6C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2D374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Q1 '26</c:v>
                  </c:pt>
                  <c:pt idx="1">
                    <c:v>Q2 '26</c:v>
                  </c:pt>
                  <c:pt idx="2">
                    <c:v>Q3 '26</c:v>
                  </c:pt>
                  <c:pt idx="3">
                    <c:v>Q4 '26E</c:v>
                  </c:pt>
                  <c:pt idx="4">
                    <c:v>Q1 '27E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3.1</c:v>
                </c:pt>
                <c:pt idx="1">
                  <c:v>3.2</c:v>
                </c:pt>
                <c:pt idx="2">
                  <c:v>3.75</c:v>
                </c:pt>
                <c:pt idx="3">
                  <c:v>4.2</c:v>
                </c:pt>
                <c:pt idx="4">
                  <c:v>4.8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OpEx</c:v>
                </c:pt>
              </c:strCache>
            </c:strRef>
          </c:tx>
          <c:spPr>
            <a:solidFill>
              <a:srgbClr val="7180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2D374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Q1 '26</c:v>
                  </c:pt>
                  <c:pt idx="1">
                    <c:v>Q2 '26</c:v>
                  </c:pt>
                  <c:pt idx="2">
                    <c:v>Q3 '26</c:v>
                  </c:pt>
                  <c:pt idx="3">
                    <c:v>Q4 '26E</c:v>
                  </c:pt>
                  <c:pt idx="4">
                    <c:v>Q1 '27E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3.8</c:v>
                </c:pt>
                <c:pt idx="1">
                  <c:v>3.9</c:v>
                </c:pt>
                <c:pt idx="2">
                  <c:v>4.1</c:v>
                </c:pt>
                <c:pt idx="3">
                  <c:v>4.3</c:v>
                </c:pt>
                <c:pt idx="4">
                  <c:v>4.4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2D374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029200" cy="5029200"/>
          </a:xfrm>
          <a:prstGeom prst="ellipse">
            <a:avLst/>
          </a:prstGeom>
          <a:solidFill>
            <a:srgbClr val="2B6CB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1828800"/>
            <a:ext cx="3200400" cy="3200400"/>
          </a:xfrm>
          <a:prstGeom prst="ellipse">
            <a:avLst/>
          </a:prstGeom>
          <a:solidFill>
            <a:srgbClr val="2B6CB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54864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2B6CB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486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Review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of Directors Meeting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1546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15, 2026  |  Series B  |  $15M ARR  |  120 Employees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6118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1097280" cy="0"/>
          </a:xfrm>
          <a:prstGeom prst="line">
            <a:avLst/>
          </a:prstGeom>
          <a:noFill/>
          <a:ln w="31750">
            <a:solidFill>
              <a:srgbClr val="2B6C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9103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SaaS Inc.  |  Confidential  |  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955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Wins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8092440" cy="658368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Crossed $15M ARR milestone, up 18% QoQ driven by enterprise segment expansion</a:t>
            </a:r>
            <a:endParaRPr lang="en-US" sz="10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 AI-powered analytics module; 42% of existing customers adopted within 8 weeks</a:t>
            </a:r>
            <a:endParaRPr lang="en-US" sz="10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3 new enterprise logos (&gt;$200K ACV each), including Fortune 500 financial services firm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7647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020824"/>
            <a:ext cx="8092440" cy="475488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 churn increased to 3.2% monthly (up from 2.1%) — onboarding quality gap identified</a:t>
            </a:r>
            <a:endParaRPr lang="en-US" sz="10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hiring 40% behind plan; 6 senior roles open &gt;90 days, impacting roadmap velocity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55117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Needed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2807208"/>
            <a:ext cx="7955280" cy="502920"/>
          </a:xfrm>
          <a:prstGeom prst="roundRect">
            <a:avLst>
              <a:gd name="adj" fmla="val 10909"/>
            </a:avLst>
          </a:prstGeom>
          <a:solidFill>
            <a:srgbClr val="FFF5F5"/>
          </a:solidFill>
          <a:ln w="12700">
            <a:solidFill>
              <a:srgbClr val="9B2C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843784"/>
            <a:ext cx="7680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$2.5M additional investment in customer success team (8 FTEs) to address mid-market churn before it impacts net retention below 110%. Board vote required.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Dashboard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1097280" cy="0"/>
          </a:xfrm>
          <a:prstGeom prst="line">
            <a:avLst/>
          </a:prstGeom>
          <a:noFill/>
          <a:ln w="31750">
            <a:solidFill>
              <a:srgbClr val="2B6C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9103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SaaS Inc.  |  Confidential  |  3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731520"/>
            <a:ext cx="1975104" cy="594360"/>
          </a:xfrm>
          <a:prstGeom prst="roundRect">
            <a:avLst>
              <a:gd name="adj" fmla="val 9231"/>
            </a:avLst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86384"/>
            <a:ext cx="1975104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$15.0M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028700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42032" y="731520"/>
            <a:ext cx="1975104" cy="594360"/>
          </a:xfrm>
          <a:prstGeom prst="roundRect">
            <a:avLst>
              <a:gd name="adj" fmla="val 9231"/>
            </a:avLst>
          </a:prstGeom>
          <a:solidFill>
            <a:srgbClr val="C6F6D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42032" y="786384"/>
            <a:ext cx="1975104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542032" y="1028700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QoQ Growth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626864" y="731520"/>
            <a:ext cx="1975104" cy="594360"/>
          </a:xfrm>
          <a:prstGeom prst="roundRect">
            <a:avLst>
              <a:gd name="adj" fmla="val 9231"/>
            </a:avLst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6864" y="786384"/>
            <a:ext cx="1975104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118%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26864" y="1028700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Retention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711696" y="731520"/>
            <a:ext cx="1975104" cy="594360"/>
          </a:xfrm>
          <a:prstGeom prst="roundRect">
            <a:avLst>
              <a:gd name="adj" fmla="val 9231"/>
            </a:avLst>
          </a:prstGeom>
          <a:solidFill>
            <a:srgbClr val="BEE3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11696" y="786384"/>
            <a:ext cx="1975104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$8.2M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711696" y="1028700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7200" y="1463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TREND ($M)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1664208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graphicFrame>
        <p:nvGraphicFramePr>
          <p:cNvPr id="20" name="Chart 0" descr=""/>
          <p:cNvGraphicFramePr/>
          <p:nvPr/>
        </p:nvGraphicFramePr>
        <p:xfrm>
          <a:off x="457200" y="1737360"/>
          <a:ext cx="39319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828800"/>
          <a:ext cx="3931920" cy="914400"/>
        </p:xfrm>
        <a:graphic>
          <a:graphicData uri="http://schemas.openxmlformats.org/drawingml/2006/table">
            <a:tbl>
              <a:tblPr/>
              <a:tblGrid>
                <a:gridCol w="1100938"/>
                <a:gridCol w="943661"/>
                <a:gridCol w="943661"/>
                <a:gridCol w="94366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Deal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$4.1M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$185K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Mid-Market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$2.8M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$1.3M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22" name="Text 18"/>
          <p:cNvSpPr/>
          <p:nvPr/>
        </p:nvSpPr>
        <p:spPr>
          <a:xfrm>
            <a:off x="4754880" y="29260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retention driven by 24% expansion revenue in enterprise segment; SMB net retention flat at 101%.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Update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1097280" cy="0"/>
          </a:xfrm>
          <a:prstGeom prst="line">
            <a:avLst/>
          </a:prstGeom>
          <a:noFill/>
          <a:ln w="31750">
            <a:solidFill>
              <a:srgbClr val="2B6C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9103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SaaS Inc.  |  Confidential  |  4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This Quarter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987552"/>
            <a:ext cx="3886200" cy="109728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Analytics Module — predictive churn scoring, usage anomaly detection</a:t>
            </a:r>
            <a:endParaRPr lang="en-US" sz="9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SSO/SCIM provisioning for enterprise (SOC2 prerequisite)</a:t>
            </a:r>
            <a:endParaRPr lang="en-US" sz="9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v3 with webhook support and rate limiting overhaul</a:t>
            </a:r>
            <a:endParaRPr lang="en-US" sz="9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redesign — 35% reduction in time-to-insight (user studies)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709160" y="73152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Metrics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987552"/>
          <a:ext cx="3977640" cy="914400"/>
        </p:xfrm>
        <a:graphic>
          <a:graphicData uri="http://schemas.openxmlformats.org/drawingml/2006/table">
            <a:tbl>
              <a:tblPr/>
              <a:tblGrid>
                <a:gridCol w="1511503"/>
                <a:gridCol w="954634"/>
                <a:gridCol w="1511503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Analytics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767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+12% MoM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SSO/SCIM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6C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v3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767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+8% MoM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Dashboard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2194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ROADMAP PRIORITIES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2395728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2468880"/>
            <a:ext cx="2670048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" y="2468880"/>
            <a:ext cx="2651760" cy="36576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4" name="Text 11"/>
          <p:cNvSpPr/>
          <p:nvPr/>
        </p:nvSpPr>
        <p:spPr>
          <a:xfrm>
            <a:off x="566928" y="2542032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Analytics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66928" y="2761488"/>
            <a:ext cx="24505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analytics for reseller partners; $1.2M pipeline attached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236976" y="2468880"/>
            <a:ext cx="2670048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46120" y="2468880"/>
            <a:ext cx="2651760" cy="36576"/>
          </a:xfrm>
          <a:prstGeom prst="rect">
            <a:avLst/>
          </a:prstGeom>
          <a:solidFill>
            <a:srgbClr val="276749"/>
          </a:solidFill>
          <a:ln/>
        </p:spPr>
      </p:sp>
      <p:sp>
        <p:nvSpPr>
          <p:cNvPr id="18" name="Text 15"/>
          <p:cNvSpPr/>
          <p:nvPr/>
        </p:nvSpPr>
        <p:spPr>
          <a:xfrm>
            <a:off x="3346704" y="2542032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Compliance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346704" y="2761488"/>
            <a:ext cx="24505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vertical unlock; 4 enterprise prospects waiting on compliance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016752" y="2468880"/>
            <a:ext cx="2670048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025896" y="2468880"/>
            <a:ext cx="2651760" cy="36576"/>
          </a:xfrm>
          <a:prstGeom prst="rect">
            <a:avLst/>
          </a:prstGeom>
          <a:solidFill>
            <a:srgbClr val="975A16"/>
          </a:solidFill>
          <a:ln/>
        </p:spPr>
      </p:sp>
      <p:sp>
        <p:nvSpPr>
          <p:cNvPr id="22" name="Text 19"/>
          <p:cNvSpPr/>
          <p:nvPr/>
        </p:nvSpPr>
        <p:spPr>
          <a:xfrm>
            <a:off x="6126480" y="2542032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126480" y="2761488"/>
            <a:ext cx="24505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automation builder; top-requested feature by mid-market segment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Performance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1097280" cy="0"/>
          </a:xfrm>
          <a:prstGeom prst="line">
            <a:avLst/>
          </a:prstGeom>
          <a:noFill/>
          <a:ln w="31750">
            <a:solidFill>
              <a:srgbClr val="2B6C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9103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SaaS Inc.  |  Confidential  |  5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731520"/>
            <a:ext cx="1975104" cy="594360"/>
          </a:xfrm>
          <a:prstGeom prst="roundRect">
            <a:avLst>
              <a:gd name="adj" fmla="val 9231"/>
            </a:avLst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86384"/>
            <a:ext cx="1975104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$18.2K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028700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CAC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42032" y="731520"/>
            <a:ext cx="1975104" cy="594360"/>
          </a:xfrm>
          <a:prstGeom prst="roundRect">
            <a:avLst>
              <a:gd name="adj" fmla="val 9231"/>
            </a:avLst>
          </a:prstGeom>
          <a:solidFill>
            <a:srgbClr val="FEFCB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42032" y="786384"/>
            <a:ext cx="1975104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75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542032" y="1028700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Payback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626864" y="731520"/>
            <a:ext cx="1975104" cy="594360"/>
          </a:xfrm>
          <a:prstGeom prst="roundRect">
            <a:avLst>
              <a:gd name="adj" fmla="val 9231"/>
            </a:avLst>
          </a:prstGeom>
          <a:solidFill>
            <a:srgbClr val="C6F6D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6864" y="786384"/>
            <a:ext cx="1975104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4.2x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26864" y="1028700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LTV:CAC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711696" y="731520"/>
            <a:ext cx="1975104" cy="594360"/>
          </a:xfrm>
          <a:prstGeom prst="roundRect">
            <a:avLst>
              <a:gd name="adj" fmla="val 9231"/>
            </a:avLst>
          </a:prstGeom>
          <a:solidFill>
            <a:srgbClr val="BEE3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11696" y="786384"/>
            <a:ext cx="1975104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711696" y="1028700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Rev</a:t>
            </a:r>
            <a:endParaRPr lang="en-US" sz="8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457200" y="1481328"/>
          <a:ext cx="39319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Text 16"/>
          <p:cNvSpPr/>
          <p:nvPr/>
        </p:nvSpPr>
        <p:spPr>
          <a:xfrm>
            <a:off x="4754880" y="14630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Performance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709928"/>
          <a:ext cx="3931920" cy="914400"/>
        </p:xfrm>
        <a:graphic>
          <a:graphicData uri="http://schemas.openxmlformats.org/drawingml/2006/table">
            <a:tbl>
              <a:tblPr/>
              <a:tblGrid>
                <a:gridCol w="1258214"/>
                <a:gridCol w="865022"/>
                <a:gridCol w="865022"/>
                <a:gridCol w="94366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New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Outbound Sales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$3.2M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Inbound/Content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$2.1M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Partnerships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$1.6M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PLG/Self-Serve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 17"/>
          <p:cNvSpPr/>
          <p:nvPr/>
        </p:nvSpPr>
        <p:spPr>
          <a:xfrm>
            <a:off x="4754880" y="30358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revenue grew 34% QoQ, now representing 22% of total new ARR. Cross-sell into AI Analytics module driving bulk of expansion.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Health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1097280" cy="0"/>
          </a:xfrm>
          <a:prstGeom prst="line">
            <a:avLst/>
          </a:prstGeom>
          <a:noFill/>
          <a:ln w="31750">
            <a:solidFill>
              <a:srgbClr val="2B6C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9103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SaaS Inc.  |  Confidential  |  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by Segment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960120"/>
          <a:ext cx="393192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4754880" y="7315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Churn Rate</a:t>
            </a:r>
            <a:endParaRPr lang="en-US" sz="10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4754880" y="960120"/>
          <a:ext cx="393192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457200" y="27889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ACCOUNTS AT RISK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457200" y="2990088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63240"/>
          <a:ext cx="8229600" cy="914400"/>
        </p:xfrm>
        <a:graphic>
          <a:graphicData uri="http://schemas.openxmlformats.org/drawingml/2006/table">
            <a:tbl>
              <a:tblPr/>
              <a:tblGrid>
                <a:gridCol w="1481328"/>
                <a:gridCol w="822960"/>
                <a:gridCol w="1645920"/>
                <a:gridCol w="3127248"/>
                <a:gridCol w="115214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Signal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Plan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GlobalBank Corp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$420K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Champion departed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 sponsor meeting scheduled 9/20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 Sales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MedTech Solutions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 down 40%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CSM-led reactivation campaign launched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 Lead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RetailPro Inc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$195K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75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 up 10/31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Renewal proposal with AI module incentive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Hiring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1097280" cy="0"/>
          </a:xfrm>
          <a:prstGeom prst="line">
            <a:avLst/>
          </a:prstGeom>
          <a:noFill/>
          <a:ln w="31750">
            <a:solidFill>
              <a:srgbClr val="2B6C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9103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SaaS Inc.  |  Confidential  |  7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by Function (120 total)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960120"/>
          <a:ext cx="393192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4754880" y="7315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Roles (14 total)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960120"/>
          <a:ext cx="3931920" cy="914400"/>
        </p:xfrm>
        <a:graphic>
          <a:graphicData uri="http://schemas.openxmlformats.org/drawingml/2006/table">
            <a:tbl>
              <a:tblPr/>
              <a:tblGrid>
                <a:gridCol w="1258214"/>
                <a:gridCol w="589788"/>
                <a:gridCol w="865022"/>
                <a:gridCol w="121889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Open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Sr. Engineers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9B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75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 Managers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6C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Mgrs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767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round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457200" y="31546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&amp; RETENTION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457200" y="3355848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200" y="3429000"/>
            <a:ext cx="39319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66344" y="3429000"/>
            <a:ext cx="3913632" cy="36576"/>
          </a:xfrm>
          <a:prstGeom prst="rect">
            <a:avLst/>
          </a:prstGeom>
          <a:solidFill>
            <a:srgbClr val="9B2C2C"/>
          </a:solidFill>
          <a:ln/>
        </p:spPr>
      </p:sp>
      <p:sp>
        <p:nvSpPr>
          <p:cNvPr id="14" name="Text 10"/>
          <p:cNvSpPr/>
          <p:nvPr/>
        </p:nvSpPr>
        <p:spPr>
          <a:xfrm>
            <a:off x="566928" y="3502152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Attrition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66928" y="3721608"/>
            <a:ext cx="371246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4.2% quarterly (annualized 16.8%)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engineering departures to FAANG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sales departure (performance)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754880" y="3429000"/>
            <a:ext cx="39319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764024" y="3429000"/>
            <a:ext cx="3913632" cy="36576"/>
          </a:xfrm>
          <a:prstGeom prst="rect">
            <a:avLst/>
          </a:prstGeom>
          <a:solidFill>
            <a:srgbClr val="276749"/>
          </a:solidFill>
          <a:ln/>
        </p:spPr>
      </p:sp>
      <p:sp>
        <p:nvSpPr>
          <p:cNvPr id="18" name="Text 14"/>
          <p:cNvSpPr/>
          <p:nvPr/>
        </p:nvSpPr>
        <p:spPr>
          <a:xfrm>
            <a:off x="4864608" y="3502152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Actions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864608" y="3721608"/>
            <a:ext cx="371246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refresh for top 20% performers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career ladder launched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Remote-first policy expanded globally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1097280" cy="0"/>
          </a:xfrm>
          <a:prstGeom prst="line">
            <a:avLst/>
          </a:prstGeom>
          <a:noFill/>
          <a:ln w="31750">
            <a:solidFill>
              <a:srgbClr val="2B6C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9103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SaaS Inc.  |  Confidential  |  8</a:t>
            </a:r>
            <a:endParaRPr lang="en-US" sz="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914400"/>
        </p:xfrm>
        <a:graphic>
          <a:graphicData uri="http://schemas.openxmlformats.org/drawingml/2006/table">
            <a:tbl>
              <a:tblPr/>
              <a:tblGrid>
                <a:gridCol w="1481328"/>
                <a:gridCol w="1810512"/>
                <a:gridCol w="164592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Acme (Us)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Segment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Mid-Market + Enterprise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only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SMB focus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AI/ML Capabilities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67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(GA)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Partnership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ACV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Retention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67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Series B ($32M)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Series D ($120M)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Series A ($15M)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Series C ($65M)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ARR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Weakness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Scale/brand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to ship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 / upmarket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vertical depth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4747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TAKEAWAYS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3675888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3749040"/>
            <a:ext cx="8138160" cy="73152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 vs CompetitorA improved to 38% (from 29%) — AI module is key differentiator in head-to-head</a:t>
            </a:r>
            <a:endParaRPr lang="en-US" sz="9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CompetitorC raising Series D; expect increased enterprise competition in Q4</a:t>
            </a:r>
            <a:endParaRPr lang="en-US" sz="9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moat: vertical-specific workflows + native AI analytics; competitors require third-party integrations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Outlook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1097280" cy="0"/>
          </a:xfrm>
          <a:prstGeom prst="line">
            <a:avLst/>
          </a:prstGeom>
          <a:noFill/>
          <a:ln w="31750">
            <a:solidFill>
              <a:srgbClr val="2B6C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9103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SaaS Inc.  |  Confidential  |  9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731520"/>
            <a:ext cx="1558138" cy="594360"/>
          </a:xfrm>
          <a:prstGeom prst="roundRect">
            <a:avLst>
              <a:gd name="adj" fmla="val 9231"/>
            </a:avLst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86384"/>
            <a:ext cx="1558138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$1.1M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028700"/>
            <a:ext cx="15581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Burn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125066" y="731520"/>
            <a:ext cx="1558138" cy="594360"/>
          </a:xfrm>
          <a:prstGeom prst="roundRect">
            <a:avLst>
              <a:gd name="adj" fmla="val 9231"/>
            </a:avLst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25066" y="786384"/>
            <a:ext cx="1558138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$18.4M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125066" y="1028700"/>
            <a:ext cx="15581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Balance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792931" y="731520"/>
            <a:ext cx="1558138" cy="594360"/>
          </a:xfrm>
          <a:prstGeom prst="roundRect">
            <a:avLst>
              <a:gd name="adj" fmla="val 9231"/>
            </a:avLst>
          </a:prstGeom>
          <a:solidFill>
            <a:srgbClr val="C6F6D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2931" y="786384"/>
            <a:ext cx="1558138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16.7 mo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92931" y="1028700"/>
            <a:ext cx="15581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460797" y="731520"/>
            <a:ext cx="1558138" cy="594360"/>
          </a:xfrm>
          <a:prstGeom prst="roundRect">
            <a:avLst>
              <a:gd name="adj" fmla="val 9231"/>
            </a:avLst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60797" y="786384"/>
            <a:ext cx="1558138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60797" y="1028700"/>
            <a:ext cx="15581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128662" y="731520"/>
            <a:ext cx="1558138" cy="594360"/>
          </a:xfrm>
          <a:prstGeom prst="roundRect">
            <a:avLst>
              <a:gd name="adj" fmla="val 9231"/>
            </a:avLst>
          </a:prstGeom>
          <a:solidFill>
            <a:srgbClr val="FEFCB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28662" y="786384"/>
            <a:ext cx="1558138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75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2028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128662" y="1028700"/>
            <a:ext cx="15581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Breakeven</a:t>
            </a:r>
            <a:endParaRPr lang="en-US" sz="8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457200" y="1481328"/>
          <a:ext cx="39319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4754880" y="14630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Profitability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709928"/>
          <a:ext cx="3931920" cy="914400"/>
        </p:xfrm>
        <a:graphic>
          <a:graphicData uri="http://schemas.openxmlformats.org/drawingml/2006/table">
            <a:tbl>
              <a:tblPr/>
              <a:tblGrid>
                <a:gridCol w="1258214"/>
                <a:gridCol w="865022"/>
                <a:gridCol w="904342"/>
                <a:gridCol w="90434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 '26E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'27E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Revenue/mo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$1.25M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$1.40M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$1.60M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OpEx/mo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$1.37M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$1.43M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$1.47M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Burn/mo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-$120K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75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-$30K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767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+$130K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Rev/Employee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$125K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$127K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$137K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 &amp; Mitigations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1097280" cy="0"/>
          </a:xfrm>
          <a:prstGeom prst="line">
            <a:avLst/>
          </a:prstGeom>
          <a:noFill/>
          <a:ln w="31750">
            <a:solidFill>
              <a:srgbClr val="2B6C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9103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SaaS Inc.  |  Confidential  |  10</a:t>
            </a:r>
            <a:endParaRPr lang="en-US" sz="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822960"/>
                <a:gridCol w="2880360"/>
                <a:gridCol w="28803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Mid-market churn acceleration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B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7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Could reduce NRR below 110%, impacting growth narrative for Series 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 team expansion (board ask); onboarding overhaul underway; automated health scoring shipping Q4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 hiring shortfall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B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7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Roadmap velocity at 60% of plan; HIPAA compliance may slip to Q1 2027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Engaged 2 specialist recruiters; adjusted comp bands +15%; exploring acqui-hire targets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CompetitorC Series D funding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75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Increased enterprise competition expected Q4; potential pricing pressure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Accelerating AI moat; deepening vertical integrations; locking in renewals ahead of competitive push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environment / budget freezes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75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deal cycles extending 15-20%; 2 deals slipped from Q3 to Q4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Flexible pricing/payment terms; ROI calculator for procurement; multi-year discount incentives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Asks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1097280" cy="0"/>
          </a:xfrm>
          <a:prstGeom prst="line">
            <a:avLst/>
          </a:prstGeom>
          <a:noFill/>
          <a:ln w="31750">
            <a:solidFill>
              <a:srgbClr val="2B6C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9103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SaaS Inc.  |  Confidential  |  11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the board this quarter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325880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28016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CS Team Investment ($2.5M)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97496" y="1316736"/>
            <a:ext cx="1106424" cy="219456"/>
          </a:xfrm>
          <a:prstGeom prst="roundRect">
            <a:avLst>
              <a:gd name="adj" fmla="val 50000"/>
            </a:avLst>
          </a:prstGeom>
          <a:solidFill>
            <a:srgbClr val="FED7D7"/>
          </a:solidFill>
          <a:ln/>
        </p:spPr>
      </p:sp>
      <p:sp>
        <p:nvSpPr>
          <p:cNvPr id="12" name="Text 10"/>
          <p:cNvSpPr/>
          <p:nvPr/>
        </p:nvSpPr>
        <p:spPr>
          <a:xfrm>
            <a:off x="7397496" y="1316736"/>
            <a:ext cx="1106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Required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97280" y="15727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additional FTEs across Customer Success, onboarding, and support. Required to address mid-market churn before it impacts net retention below 110%. Payback expected within 9 months via retained revenue.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240280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2377440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233172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Introductions to Enterprise Prospects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461504" y="2368296"/>
            <a:ext cx="1042416" cy="219456"/>
          </a:xfrm>
          <a:prstGeom prst="roundRect">
            <a:avLst>
              <a:gd name="adj" fmla="val 50000"/>
            </a:avLst>
          </a:prstGeom>
          <a:solidFill>
            <a:srgbClr val="FEFCBF"/>
          </a:solidFill>
          <a:ln/>
        </p:spPr>
      </p:sp>
      <p:sp>
        <p:nvSpPr>
          <p:cNvPr id="19" name="Text 17"/>
          <p:cNvSpPr/>
          <p:nvPr/>
        </p:nvSpPr>
        <p:spPr>
          <a:xfrm>
            <a:off x="7461504" y="2368296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75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Quarter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97280" y="26243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network activation for 3 target accounts: MegaRetail, HealthFirst Systems, and Pacific Financial. Combined TAM of $850K ACV. Warm introductions to CTO/CIO level contacts.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291840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4360" y="3429000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97280" y="338328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C Timing Discussion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589520" y="3419856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BEE3F8"/>
          </a:solidFill>
          <a:ln/>
        </p:spPr>
      </p:sp>
      <p:sp>
        <p:nvSpPr>
          <p:cNvPr id="26" name="Text 24"/>
          <p:cNvSpPr/>
          <p:nvPr/>
        </p:nvSpPr>
        <p:spPr>
          <a:xfrm>
            <a:off x="7589520" y="34198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97280" y="367588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16.7 months of runway and clear path to breakeven, discuss optimal Series C timing. Management recommends Q2 2027 raise at $20M+ ARR for strongest valuation leverage.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Appendix: Detailed Financials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1097280" cy="0"/>
          </a:xfrm>
          <a:prstGeom prst="line">
            <a:avLst/>
          </a:prstGeom>
          <a:noFill/>
          <a:ln w="31750">
            <a:solidFill>
              <a:srgbClr val="2B6C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9103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SaaS Inc.  |  Confidential  |  12</a:t>
            </a:r>
            <a:endParaRPr lang="en-US" sz="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31520"/>
          <a:ext cx="8229600" cy="914400"/>
        </p:xfrm>
        <a:graphic>
          <a:graphicData uri="http://schemas.openxmlformats.org/drawingml/2006/table">
            <a:tbl>
              <a:tblPr/>
              <a:tblGrid>
                <a:gridCol w="2304288"/>
                <a:gridCol w="1152144"/>
                <a:gridCol w="1152144"/>
                <a:gridCol w="1152144"/>
                <a:gridCol w="1152144"/>
                <a:gridCol w="131673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($K)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'26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'26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 '26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 YoY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'26E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3,050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3,175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3,750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767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13,650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Subscriptions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2,850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2,975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+51%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12,800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Services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COGS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(670)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(698)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(825)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+41%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(3,003)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Profit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2,380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2,477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767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+51%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10,647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R&amp;D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(1,520)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(1,560)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(1,640)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+32%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(6,400)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Sales &amp; Marketing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(1,140)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(1,170)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(1,230)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(4,720)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G&amp;A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(380)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(390)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(410)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(1,580)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OpEx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(3,040)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(3,120)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(3,280)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+29%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(12,700)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Income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9B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(660)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9B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(643)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975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(355)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767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+64% impr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(2,053)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55371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Cash: $18.4M  |  Monthly Burn: $118K  |  Runway: 16.7 months  |  Last funding: Series B ($22M, Mar 2025)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 2026 Strategic Review</dc:title>
  <dc:subject>PptxGenJS Presentation</dc:subject>
  <dc:creator>Acme SaaS Inc.</dc:creator>
  <cp:lastModifiedBy>Acme SaaS Inc.</cp:lastModifiedBy>
  <cp:revision>1</cp:revision>
  <dcterms:created xsi:type="dcterms:W3CDTF">2026-03-30T16:56:31Z</dcterms:created>
  <dcterms:modified xsi:type="dcterms:W3CDTF">2026-03-30T16:56:31Z</dcterms:modified>
</cp:coreProperties>
</file>