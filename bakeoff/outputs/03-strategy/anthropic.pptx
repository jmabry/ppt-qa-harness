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ARR Trend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 '25</c:v>
                  </c:pt>
                  <c:pt idx="1">
                    <c:v>Q2 '25</c:v>
                  </c:pt>
                  <c:pt idx="2">
                    <c:v>Q3 '25</c:v>
                  </c:pt>
                  <c:pt idx="3">
                    <c:v>Q4 '25</c:v>
                  </c:pt>
                  <c:pt idx="4">
                    <c:v>Q1 '26</c:v>
                  </c:pt>
                  <c:pt idx="5">
                    <c:v>Q2 '26</c:v>
                  </c:pt>
                  <c:pt idx="6">
                    <c:v>Q3 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9.5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CAC Trend ($K)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CAC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30</c:v>
                </c:pt>
                <c:pt idx="2">
                  <c:v>28</c:v>
                </c:pt>
                <c:pt idx="3">
                  <c:v>27</c:v>
                </c:pt>
                <c:pt idx="4">
                  <c:v>25</c:v>
                </c:pt>
                <c:pt idx="5">
                  <c:v>23</c:v>
                </c:pt>
                <c:pt idx="6">
                  <c:v>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 CAC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14</c:v>
                </c:pt>
                <c:pt idx="3">
                  <c:v>14</c:v>
                </c:pt>
                <c:pt idx="4">
                  <c:v>15</c:v>
                </c:pt>
                <c:pt idx="5">
                  <c:v>14</c:v>
                </c:pt>
                <c:pt idx="6">
                  <c:v>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NPS by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38</c:v>
                </c:pt>
                <c:pt idx="2">
                  <c:v>45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Monthly Churn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 %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</c:v>
                </c:pt>
                <c:pt idx="1">
                  <c:v>1.9</c:v>
                </c:pt>
                <c:pt idx="2">
                  <c:v>2</c:v>
                </c:pt>
                <c:pt idx="3">
                  <c:v>2.1</c:v>
                </c:pt>
                <c:pt idx="4">
                  <c:v>2.2</c:v>
                </c:pt>
                <c:pt idx="5">
                  <c:v>2.4</c:v>
                </c:pt>
                <c:pt idx="6">
                  <c:v>2.7</c:v>
                </c:pt>
                <c:pt idx="7">
                  <c:v>2.9</c:v>
                </c:pt>
                <c:pt idx="8">
                  <c:v>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Headcount by Function (120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Sales</c:v>
                  </c:pt>
                  <c:pt idx="2">
                    <c:v>CS/Support</c:v>
                  </c:pt>
                  <c:pt idx="3">
                    <c:v>Marketing</c:v>
                  </c:pt>
                  <c:pt idx="4">
                    <c:v>G&amp;A</c:v>
                  </c:pt>
                  <c:pt idx="5">
                    <c:v>Product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28</c:v>
                </c:pt>
                <c:pt idx="2">
                  <c:v>18</c:v>
                </c:pt>
                <c:pt idx="3">
                  <c:v>14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'26</c:v>
                  </c:pt>
                  <c:pt idx="1">
                    <c:v>Q2 '26</c:v>
                  </c:pt>
                  <c:pt idx="2">
                    <c:v>Q3 '26</c:v>
                  </c:pt>
                  <c:pt idx="3">
                    <c:v>Q4 '26E</c:v>
                  </c:pt>
                  <c:pt idx="4">
                    <c:v>Q1 '27E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3.5</c:v>
                </c:pt>
                <c:pt idx="2">
                  <c:v>3.75</c:v>
                </c:pt>
                <c:pt idx="3">
                  <c:v>4.2</c:v>
                </c:pt>
                <c:pt idx="4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'26</c:v>
                  </c:pt>
                  <c:pt idx="1">
                    <c:v>Q2 '26</c:v>
                  </c:pt>
                  <c:pt idx="2">
                    <c:v>Q3 '26</c:v>
                  </c:pt>
                  <c:pt idx="3">
                    <c:v>Q4 '26E</c:v>
                  </c:pt>
                  <c:pt idx="4">
                    <c:v>Q1 '27E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3.7</c:v>
                </c:pt>
                <c:pt idx="2">
                  <c:v>3.9</c:v>
                </c:pt>
                <c:pt idx="3">
                  <c:v>4</c:v>
                </c:pt>
                <c:pt idx="4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41B3D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828800" cy="731520"/>
          </a:xfrm>
          <a:prstGeom prst="rect">
            <a:avLst>
              <a:gd name="adj" fmla="val 625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Review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Meeting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  |  Series B  |  $15M ARR  |  120 Employees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F I D E N T I A 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90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60704"/>
            <a:ext cx="2590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430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31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$15M ARR milestone, up 18% QoQ driven by enterprise expansion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AI Analytics module; 42% of existing customers adopted within 8 weeks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3 new enterprise logos (&gt;$200K ACV each), including Fortune 500 financial services firm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6600" y="1005840"/>
            <a:ext cx="2590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3276600" y="1060704"/>
            <a:ext cx="2590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3760" y="11430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3760" y="1508760"/>
            <a:ext cx="231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churn increased to 3.2% monthly (up from 2.1%) — onboarding quality gap identified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hiring 40% behind plan; 6 senior roles open &gt;90 days, impacting roadmap velocity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04560" y="1005840"/>
            <a:ext cx="2590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004560" y="1060704"/>
            <a:ext cx="2590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1720" y="1143000"/>
            <a:ext cx="231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1720" y="1508760"/>
            <a:ext cx="231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$2.5M additional investment in customer success team (8 FTEs) to address mid-market churn before it impacts net retention below 110%. Board vote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Dashboard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9431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19431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$15.0M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19431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83180" y="960120"/>
            <a:ext cx="19431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3180" y="960120"/>
            <a:ext cx="19431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83180" y="1353312"/>
            <a:ext cx="19431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431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960120"/>
            <a:ext cx="19431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1353312"/>
            <a:ext cx="19431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52260" y="960120"/>
            <a:ext cx="19431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2260" y="960120"/>
            <a:ext cx="19431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52260" y="1353312"/>
            <a:ext cx="19431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18288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by Segment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9456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8229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 driven by 24% expansion revenue in enterprise segment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Update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This Quarter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Module — predictive churn scoring, usage anomaly detection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 provisioning for enterprise (SOC2 prerequisite)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v3 with webhook support and rate limiting overhaul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redesign — 35% reduction in time-to-insight (user studies)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Metrics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 MoM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SSO/SCIM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 MoM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ROADMAP PRIORITIES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2621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65760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Analytics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 for reseller partners; $1.2M pipeline attached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61360" y="3611880"/>
            <a:ext cx="2621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52800" y="365760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HIPAA Compliance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52800" y="39319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vertical unlock; 4 enterprise prospects waiting on compliance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74080" y="3611880"/>
            <a:ext cx="2621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65520" y="365760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Automation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65520" y="39319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automation builder; top-requested feature by mid-market segment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9431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$18.2K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943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83180" y="960120"/>
            <a:ext cx="19431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3180" y="9601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83180" y="1298448"/>
            <a:ext cx="1943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431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9601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298448"/>
            <a:ext cx="1943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52260" y="960120"/>
            <a:ext cx="19431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2260" y="9601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2260" y="1298448"/>
            <a:ext cx="1943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</a:t>
            </a:r>
            <a:endParaRPr lang="en-US" sz="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173736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Performance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5740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Inbound/Content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PLG/Self-Serve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Health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6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96012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6012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ACCOUNTS AT RISK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804672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GlobalBank Corp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 departed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sponsor meeting 9/20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MedTech Solutions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down 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 reactivation campaign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RetailPro Inc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up 10/31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w/ AI module incentive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Hiring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7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96012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Roles (14 total)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Engineers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Managers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Mgrs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RETENTION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37033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Attrition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8580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quarterly (annualized 16.8%)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engineering departures to FAANG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sales departure (performance)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37033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Actions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3977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refresh for top 20% performers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career ladder launched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policy expanded globally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8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463040"/>
                <a:gridCol w="13716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+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Capabilities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(GA)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 ($32M)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D ($120M)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 ($15M)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C ($65M)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Weakness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Scale/brand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to 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/ upmarket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vertical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TAKEAWAYS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vs CompetitorA improved to 38% (from 29%) — AI module is key differentiator in head-to-head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CompetitorC raising Series D; expect increased enterprise competition in Q4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vertical-specific workflows + native AI analytics; competitors require third-party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Outlook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5361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76272" y="960120"/>
            <a:ext cx="15361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76272" y="9601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$18.4M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76272" y="129844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03904" y="960120"/>
            <a:ext cx="15361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03904" y="9601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16.7 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03904" y="129844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31536" y="960120"/>
            <a:ext cx="15361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9601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31536" y="129844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059168" y="960120"/>
            <a:ext cx="15361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9168" y="96012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59168" y="129844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173736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Profitability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5740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'26E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'27E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Burn/mo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Rev/Employee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25603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churn acceleration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reduce NRR below 110%, impacting growth narrative for Series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team expansion (board ask); onboarding overhaul underway; automated health scoring shipping Q4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hiring shortfall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velocity at 60% of plan; HIPAA compliance may slip to Q1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2 specialist recruiters; adjusted comp bands +15%; exploring acqui-hire targets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CompetitorC Series D funding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enterprise competition expected Q4; potential pricing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Accelerating AI moat; deepening vertical integrations; locking in renewals ahead of competitive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/ budget freezes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deal cycles extending 15-20%; 2 deals slipped from Q3 to Q4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pricing/payment terms; ROI calculator for procurement; multi-year discount incentives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Asks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board this quarter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CS Team Investment ($2.5M)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additional FTEs across Customer Success, onboarding, and support. Required to address mid-market churn before it impacts net retention below 110%. Payback expected within 9 months via retained revenue.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0" y="1417320"/>
            <a:ext cx="1188720" cy="27432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Required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Introductions to Enterprise Prospects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network activation for 3 target accounts: MegaRetail, HealthFirst Systems, and Pacific Financial. Combined TAM of $850K ACV. Warm introductions to CTO/CIO level contacts.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23760" y="2560320"/>
            <a:ext cx="1188720" cy="27432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C Timing Discussion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977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16.7 months of runway and clear path to breakeven, discuss optimal Series C timing. Management recommends Q2 2027 raise at $20M+ ARR for strongest valuation leverage.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3703320"/>
            <a:ext cx="1188720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Detailed Financials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12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188720"/>
                <a:gridCol w="109728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YoY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'26E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Subscriptions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(698)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(3,003)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R&amp;D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(1,640)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(6,400)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Sales &amp; Marketing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(4,720)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(390)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(3,040)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(3,120)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(3,280)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(12,700)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(355)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 impr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(2,053)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Cash: $18.4M  |  Monthly Burn: $118K  |  Runway: 16.7 months  |  Last funding: Series B ($22M, Mar 2025)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Strategic Review</dc:title>
  <dc:subject>PptxGenJS Presentation</dc:subject>
  <dc:creator>NovaCast Inc.</dc:creator>
  <cp:lastModifiedBy>NovaCast Inc.</cp:lastModifiedBy>
  <cp:revision>1</cp:revision>
  <dcterms:created xsi:type="dcterms:W3CDTF">2026-03-30T18:09:08Z</dcterms:created>
  <dcterms:modified xsi:type="dcterms:W3CDTF">2026-03-30T18:09:08Z</dcterms:modified>
</cp:coreProperties>
</file>