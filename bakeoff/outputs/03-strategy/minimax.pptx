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2B2D42"/>
                </a:solidFill>
                <a:latin typeface="Georgia"/>
              </a:rPr>
              <a:t>ARR Growth Trend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2B2D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8.2</c:v>
                </c:pt>
                <c:pt idx="1">
                  <c:v>9.1</c:v>
                </c:pt>
                <c:pt idx="2">
                  <c:v>10</c:v>
                </c:pt>
                <c:pt idx="3">
                  <c:v>11.2</c:v>
                </c:pt>
                <c:pt idx="4">
                  <c:v>12.1</c:v>
                </c:pt>
                <c:pt idx="5">
                  <c:v>12.7</c:v>
                </c:pt>
                <c:pt idx="6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DAU</c:v>
                </c:pt>
              </c:strCache>
            </c:strRef>
          </c:tx>
          <c:spPr>
            <a:solidFill>
              <a:srgbClr val="EF233C"/>
            </a:solidFill>
            <a:ln w="25400" cap="flat">
              <a:solidFill>
                <a:srgbClr val="EF23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233C"/>
              </a:solidFill>
              <a:ln w="9525" cap="flat">
                <a:solidFill>
                  <a:srgbClr val="EF23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3200</c:v>
                </c:pt>
                <c:pt idx="1">
                  <c:v>3400</c:v>
                </c:pt>
                <c:pt idx="2">
                  <c:v>3800</c:v>
                </c:pt>
                <c:pt idx="3">
                  <c:v>4100</c:v>
                </c:pt>
                <c:pt idx="4">
                  <c:v>4500</c:v>
                </c:pt>
                <c:pt idx="5">
                  <c:v>4900</c:v>
                </c:pt>
                <c:pt idx="6">
                  <c:v>5600</c:v>
                </c:pt>
                <c:pt idx="7">
                  <c:v>6200</c:v>
                </c:pt>
                <c:pt idx="8">
                  <c:v>7100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 ($K)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B2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28.1</c:v>
                </c:pt>
                <c:pt idx="1">
                  <c:v>25.3</c:v>
                </c:pt>
                <c:pt idx="2">
                  <c:v>23</c:v>
                </c:pt>
                <c:pt idx="3">
                  <c:v>21.5</c:v>
                </c:pt>
                <c:pt idx="4">
                  <c:v>20.8</c:v>
                </c:pt>
                <c:pt idx="5">
                  <c:v>20.7</c:v>
                </c:pt>
                <c:pt idx="6">
                  <c:v>18.2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B2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SMB</c:v>
                </c:pt>
              </c:strCache>
            </c:strRef>
          </c:tx>
          <c:spPr>
            <a:solidFill>
              <a:srgbClr val="EF233C"/>
            </a:solidFill>
            <a:ln w="25400" cap="flat">
              <a:solidFill>
                <a:srgbClr val="EF23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233C"/>
              </a:solidFill>
              <a:ln w="9525" cap="flat">
                <a:solidFill>
                  <a:srgbClr val="EF23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3.1</c:v>
                </c:pt>
                <c:pt idx="1">
                  <c:v>2.9</c:v>
                </c:pt>
                <c:pt idx="2">
                  <c:v>3</c:v>
                </c:pt>
                <c:pt idx="3">
                  <c:v>2.8</c:v>
                </c:pt>
                <c:pt idx="4">
                  <c:v>2.7</c:v>
                </c:pt>
                <c:pt idx="5">
                  <c:v>2.8</c:v>
                </c:pt>
                <c:pt idx="6">
                  <c:v>3.5</c:v>
                </c:pt>
                <c:pt idx="7">
                  <c:v>3.9</c:v>
                </c:pt>
                <c:pt idx="8">
                  <c:v>4.2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Mid-Market</c:v>
                </c:pt>
              </c:strCache>
            </c:strRef>
          </c:tx>
          <c:spPr>
            <a:solidFill>
              <a:srgbClr val="C45E00"/>
            </a:solidFill>
            <a:ln w="25400" cap="flat">
              <a:solidFill>
                <a:srgbClr val="C45E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5E00"/>
              </a:solidFill>
              <a:ln w="9525" cap="flat">
                <a:solidFill>
                  <a:srgbClr val="C45E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1.5</c:v>
                </c:pt>
                <c:pt idx="1">
                  <c:v>1.4</c:v>
                </c:pt>
                <c:pt idx="2">
                  <c:v>1.3</c:v>
                </c:pt>
                <c:pt idx="3">
                  <c:v>1.2</c:v>
                </c:pt>
                <c:pt idx="4">
                  <c:v>1.3</c:v>
                </c:pt>
                <c:pt idx="5">
                  <c:v>1.1</c:v>
                </c:pt>
                <c:pt idx="6">
                  <c:v>1.2</c:v>
                </c:pt>
                <c:pt idx="7">
                  <c:v>1</c:v>
                </c:pt>
                <c:pt idx="8">
                  <c:v>1.1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rgbClr val="1B6E3D"/>
            </a:solidFill>
            <a:ln w="25400" cap="flat">
              <a:solidFill>
                <a:srgbClr val="1B6E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6E3D"/>
              </a:solidFill>
              <a:ln w="9525" cap="flat">
                <a:solidFill>
                  <a:srgbClr val="1B6E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0.5</c:v>
                </c:pt>
                <c:pt idx="1">
                  <c:v>0.4</c:v>
                </c:pt>
                <c:pt idx="2">
                  <c:v>0.3</c:v>
                </c:pt>
                <c:pt idx="3">
                  <c:v>0.4</c:v>
                </c:pt>
                <c:pt idx="4">
                  <c:v>0.3</c:v>
                </c:pt>
                <c:pt idx="5">
                  <c:v>0.2</c:v>
                </c:pt>
                <c:pt idx="6">
                  <c:v>0.3</c:v>
                </c:pt>
                <c:pt idx="7">
                  <c:v>0.2</c:v>
                </c:pt>
                <c:pt idx="8">
                  <c:v>0.2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D99A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2B2D42"/>
                </a:solidFill>
                <a:latin typeface="Georgia"/>
              </a:rPr>
              <a:t>Headcount by Function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2B2D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Engineering</c:v>
                  </c:pt>
                  <c:pt idx="1">
                    <c:v>Sales</c:v>
                  </c:pt>
                  <c:pt idx="2">
                    <c:v>Marketing</c:v>
                  </c:pt>
                  <c:pt idx="3">
                    <c:v>CS / Support</c:v>
                  </c:pt>
                  <c:pt idx="4">
                    <c:v>Product</c:v>
                  </c:pt>
                  <c:pt idx="5">
                    <c:v>G&amp;A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28</c:v>
                </c:pt>
                <c:pt idx="2">
                  <c:v>15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Open Roles</c:v>
                </c:pt>
              </c:strCache>
            </c:strRef>
          </c:tx>
          <c:spPr>
            <a:solidFill>
              <a:srgbClr val="EF23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Engineering</c:v>
                  </c:pt>
                  <c:pt idx="1">
                    <c:v>Sales</c:v>
                  </c:pt>
                  <c:pt idx="2">
                    <c:v>Marketing</c:v>
                  </c:pt>
                  <c:pt idx="3">
                    <c:v>CS / Support</c:v>
                  </c:pt>
                  <c:pt idx="4">
                    <c:v>Product</c:v>
                  </c:pt>
                  <c:pt idx="5">
                    <c:v>G&amp;A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7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D99A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B2D42"/>
                </a:solidFill>
                <a:latin typeface="Georgia"/>
              </a:defRPr>
            </a:pPr>
            <a:r>
              <a:rPr sz="1100" b="0" i="0" u="none" strike="noStrike">
                <a:solidFill>
                  <a:srgbClr val="2B2D42"/>
                </a:solidFill>
                <a:latin typeface="Georgia"/>
              </a:rPr>
              <a:t>Revenue vs Monthly Burn ($K)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1B6E3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Q1'26</c:v>
                  </c:pt>
                  <c:pt idx="1">
                    <c:v>Q2'26</c:v>
                  </c:pt>
                  <c:pt idx="2">
                    <c:v>Q3'26</c:v>
                  </c:pt>
                  <c:pt idx="3">
                    <c:v>Q4'26E</c:v>
                  </c:pt>
                  <c:pt idx="4">
                    <c:v>Q1'27E</c:v>
                  </c:pt>
                  <c:pt idx="5">
                    <c:v>Q2'27E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980</c:v>
                </c:pt>
                <c:pt idx="1">
                  <c:v>1060</c:v>
                </c:pt>
                <c:pt idx="2">
                  <c:v>1250</c:v>
                </c:pt>
                <c:pt idx="3">
                  <c:v>1450</c:v>
                </c:pt>
                <c:pt idx="4">
                  <c:v>1680</c:v>
                </c:pt>
                <c:pt idx="5">
                  <c:v>1920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Burn ($K)</c:v>
                </c:pt>
              </c:strCache>
            </c:strRef>
          </c:tx>
          <c:spPr>
            <a:solidFill>
              <a:srgbClr val="EF23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Q1'26</c:v>
                  </c:pt>
                  <c:pt idx="1">
                    <c:v>Q2'26</c:v>
                  </c:pt>
                  <c:pt idx="2">
                    <c:v>Q3'26</c:v>
                  </c:pt>
                  <c:pt idx="3">
                    <c:v>Q4'26E</c:v>
                  </c:pt>
                  <c:pt idx="4">
                    <c:v>Q1'27E</c:v>
                  </c:pt>
                  <c:pt idx="5">
                    <c:v>Q2'27E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-580</c:v>
                </c:pt>
                <c:pt idx="1">
                  <c:v>-620</c:v>
                </c:pt>
                <c:pt idx="2">
                  <c:v>-680</c:v>
                </c:pt>
                <c:pt idx="3">
                  <c:v>-750</c:v>
                </c:pt>
                <c:pt idx="4">
                  <c:v>-720</c:v>
                </c:pt>
                <c:pt idx="5">
                  <c:v>-680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D99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8D99A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3D3F5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 TECHNOLOGIES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097280" cy="1097280"/>
          </a:xfrm>
          <a:prstGeom prst="rect">
            <a:avLst/>
          </a:prstGeom>
          <a:solidFill>
            <a:srgbClr val="3D3F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Review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 Meeting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389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15, 2026  |  Series B  |  $15M ARR  |  120 Employees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8288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2560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4008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Series 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Stage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560320" cy="37490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2560320" cy="411480"/>
          </a:xfrm>
          <a:prstGeom prst="rect">
            <a:avLst/>
          </a:prstGeom>
          <a:solidFill>
            <a:srgbClr val="1B6E3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51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KEY WINS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600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16002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crossed $15M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85623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18% QoQ, exceeding board plan by $1.2M. Enterprise segment drove 65% of new bookings.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2651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6517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retention hit 125%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90779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revenue from upsells and platform add-ons. Best quarter since Series A.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66928" y="37033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pipeline 3.2x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3959352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4 new Fortune 500 logos. Average deal size up 40% to $180K ACV.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051560"/>
            <a:ext cx="2560320" cy="37490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0" y="1051560"/>
            <a:ext cx="2560320" cy="411480"/>
          </a:xfrm>
          <a:prstGeom prst="rect">
            <a:avLst/>
          </a:prstGeom>
          <a:solidFill>
            <a:srgbClr val="C45E00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1051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CONCERNS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0128" y="16002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66160" y="16002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churn elevated at 4.2%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18562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 spiked from 2.8% in Q2. Root cause: onboarding gaps and competitive pricing pressure from Acme Corp.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2971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5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66160" y="29718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velocity slowed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322783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72% of planned features (target: 90%). Key delays in platform API and SSO enterprise features.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43600" y="1051560"/>
            <a:ext cx="2560320" cy="37490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8" name="Shape 26"/>
          <p:cNvSpPr/>
          <p:nvPr/>
        </p:nvSpPr>
        <p:spPr>
          <a:xfrm>
            <a:off x="5943600" y="1051560"/>
            <a:ext cx="256032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0" y="1051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DECISION NEEDED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26480" y="1645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$2.5M bridge investment in sales capacity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26480" y="21488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pipeline is 3.2x but current AE team is at capacity. Requesting approval to hire 5 additional AEs and 2 SEs in Q4 to capture the pipeline window before competitors respond.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Projected to add $4.5M incremental ARR by Q2 2027.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if delayed: Lose 60% of qualified pipeline to Acme Corp and Zenith.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920240" cy="9601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960120"/>
          </a:xfrm>
          <a:prstGeom prst="rect">
            <a:avLst/>
          </a:prstGeom>
          <a:solidFill>
            <a:srgbClr val="1B6E3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$15.0M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 QoQ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051560"/>
            <a:ext cx="1920240" cy="9601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14600" y="1051560"/>
            <a:ext cx="54864" cy="960120"/>
          </a:xfrm>
          <a:prstGeom prst="rect">
            <a:avLst/>
          </a:prstGeom>
          <a:solidFill>
            <a:srgbClr val="1B6E3D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RETENTION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125%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+8pts vs Q2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1920240" cy="9601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1051560"/>
            <a:ext cx="54864" cy="9601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$2.3M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09160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bookings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051560"/>
            <a:ext cx="2057400" cy="96012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9400" y="1051560"/>
            <a:ext cx="54864" cy="96012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1247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$22.4M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766560" y="17373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3.2x coverage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57200" y="2240280"/>
          <a:ext cx="39319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475488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by Segment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606040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822960"/>
                <a:gridCol w="91440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Deals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$5.8M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$22.4M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Update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Shipped in Q3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9144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Analytics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 of enterprise users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SSO / SAML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accounts activated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v3 with Webhooks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 integrations built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Workflow Builder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 weekly active usage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App (iOS)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2,100 downloads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03504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Q4 Roadmap Priorities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35040" y="1463040"/>
            <a:ext cx="411480" cy="2560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146304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37960" y="1463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permissions &amp; RBAC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35040" y="1810512"/>
            <a:ext cx="411480" cy="2560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1810512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537960" y="18105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&amp; compliance (SOC2)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35040" y="2157984"/>
            <a:ext cx="411480" cy="256032"/>
          </a:xfrm>
          <a:prstGeom prst="rect">
            <a:avLst/>
          </a:prstGeom>
          <a:solidFill>
            <a:srgbClr val="C45E00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0" y="2157984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537960" y="2157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recommendations engine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35040" y="2505456"/>
            <a:ext cx="411480" cy="256032"/>
          </a:xfrm>
          <a:prstGeom prst="rect">
            <a:avLst/>
          </a:prstGeom>
          <a:solidFill>
            <a:srgbClr val="C45E00"/>
          </a:solidFill>
          <a:ln/>
        </p:spPr>
      </p:sp>
      <p:sp>
        <p:nvSpPr>
          <p:cNvPr id="19" name="Text 16"/>
          <p:cNvSpPr/>
          <p:nvPr/>
        </p:nvSpPr>
        <p:spPr>
          <a:xfrm>
            <a:off x="6035040" y="2505456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37960" y="2505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native integration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035040" y="2852928"/>
            <a:ext cx="411480" cy="25603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2" name="Text 19"/>
          <p:cNvSpPr/>
          <p:nvPr/>
        </p:nvSpPr>
        <p:spPr>
          <a:xfrm>
            <a:off x="6035040" y="2852928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537960" y="2852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mobile app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35040" y="3200400"/>
            <a:ext cx="411480" cy="256032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5" name="Text 22"/>
          <p:cNvSpPr/>
          <p:nvPr/>
        </p:nvSpPr>
        <p:spPr>
          <a:xfrm>
            <a:off x="6035040" y="3200400"/>
            <a:ext cx="411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537960" y="3200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Adoption Trend (DAU)</a:t>
            </a:r>
            <a:endParaRPr lang="en-US" sz="13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57200" y="3840480"/>
          <a:ext cx="530352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 Performance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92024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914400"/>
          </a:xfrm>
          <a:prstGeom prst="rect">
            <a:avLst/>
          </a:prstGeom>
          <a:solidFill>
            <a:srgbClr val="1B6E3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CAC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$18.2K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-12% vs Q2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051560"/>
            <a:ext cx="192024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14600" y="1051560"/>
            <a:ext cx="54864" cy="914400"/>
          </a:xfrm>
          <a:prstGeom prst="rect">
            <a:avLst/>
          </a:prstGeom>
          <a:solidFill>
            <a:srgbClr val="1B6E3D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mo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-2mo vs Q2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192024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1051560"/>
            <a:ext cx="54864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4.8x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091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&gt;3x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051560"/>
            <a:ext cx="205740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9400" y="1051560"/>
            <a:ext cx="54864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1247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REV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$1.1M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766560" y="16916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48% of new ARR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2194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 Performance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42976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914400"/>
                <a:gridCol w="731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Sales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 /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$11.2K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Partnerships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$15.8K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PLG / Self-Serve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$6.4K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50292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 Trend by Quarter ($K)</a:t>
            </a:r>
            <a:endParaRPr lang="en-US" sz="13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029200" y="2514600"/>
          <a:ext cx="36576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Health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92024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914400"/>
          </a:xfrm>
          <a:prstGeom prst="rect">
            <a:avLst/>
          </a:prstGeom>
          <a:solidFill>
            <a:srgbClr val="1B6E3D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 SCORE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vs Q2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051560"/>
            <a:ext cx="192024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14600" y="1051560"/>
            <a:ext cx="54864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CHURN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churn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192024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1051560"/>
            <a:ext cx="54864" cy="914400"/>
          </a:xfrm>
          <a:prstGeom prst="rect">
            <a:avLst/>
          </a:prstGeom>
          <a:solidFill>
            <a:srgbClr val="1B6E3D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CHURN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091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of expansion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051560"/>
            <a:ext cx="205740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9400" y="1051560"/>
            <a:ext cx="54864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1247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4.6/5.0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766560" y="16916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2194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Monthly Churn Rate (%)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457200" y="2514600"/>
          <a:ext cx="429768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50292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Accounts at Risk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560320"/>
          <a:ext cx="3657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233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23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23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GlobalTech Inc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Meridian 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Apex Financial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TrueNorth Logistics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$145K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Pinnacle Systems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5029200" y="4251960"/>
            <a:ext cx="365760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1" name="Text 27"/>
          <p:cNvSpPr/>
          <p:nvPr/>
        </p:nvSpPr>
        <p:spPr>
          <a:xfrm>
            <a:off x="5029200" y="4251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at-risk ARR: $980K (6.5% of total ARR)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&amp; Hiring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92024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 in Q3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051560"/>
            <a:ext cx="192024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14600" y="1051560"/>
            <a:ext cx="54864" cy="914400"/>
          </a:xfrm>
          <a:prstGeom prst="rect">
            <a:avLst/>
          </a:prstGeom>
          <a:solidFill>
            <a:srgbClr val="C45E00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5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teams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192024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1051560"/>
            <a:ext cx="54864" cy="914400"/>
          </a:xfrm>
          <a:prstGeom prst="rect">
            <a:avLst/>
          </a:prstGeom>
          <a:solidFill>
            <a:srgbClr val="1B6E3D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HIRES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091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fill rate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051560"/>
            <a:ext cx="205740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9400" y="1051560"/>
            <a:ext cx="54864" cy="914400"/>
          </a:xfrm>
          <a:prstGeom prst="rect">
            <a:avLst/>
          </a:prstGeom>
          <a:solidFill>
            <a:srgbClr val="C45E00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1247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5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8.5%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766560" y="16916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57200" y="2194560"/>
          <a:ext cx="475488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548640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Hiring Priorities (Q4)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486400" y="2606040"/>
            <a:ext cx="320040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9" name="Shape 26"/>
          <p:cNvSpPr/>
          <p:nvPr/>
        </p:nvSpPr>
        <p:spPr>
          <a:xfrm>
            <a:off x="5486400" y="2606040"/>
            <a:ext cx="4572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0" name="Text 27"/>
          <p:cNvSpPr/>
          <p:nvPr/>
        </p:nvSpPr>
        <p:spPr>
          <a:xfrm>
            <a:off x="5623560" y="26334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Executives (5)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623560" y="28346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capacity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772400" y="28346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486400" y="3108960"/>
            <a:ext cx="320040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4" name="Shape 31"/>
          <p:cNvSpPr/>
          <p:nvPr/>
        </p:nvSpPr>
        <p:spPr>
          <a:xfrm>
            <a:off x="5486400" y="3108960"/>
            <a:ext cx="4572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5" name="Text 32"/>
          <p:cNvSpPr/>
          <p:nvPr/>
        </p:nvSpPr>
        <p:spPr>
          <a:xfrm>
            <a:off x="5623560" y="31363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Engineers (2)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623560" y="333756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support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772400" y="333756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5486400" y="3611880"/>
            <a:ext cx="320040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9" name="Shape 36"/>
          <p:cNvSpPr/>
          <p:nvPr/>
        </p:nvSpPr>
        <p:spPr>
          <a:xfrm>
            <a:off x="5486400" y="3611880"/>
            <a:ext cx="45720" cy="457200"/>
          </a:xfrm>
          <a:prstGeom prst="rect">
            <a:avLst/>
          </a:prstGeom>
          <a:solidFill>
            <a:srgbClr val="C45E00"/>
          </a:solidFill>
          <a:ln/>
        </p:spPr>
      </p:sp>
      <p:sp>
        <p:nvSpPr>
          <p:cNvPr id="40" name="Text 37"/>
          <p:cNvSpPr/>
          <p:nvPr/>
        </p:nvSpPr>
        <p:spPr>
          <a:xfrm>
            <a:off x="5623560" y="363931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Sr. Backend Engineers (3)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623560" y="38404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platform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772400" y="384048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4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486400" y="4114800"/>
            <a:ext cx="320040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4" name="Shape 41"/>
          <p:cNvSpPr/>
          <p:nvPr/>
        </p:nvSpPr>
        <p:spPr>
          <a:xfrm>
            <a:off x="5486400" y="4114800"/>
            <a:ext cx="45720" cy="457200"/>
          </a:xfrm>
          <a:prstGeom prst="rect">
            <a:avLst/>
          </a:prstGeom>
          <a:solidFill>
            <a:srgbClr val="C45E00"/>
          </a:solidFill>
          <a:ln/>
        </p:spPr>
      </p:sp>
      <p:sp>
        <p:nvSpPr>
          <p:cNvPr id="45" name="Text 42"/>
          <p:cNvSpPr/>
          <p:nvPr/>
        </p:nvSpPr>
        <p:spPr>
          <a:xfrm>
            <a:off x="5623560" y="4142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Manager (1)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5623560" y="434340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features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772400" y="43434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4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5486400" y="4617720"/>
            <a:ext cx="3200400" cy="4572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49" name="Shape 46"/>
          <p:cNvSpPr/>
          <p:nvPr/>
        </p:nvSpPr>
        <p:spPr>
          <a:xfrm>
            <a:off x="5486400" y="4617720"/>
            <a:ext cx="45720" cy="4572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50" name="Text 47"/>
          <p:cNvSpPr/>
          <p:nvPr/>
        </p:nvSpPr>
        <p:spPr>
          <a:xfrm>
            <a:off x="5623560" y="46451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SRE (2)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5623560" y="4846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reliability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77240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554480"/>
                <a:gridCol w="1554480"/>
                <a:gridCol w="1554480"/>
                <a:gridCol w="15544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NovaCrest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Acme Corp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Zenith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 YoY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YoY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110% YoY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 YoY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ML Capabilities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920240" y="1097280"/>
            <a:ext cx="1554480" cy="3200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5"/>
          <p:cNvSpPr/>
          <p:nvPr/>
        </p:nvSpPr>
        <p:spPr>
          <a:xfrm>
            <a:off x="1920240" y="10972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NovaCrest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3977640"/>
            <a:ext cx="822960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4023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Competitive Insights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4297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Zenith AI is our fastest-growing competitor</a:t>
            </a:r>
            <a:endParaRPr lang="en-US" sz="1000" dirty="0"/>
          </a:p>
          <a:p>
            <a:pPr lvl="1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 Recently raised $40M Series C; investing heavily in enterprise sales and AI features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Corp expanding downmarket with aggressive pricing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differentiation: depth of analytics + customer support + AI-native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Outlook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192024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BURN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$680K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new hires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14600" y="1051560"/>
            <a:ext cx="192024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14600" y="1051560"/>
            <a:ext cx="54864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BALANCE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$18.2M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6517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Sep 30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1051560"/>
            <a:ext cx="192024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1051560"/>
            <a:ext cx="54864" cy="914400"/>
          </a:xfrm>
          <a:prstGeom prst="rect">
            <a:avLst/>
          </a:prstGeom>
          <a:solidFill>
            <a:srgbClr val="1B6E3D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1247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6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 mo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709160" y="1691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current burn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29400" y="1051560"/>
            <a:ext cx="2057400" cy="91440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629400" y="1051560"/>
            <a:ext cx="54864" cy="91440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1247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13258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 2028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766560" y="16916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trajectory</a:t>
            </a:r>
            <a:endParaRPr lang="en-US" sz="9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57200" y="2194560"/>
          <a:ext cx="42976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50292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 Profitability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166360" y="2697480"/>
            <a:ext cx="182880" cy="182880"/>
          </a:xfrm>
          <a:prstGeom prst="ellipse">
            <a:avLst/>
          </a:prstGeom>
          <a:solidFill>
            <a:srgbClr val="1B6E3D"/>
          </a:solidFill>
          <a:ln/>
        </p:spPr>
      </p:sp>
      <p:sp>
        <p:nvSpPr>
          <p:cNvPr id="29" name="Shape 26"/>
          <p:cNvSpPr/>
          <p:nvPr/>
        </p:nvSpPr>
        <p:spPr>
          <a:xfrm>
            <a:off x="5248656" y="2880360"/>
            <a:ext cx="18288" cy="4114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0" name="Text 27"/>
          <p:cNvSpPr/>
          <p:nvPr/>
        </p:nvSpPr>
        <p:spPr>
          <a:xfrm>
            <a:off x="5486400" y="26243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486400" y="28072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$1.5M MRR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7772400" y="2651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5166360" y="3246120"/>
            <a:ext cx="182880" cy="182880"/>
          </a:xfrm>
          <a:prstGeom prst="ellipse">
            <a:avLst/>
          </a:prstGeom>
          <a:solidFill>
            <a:srgbClr val="1B6E3D"/>
          </a:solidFill>
          <a:ln/>
        </p:spPr>
      </p:sp>
      <p:sp>
        <p:nvSpPr>
          <p:cNvPr id="34" name="Shape 31"/>
          <p:cNvSpPr/>
          <p:nvPr/>
        </p:nvSpPr>
        <p:spPr>
          <a:xfrm>
            <a:off x="5248656" y="3429000"/>
            <a:ext cx="18288" cy="4114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35" name="Text 32"/>
          <p:cNvSpPr/>
          <p:nvPr/>
        </p:nvSpPr>
        <p:spPr>
          <a:xfrm>
            <a:off x="5486400" y="317296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486400" y="33558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&gt; 80%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772400" y="3200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166360" y="3794760"/>
            <a:ext cx="182880" cy="182880"/>
          </a:xfrm>
          <a:prstGeom prst="ellipse">
            <a:avLst/>
          </a:prstGeom>
          <a:solidFill>
            <a:srgbClr val="C45E00"/>
          </a:solidFill>
          <a:ln/>
        </p:spPr>
      </p:sp>
      <p:sp>
        <p:nvSpPr>
          <p:cNvPr id="39" name="Shape 36"/>
          <p:cNvSpPr/>
          <p:nvPr/>
        </p:nvSpPr>
        <p:spPr>
          <a:xfrm>
            <a:off x="5248656" y="3977640"/>
            <a:ext cx="18288" cy="41148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40" name="Text 37"/>
          <p:cNvSpPr/>
          <p:nvPr/>
        </p:nvSpPr>
        <p:spPr>
          <a:xfrm>
            <a:off x="5486400" y="37216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486400" y="390448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cash flow positive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7772400" y="3749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166360" y="4343400"/>
            <a:ext cx="182880" cy="18288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44" name="Text 41"/>
          <p:cNvSpPr/>
          <p:nvPr/>
        </p:nvSpPr>
        <p:spPr>
          <a:xfrm>
            <a:off x="5486400" y="42702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2028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486400" y="445312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P&amp;L break-even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772400" y="429768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Risks &amp; Mitigations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822960"/>
                <a:gridCol w="43891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SMB churn acceleration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Investing in onboarding automation, launching retention-focused CSM team, competitive pricing tier for SMB.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Zenith AI competitive pressure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Accelerating AI roadmap, deepening enterprise moat with SSO/RBAC, expanding partner channel.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hiring delays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Engaged 2 recruiting agencies, increased referral bonus, exploring acqui-hire opportunities.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person dependency (CTO)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Promoting VP Eng internally, documenting architecture decisions, equity refresh in progress.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environment / budget cuts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Diversifying across verticals, building ROI calculator for prospects, offering annual prepay discounts.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 Asks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 from the board this quarter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8229600" cy="7772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54480"/>
            <a:ext cx="54864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1719072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719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589520" y="1645920"/>
            <a:ext cx="914400" cy="2286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7589520" y="16459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80160" y="162763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$2.5M Sales Capacity Investment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19202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5 AEs and 2 SEs to capture 3.2x enterprise pipeline. Expected ROI: $4.5M incremental ARR by Q2 2027.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41448"/>
            <a:ext cx="8229600" cy="7772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441448"/>
            <a:ext cx="54864" cy="777240"/>
          </a:xfrm>
          <a:prstGeom prst="rect">
            <a:avLst/>
          </a:prstGeom>
          <a:solidFill>
            <a:srgbClr val="C45E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2606040"/>
            <a:ext cx="411480" cy="411480"/>
          </a:xfrm>
          <a:prstGeom prst="ellipse">
            <a:avLst/>
          </a:prstGeom>
          <a:solidFill>
            <a:srgbClr val="C45E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589520" y="2532888"/>
            <a:ext cx="914400" cy="228600"/>
          </a:xfrm>
          <a:prstGeom prst="rect">
            <a:avLst/>
          </a:prstGeom>
          <a:solidFill>
            <a:srgbClr val="C45E00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25328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80160" y="25146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Introductions to Target Accounts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28072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identified 12 enterprise prospects where board members have direct relationships. Warm introductions could accelerate 60-day pipeline by $3.8M.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328416"/>
            <a:ext cx="8229600" cy="7772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328416"/>
            <a:ext cx="54864" cy="77724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3493008"/>
            <a:ext cx="411480" cy="41148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4930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589520" y="3419856"/>
            <a:ext cx="914400" cy="2286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34198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80160" y="34015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Guidance on Acquisition Opportunities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369417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small companies (analytics tooling, workflow automation) are available. Could accelerate roadmap by 12 months. Seeking board input before proceeding to diligence.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215384"/>
            <a:ext cx="8229600" cy="777240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" y="4215384"/>
            <a:ext cx="54864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379976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3799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7589520" y="4306824"/>
            <a:ext cx="914400" cy="2286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7589520" y="430682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280160" y="428853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Compensation Committee Review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80160" y="45811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approval for updated equity refresh pool ($1.2M in options) to address retention risk for 8 critical engineers and 3 senior sales leaders.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Appendix: Detailed Financials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Quarterly P&amp;L Summary ($K)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188720"/>
                <a:gridCol w="1188720"/>
                <a:gridCol w="1188720"/>
                <a:gridCol w="118872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Q1'26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Q2'26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Q3'26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Q4'26E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FY'26E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$3,750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$4,350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$14,220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Subscription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$13,200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Services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($590)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($640)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($750)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($870)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($2,850)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$2,350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$2,540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$3,480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$11,370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80.0%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($1,120)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($1,200)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($1,380)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($1,650)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($5,350)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R&amp;D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($980)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($1,050)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($1,150)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($1,250)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($4,430)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G&amp;A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($340)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($360)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($380)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($1,480)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($2,440)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($2,610)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($2,910)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($3,300)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($11,260)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($90)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($70)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Burn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($580)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($620)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($680)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($750)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($2,630)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 Flow Summary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754880"/>
          <a:ext cx="8595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828800"/>
                <a:gridCol w="1828800"/>
                <a:gridCol w="1828800"/>
                <a:gridCol w="182880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Burn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Runway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99AE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$19.6M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EF23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($1.4M)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$18.2M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1B6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months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2026 Strategic Review</dc:title>
  <dc:subject>PptxGenJS Presentation</dc:subject>
  <dc:creator>NovaCrest Technologies</dc:creator>
  <cp:lastModifiedBy>NovaCrest Technologies</cp:lastModifiedBy>
  <cp:revision>1</cp:revision>
  <dcterms:created xsi:type="dcterms:W3CDTF">2026-03-30T17:56:44Z</dcterms:created>
  <dcterms:modified xsi:type="dcterms:W3CDTF">2026-03-30T17:56:44Z</dcterms:modified>
</cp:coreProperties>
</file>