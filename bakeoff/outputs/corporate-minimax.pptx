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"/>
            <a:ext cx="45720" cy="50794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82880"/>
            <a:ext cx="1371600" cy="292608"/>
          </a:xfrm>
          <a:prstGeom prst="rect">
            <a:avLst>
              <a:gd name="adj" fmla="val 937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UAL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United Airlines Holdings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FY2025 Results &amp; 2026 Outlook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March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5486400" cy="274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240280"/>
            <a:ext cx="1737360" cy="1005840"/>
          </a:xfrm>
          <a:prstGeom prst="rect">
            <a:avLst>
              <a:gd name="adj" fmla="val 4545"/>
            </a:avLst>
          </a:prstGeom>
          <a:solidFill>
            <a:srgbClr val="15204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$59.1B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763317"/>
            <a:ext cx="173736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04718"/>
            <a:ext cx="173736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377440" y="2240280"/>
            <a:ext cx="1737360" cy="1005840"/>
          </a:xfrm>
          <a:prstGeom prst="rect">
            <a:avLst>
              <a:gd name="adj" fmla="val 4545"/>
            </a:avLst>
          </a:prstGeom>
          <a:solidFill>
            <a:srgbClr val="152040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$10.62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2763317"/>
            <a:ext cx="173736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EPS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377440" y="3004718"/>
            <a:ext cx="173736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97680" y="2240280"/>
            <a:ext cx="1737360" cy="1005840"/>
          </a:xfrm>
          <a:prstGeom prst="rect">
            <a:avLst>
              <a:gd name="adj" fmla="val 4545"/>
            </a:avLst>
          </a:prstGeom>
          <a:solidFill>
            <a:srgbClr val="152040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22860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$3.4B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297680" y="2763317"/>
            <a:ext cx="1737360" cy="261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97680" y="3004718"/>
            <a:ext cx="1737360" cy="221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4015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06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Executing United Next · Growing EBITDA · Returning Capital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92240" y="64008"/>
            <a:ext cx="2651760" cy="5079492"/>
          </a:xfrm>
          <a:prstGeom prst="rect">
            <a:avLst/>
          </a:prstGeom>
          <a:solidFill>
            <a:srgbClr val="16205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92240" y="64008"/>
            <a:ext cx="36576" cy="50794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0" y="4572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7512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Fleet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675120" y="1554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338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67512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751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99.3%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675120" y="3246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37490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#1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675120" y="4343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Transatlantic Share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Investment Thesis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621792"/>
            <a:ext cx="54864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766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UAL NOW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365760" cy="365760"/>
          </a:xfrm>
          <a:prstGeom prst="rect">
            <a:avLst>
              <a:gd name="adj" fmla="val 7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93268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Absorption Complete — Compounding Begins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207008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EPS 2022–2025 was not stagnation — UAL absorbed $10B+ in new labor contracts (ALPA, IAM) while simultaneously accelerating fleet modernization. The cost reset is complete. With 50+ 787s and 200+ MAX jets now in service, unit cost leverage is inflecting positively into 2026.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365760" cy="365760"/>
          </a:xfrm>
          <a:prstGeom prst="rect">
            <a:avLst>
              <a:gd name="adj" fmla="val 7500"/>
            </a:avLst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First Year to Exceed 2019 Peak EPS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441448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was the prior EPS high-water mark at ~$11. Guidance of $12–14 in 2026 represents the first true EPS breakthrough, driven by premium seat penetration (+300bps), MileagePlus loyalty revenue growth, and Starlink/Kinective ancillary revenue unlocking.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365760" cy="365760"/>
          </a:xfrm>
          <a:prstGeom prst="rect">
            <a:avLst>
              <a:gd name="adj" fmla="val 7500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340156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Moat: Network + Loyalty + Tech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3675888"/>
            <a:ext cx="5303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UAL's hub footprint (ORD, EWR, IAH, DEN, SFO, LAX) is irreplicable at scale. MileagePlus generates $6B+ in annual revenue independent of flying. Kinective Media + Starlink connectivity creates a new in-flight media revenue stream with $500M+ long-term potential.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0" y="731520"/>
            <a:ext cx="23774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777240"/>
            <a:ext cx="2377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$12–14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1183234"/>
            <a:ext cx="23774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 Adj EPS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1391717"/>
            <a:ext cx="23774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$10.62 in FY2025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400800" y="1737360"/>
            <a:ext cx="23774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783080"/>
            <a:ext cx="2377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$10B+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400800" y="2189074"/>
            <a:ext cx="23774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Absorbed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2397557"/>
            <a:ext cx="23774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2022–2025 contracts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400800" y="2743200"/>
            <a:ext cx="23774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788920"/>
            <a:ext cx="2377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400800" y="3194914"/>
            <a:ext cx="23774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Dreamliners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3403397"/>
            <a:ext cx="23774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active fleet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3749040"/>
            <a:ext cx="23774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3794760"/>
            <a:ext cx="23774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$6B+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400800" y="4200754"/>
            <a:ext cx="23774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Rev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4409237"/>
            <a:ext cx="23774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contribution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Multi-Year Financial Summary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 – FY2026E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  <a:gridCol w="1097280"/>
                <a:gridCol w="1097280"/>
                <a:gridCol w="109728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$62.0E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Income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$(2.8)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$6.2E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$(1.9)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$(7.05)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$13.00E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$(0.3)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$9.5E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ASMs (B)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(operated)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1,050E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4160520"/>
            <a:ext cx="8503920" cy="777240"/>
          </a:xfrm>
          <a:prstGeom prst="rect">
            <a:avLst>
              <a:gd name="adj" fmla="val 5882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42336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2026 EPS Breakthrough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11480" y="4453128"/>
            <a:ext cx="832104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absorbing $10B+ in new labor contracts across 2022–2025, UAL's adj EPS trajectory resumes upward. FY2026E guidance of $12–14 marks the first year exceeding 2019's prior peak of ~$11. EBITDA margin target of 15%+ signals durable structural improvement, not a cyclical bounce.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FY2025 Quarterly P&amp;L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4572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Q1–Q4 2025 BREAKDOWN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5943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463040"/>
                <a:gridCol w="1463040"/>
                <a:gridCol w="1371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 Income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 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$0.91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8163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reflects seasonally strong holiday demand. Record Q4 revenue $17.4B driven by Latin/Caribbean leisure + corporate rebound.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92240" y="804672"/>
            <a:ext cx="2286000" cy="1005840"/>
          </a:xfrm>
          <a:prstGeom prst="rect">
            <a:avLst>
              <a:gd name="adj" fmla="val 4545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0" y="877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Peak Profitability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83680" y="109728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Adj EPS of $3.98 is seasonal high — trans-Atlantic routes running full utilization. 787 gauge advantage driving TRASM premium.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92240" y="1920240"/>
            <a:ext cx="2286000" cy="1005840"/>
          </a:xfrm>
          <a:prstGeom prst="rect">
            <a:avLst>
              <a:gd name="adj" fmla="val 4545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19933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Revenue Record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583680" y="2212848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Q4 $17.4B is highest quarterly revenue in UAL history. MileagePlus redemptions + Basic Economy mix driving strong ancillary yield.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492240" y="3035808"/>
            <a:ext cx="2286000" cy="91440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83680" y="3108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Seasonality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583680" y="3328416"/>
            <a:ext cx="210312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EPS near zero is structural — winter low-demand period offset by growing subscription/loyalty base that provides floor revenue.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3246120"/>
            <a:ext cx="5943600" cy="749808"/>
          </a:xfrm>
          <a:prstGeom prst="rect">
            <a:avLst>
              <a:gd name="adj" fmla="val 6098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3319272"/>
            <a:ext cx="5760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YEAR SUMMARY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11480" y="35387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revenue +$2.0B (+3.5%) YoY. Net Income $3.4B, Adj EPS $10.62 (+12.2% YoY from $9.47). EBITDA ~$8.2B. Fleet grew to 1,010 operated aircraft.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 Economics Deep Dive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45720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PER-ASM METRICS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100584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 (total)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15.96¢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15.41¢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+0.55¢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step-up + inflationary pressure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 ex-Fuel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11.20¢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10.82¢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+0.38¢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Improving toward 11.0¢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16.18¢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15.93¢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+0.25¢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mix shift driving yield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17.89¢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17.50¢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+0.39¢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 + ancillary contributing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Cost/Gal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–$0.09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New-gen fleet efficiency gain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Gallons (B)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growth, offset by efficiency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PRASM–CASM Spread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+0.22¢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+0.52¢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–0.30¢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compression; recovering 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804672"/>
            <a:ext cx="2423160" cy="1463040"/>
          </a:xfrm>
          <a:prstGeom prst="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877824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SENSITIVITY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92240" y="1097280"/>
            <a:ext cx="22402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$0.10/gal change in jet fuel = ~$40M annual P&amp;L impact (pre-hedge). UAL hedges ~25% of forward exposure. At $2.62/gal, FY2025 fuel bill was ~$10.4B. 2026 guide assumes $2.55–$2.75/gal range.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400800" y="2395728"/>
            <a:ext cx="2423160" cy="91440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92240" y="24688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 ex-FUEL TREND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2688336"/>
            <a:ext cx="22402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 target: 11.0¢ flat-to-down as 787/MAX fleet gauge advantage offsets wage escalation. New fleet = 15–20% better fuel burn vs. prior-gen.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3429000"/>
            <a:ext cx="585216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348386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PRASM VS CASM TREND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0040" y="3730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 ex-Fuel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1737360" y="3767328"/>
            <a:ext cx="5303520" cy="182880"/>
          </a:xfrm>
          <a:prstGeom prst="rect">
            <a:avLst>
              <a:gd name="adj" fmla="val 15000"/>
            </a:avLst>
          </a:prstGeom>
          <a:solidFill>
            <a:srgbClr val="D0D9EE"/>
          </a:solidFill>
          <a:ln/>
        </p:spPr>
      </p:sp>
      <p:sp>
        <p:nvSpPr>
          <p:cNvPr id="19" name="Shape 16"/>
          <p:cNvSpPr/>
          <p:nvPr/>
        </p:nvSpPr>
        <p:spPr>
          <a:xfrm>
            <a:off x="1737360" y="3767328"/>
            <a:ext cx="3299968" cy="182880"/>
          </a:xfrm>
          <a:prstGeom prst="rect">
            <a:avLst>
              <a:gd name="adj" fmla="val 15000"/>
            </a:avLst>
          </a:prstGeom>
          <a:solidFill>
            <a:srgbClr val="EF4444"/>
          </a:solidFill>
          <a:ln/>
        </p:spPr>
      </p:sp>
      <p:sp>
        <p:nvSpPr>
          <p:cNvPr id="20" name="Text 17"/>
          <p:cNvSpPr/>
          <p:nvPr/>
        </p:nvSpPr>
        <p:spPr>
          <a:xfrm>
            <a:off x="5110480" y="37307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11.2¢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20040" y="407822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PRASM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737360" y="4114800"/>
            <a:ext cx="5303520" cy="182880"/>
          </a:xfrm>
          <a:prstGeom prst="rect">
            <a:avLst>
              <a:gd name="adj" fmla="val 15000"/>
            </a:avLst>
          </a:prstGeom>
          <a:solidFill>
            <a:srgbClr val="D0D9EE"/>
          </a:solidFill>
          <a:ln/>
        </p:spPr>
      </p:sp>
      <p:sp>
        <p:nvSpPr>
          <p:cNvPr id="23" name="Shape 20"/>
          <p:cNvSpPr/>
          <p:nvPr/>
        </p:nvSpPr>
        <p:spPr>
          <a:xfrm>
            <a:off x="1737360" y="4114800"/>
            <a:ext cx="4767275" cy="182880"/>
          </a:xfrm>
          <a:prstGeom prst="rect">
            <a:avLst>
              <a:gd name="adj" fmla="val 15000"/>
            </a:avLst>
          </a:prstGeom>
          <a:solidFill>
            <a:srgbClr val="3B82F6"/>
          </a:solidFill>
          <a:ln/>
        </p:spPr>
      </p:sp>
      <p:sp>
        <p:nvSpPr>
          <p:cNvPr id="24" name="Text 21"/>
          <p:cNvSpPr/>
          <p:nvPr/>
        </p:nvSpPr>
        <p:spPr>
          <a:xfrm>
            <a:off x="6577787" y="40782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16.18¢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20040" y="4425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TRASM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737360" y="4462272"/>
            <a:ext cx="5303520" cy="182880"/>
          </a:xfrm>
          <a:prstGeom prst="rect">
            <a:avLst>
              <a:gd name="adj" fmla="val 15000"/>
            </a:avLst>
          </a:prstGeom>
          <a:solidFill>
            <a:srgbClr val="D0D9EE"/>
          </a:solidFill>
          <a:ln/>
        </p:spPr>
      </p:sp>
      <p:sp>
        <p:nvSpPr>
          <p:cNvPr id="27" name="Shape 24"/>
          <p:cNvSpPr/>
          <p:nvPr/>
        </p:nvSpPr>
        <p:spPr>
          <a:xfrm>
            <a:off x="1737360" y="4462272"/>
            <a:ext cx="5271110" cy="182880"/>
          </a:xfrm>
          <a:prstGeom prst="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1622" y="442569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17.89¢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OpEx Composition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COST BREAKDOWN — TOTAL ~$54.4B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280160"/>
                <a:gridCol w="1097280"/>
                <a:gridCol w="109728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Category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OpEx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Labor (wages + benefits)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~$21.5B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&amp; Oil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–3.7%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Rent &amp; 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&amp; Sales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~$4.5B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OpEx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~$11.8B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~$57.6B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73552"/>
            <a:ext cx="621792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332841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MIX VISUAL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3547872"/>
            <a:ext cx="2211019" cy="292608"/>
          </a:xfrm>
          <a:prstGeom prst="rect">
            <a:avLst>
              <a:gd name="adj" fmla="val 6250"/>
            </a:avLst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3547872"/>
            <a:ext cx="22110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36%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558491" y="3547872"/>
            <a:ext cx="1153973" cy="292608"/>
          </a:xfrm>
          <a:prstGeom prst="rect">
            <a:avLst>
              <a:gd name="adj" fmla="val 6250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2558491" y="3547872"/>
            <a:ext cx="1153973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19%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739896" y="3547872"/>
            <a:ext cx="967435" cy="292608"/>
          </a:xfrm>
          <a:prstGeom prst="rect">
            <a:avLst>
              <a:gd name="adj" fmla="val 6250"/>
            </a:avLst>
          </a:prstGeom>
          <a:solidFill>
            <a:srgbClr val="8B5CF6"/>
          </a:solidFill>
          <a:ln/>
        </p:spPr>
      </p:sp>
      <p:sp>
        <p:nvSpPr>
          <p:cNvPr id="16" name="Text 13"/>
          <p:cNvSpPr/>
          <p:nvPr/>
        </p:nvSpPr>
        <p:spPr>
          <a:xfrm>
            <a:off x="3739896" y="3547872"/>
            <a:ext cx="96743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 16%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734763" y="3547872"/>
            <a:ext cx="470002" cy="292608"/>
          </a:xfrm>
          <a:prstGeom prst="rect">
            <a:avLst>
              <a:gd name="adj" fmla="val 6250"/>
            </a:avLst>
          </a:prstGeom>
          <a:solidFill>
            <a:srgbClr val="3B82F6"/>
          </a:solidFill>
          <a:ln/>
        </p:spPr>
      </p:sp>
      <p:sp>
        <p:nvSpPr>
          <p:cNvPr id="18" name="Shape 15"/>
          <p:cNvSpPr/>
          <p:nvPr/>
        </p:nvSpPr>
        <p:spPr>
          <a:xfrm>
            <a:off x="5232197" y="3547872"/>
            <a:ext cx="1278331" cy="292608"/>
          </a:xfrm>
          <a:prstGeom prst="rect">
            <a:avLst>
              <a:gd name="adj" fmla="val 6250"/>
            </a:avLst>
          </a:prstGeom>
          <a:solidFill>
            <a:srgbClr val="10B981"/>
          </a:solidFill>
          <a:ln/>
        </p:spPr>
      </p:sp>
      <p:sp>
        <p:nvSpPr>
          <p:cNvPr id="19" name="Text 16"/>
          <p:cNvSpPr/>
          <p:nvPr/>
        </p:nvSpPr>
        <p:spPr>
          <a:xfrm>
            <a:off x="5232197" y="3547872"/>
            <a:ext cx="127833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21%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6675120" y="804672"/>
            <a:ext cx="2103120" cy="91440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66560" y="8778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LABOR: STEP-UP ABSORBED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766560" y="1097280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 contract ratified 2023 (+17% pay). IAM ground workers settled 2024. Combined $3B+ annual increment now fully in run rate.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675120" y="1828800"/>
            <a:ext cx="2103120" cy="914400"/>
          </a:xfrm>
          <a:prstGeom prst="rect">
            <a:avLst>
              <a:gd name="adj" fmla="val 5000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766560" y="190195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FUEL: NEW FLEET SAVES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766560" y="2121408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burns 20% less fuel per seat vs 767. 50-unit fleet saves ~$400M/yr vs prior gauge. MAX family replacing 737-700s.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675120" y="2852928"/>
            <a:ext cx="2103120" cy="1005840"/>
          </a:xfrm>
          <a:prstGeom prst="rect">
            <a:avLst>
              <a:gd name="adj" fmla="val 4545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766560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DISTRIBUTION: OPT.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6560" y="314553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 direct booking growth reducing GDS fees. United.com share up to 52% of total bookings. Channel shift saves ~$100M/yr.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Regional Revenue Mix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 INTERNATIONAL BREAKDOWN — FY2025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65836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005840"/>
                <a:gridCol w="1097280"/>
                <a:gridCol w="1097280"/>
                <a:gridCol w="11887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ASM Share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Domestic (US)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20.1¢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Latin America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MEIA (Mid-East/India/Africa)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17.89¢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91840"/>
            <a:ext cx="65836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3346704"/>
            <a:ext cx="6583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BY REGION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3566160"/>
            <a:ext cx="3198571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3566160"/>
            <a:ext cx="319857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49%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546043" y="3566160"/>
            <a:ext cx="1618488" cy="3200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3546043" y="3566160"/>
            <a:ext cx="1618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25%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5191963" y="3566160"/>
            <a:ext cx="630936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Shape 13"/>
          <p:cNvSpPr/>
          <p:nvPr/>
        </p:nvSpPr>
        <p:spPr>
          <a:xfrm>
            <a:off x="5850331" y="3566160"/>
            <a:ext cx="696773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4"/>
          <p:cNvSpPr/>
          <p:nvPr/>
        </p:nvSpPr>
        <p:spPr>
          <a:xfrm>
            <a:off x="6574536" y="3566160"/>
            <a:ext cx="301752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Shape 15"/>
          <p:cNvSpPr/>
          <p:nvPr/>
        </p:nvSpPr>
        <p:spPr>
          <a:xfrm>
            <a:off x="7086600" y="804672"/>
            <a:ext cx="1737360" cy="1463040"/>
          </a:xfrm>
          <a:prstGeom prst="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78040" y="87782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MEIA: FASTEST GROWTH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178040" y="1097280"/>
            <a:ext cx="155448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+22.3% revenue YoY. India routes (ORD-DEL, EWR-DEL, EWR-BOM) running at 90%+ load factor. MEIA TRASM of 21.3¢ is highest of any region.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086600" y="2377440"/>
            <a:ext cx="1737360" cy="1005840"/>
          </a:xfrm>
          <a:prstGeom prst="rect">
            <a:avLst>
              <a:gd name="adj" fmla="val 4545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78040" y="245059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PREMIUM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178040" y="2670048"/>
            <a:ext cx="155448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Business Class driving 20¢+ TRASM on European routes. Premium cabin revenue +12% YoY.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086600" y="3493008"/>
            <a:ext cx="1737360" cy="822960"/>
          </a:xfrm>
          <a:prstGeom prst="rect">
            <a:avLst>
              <a:gd name="adj" fmla="val 5556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78040" y="35661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SURGE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178040" y="378561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+8.4% YoY driven by leisure demand to Mexico, Caribbean, Central America. Load factors &gt;90%.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Quality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PREMIUM, LOYALTY &amp; ANCILLARY MIX — FY2025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691640" cy="960120"/>
          </a:xfrm>
          <a:prstGeom prst="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0392"/>
            <a:ext cx="16916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303934"/>
            <a:ext cx="1691640" cy="249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Revenue Share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534363"/>
            <a:ext cx="1691640" cy="211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+300bps YoY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4832" y="804672"/>
            <a:ext cx="1691640" cy="960120"/>
          </a:xfrm>
          <a:prstGeom prst="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2084832" y="850392"/>
            <a:ext cx="16916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$6.1B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084832" y="1303934"/>
            <a:ext cx="1691640" cy="249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Revenue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084832" y="1534363"/>
            <a:ext cx="1691640" cy="211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YoY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49624" y="804672"/>
            <a:ext cx="1691640" cy="960120"/>
          </a:xfrm>
          <a:prstGeom prst="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9624" y="850392"/>
            <a:ext cx="16916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58%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9624" y="1303934"/>
            <a:ext cx="1691640" cy="249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Travel 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849624" y="1534363"/>
            <a:ext cx="1691640" cy="211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managed travel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614416" y="804672"/>
            <a:ext cx="1691640" cy="960120"/>
          </a:xfrm>
          <a:prstGeom prst="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850392"/>
            <a:ext cx="16916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14416" y="1303934"/>
            <a:ext cx="1691640" cy="249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Ancillary Revenue %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14416" y="1534363"/>
            <a:ext cx="1691640" cy="211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bags, upgrades, extras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379208" y="804672"/>
            <a:ext cx="1691640" cy="960120"/>
          </a:xfrm>
          <a:prstGeom prst="rect">
            <a:avLst>
              <a:gd name="adj" fmla="val 4762"/>
            </a:avLst>
          </a:prstGeom>
          <a:solidFill>
            <a:srgbClr val="EEF2FF"/>
          </a:solidFill>
          <a:ln/>
        </p:spPr>
      </p:sp>
      <p:sp>
        <p:nvSpPr>
          <p:cNvPr id="25" name="Text 23"/>
          <p:cNvSpPr/>
          <p:nvPr/>
        </p:nvSpPr>
        <p:spPr>
          <a:xfrm>
            <a:off x="7379208" y="850392"/>
            <a:ext cx="16916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379208" y="1303934"/>
            <a:ext cx="1691640" cy="2496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Economy 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79208" y="1534363"/>
            <a:ext cx="1691640" cy="2112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domestic bookings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0040" y="1901952"/>
            <a:ext cx="4114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19568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CABIN DETAIL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76272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09728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Polaris Business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First (Domestic)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Premium 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 Plus (seats)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617720" y="1901952"/>
            <a:ext cx="420624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29"/>
          <p:cNvSpPr/>
          <p:nvPr/>
        </p:nvSpPr>
        <p:spPr>
          <a:xfrm>
            <a:off x="4617720" y="195681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LOYALTY DETAIL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2176272"/>
          <a:ext cx="4206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Stream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co-brand card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Award redemptions (capacity)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 status fees + extras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miles (hotels, retail)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MileagePlus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34" name="Shape 30"/>
          <p:cNvSpPr/>
          <p:nvPr/>
        </p:nvSpPr>
        <p:spPr>
          <a:xfrm>
            <a:off x="320040" y="4224528"/>
            <a:ext cx="8503920" cy="685800"/>
          </a:xfrm>
          <a:prstGeom prst="rect">
            <a:avLst>
              <a:gd name="adj" fmla="val 6667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11480" y="42976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QUALITY SUMMARY</a:t>
            </a:r>
            <a:endParaRPr lang="en-US" sz="900" dirty="0"/>
          </a:p>
        </p:txBody>
      </p:sp>
      <p:sp>
        <p:nvSpPr>
          <p:cNvPr id="36" name="Text 32"/>
          <p:cNvSpPr/>
          <p:nvPr/>
        </p:nvSpPr>
        <p:spPr>
          <a:xfrm>
            <a:off x="411480" y="4517136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premium revenue share + $6.1B MileagePlus + 18% ancillary = ~65% of total revenue from high-quality, loyalty-anchored, premium-driven sources. This mix is structurally more resilient than pre-COVID 2019 composition.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Fleet Modernization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BOOK, DELIVERIES &amp; CASM IMPACT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920240" cy="777240"/>
          </a:xfrm>
          <a:prstGeom prst="rect">
            <a:avLst>
              <a:gd name="adj" fmla="val 5882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0392"/>
            <a:ext cx="1920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1,010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208837"/>
            <a:ext cx="1920240" cy="202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Aircraft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395374"/>
            <a:ext cx="192024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end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23160" y="804672"/>
            <a:ext cx="1920240" cy="777240"/>
          </a:xfrm>
          <a:prstGeom prst="rect">
            <a:avLst>
              <a:gd name="adj" fmla="val 5882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850392"/>
            <a:ext cx="1920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200+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23160" y="1208837"/>
            <a:ext cx="1920240" cy="202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Family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1395374"/>
            <a:ext cx="192024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737-8 / 737-9 / 737-10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26280" y="804672"/>
            <a:ext cx="1920240" cy="777240"/>
          </a:xfrm>
          <a:prstGeom prst="rect">
            <a:avLst>
              <a:gd name="adj" fmla="val 5882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850392"/>
            <a:ext cx="1920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26280" y="1208837"/>
            <a:ext cx="1920240" cy="202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Dreamliners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1395374"/>
            <a:ext cx="192024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9400" y="804672"/>
            <a:ext cx="1920240" cy="777240"/>
          </a:xfrm>
          <a:prstGeom prst="rect">
            <a:avLst>
              <a:gd name="adj" fmla="val 5882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850392"/>
            <a:ext cx="19202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700+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29400" y="1208837"/>
            <a:ext cx="1920240" cy="2020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629400" y="1395374"/>
            <a:ext cx="1920240" cy="1709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+ MAX + A321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719072"/>
            <a:ext cx="59436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77393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BOOK DETAILS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005840"/>
                <a:gridCol w="1005840"/>
                <a:gridCol w="128016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Order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Delivers.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2027–28 Dels.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CASM 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737 MAX 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–12% vs 737-700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737 MAX 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–14% vs 737-800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737 MAX 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–18% vs 737-900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FAA cert pending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787-9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–20% vs 767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6–9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787-10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–22% vs 767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Delayed 6–9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Airbus A321XLR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route economics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2027+ entry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446520" y="804672"/>
            <a:ext cx="2377440" cy="1280160"/>
          </a:xfrm>
          <a:prstGeom prst="rect">
            <a:avLst>
              <a:gd name="adj" fmla="val 3571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8778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BOEING DELIVERY RISK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37960" y="1097280"/>
            <a:ext cx="21945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 program delays of 6–9 months pushed ~15 aircraft into 2026. 737 MAX 10 FAA certification remains unresolved, affecting 100-unit order. UAL estimates ~$200M in 2025 lost opportunity from deferred aircraft.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46520" y="2212848"/>
            <a:ext cx="2377440" cy="1097280"/>
          </a:xfrm>
          <a:prstGeom prst="rect">
            <a:avLst>
              <a:gd name="adj" fmla="val 4167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22860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STRATEGY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37960" y="250545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Widebody gauge on transcon + trans-Atlantic routes enables more premium seats per departure. 787 has ~30% more premium capacity than 767 it replaces.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446520" y="3438144"/>
            <a:ext cx="2377440" cy="868680"/>
          </a:xfrm>
          <a:prstGeom prst="rect">
            <a:avLst>
              <a:gd name="adj" fmla="val 5263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35112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AIRBUS HEDGE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537960" y="3730752"/>
            <a:ext cx="219456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A321XLR orders diversify Boeing dependency. Entry 2027–2028. Ideal for thin international routes that need fuel efficiency without widebody capacity.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Products &amp; Cabin Experience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82296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FLAGSHIP PRODUCT INNOVATIONS — REVENUE DRIVERS FOR 2026+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206240" cy="1965960"/>
          </a:xfrm>
          <a:prstGeom prst="rect">
            <a:avLst>
              <a:gd name="adj" fmla="val 2791"/>
            </a:avLst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804672"/>
            <a:ext cx="4206240" cy="36576"/>
          </a:xfrm>
          <a:prstGeom prst="rect">
            <a:avLst>
              <a:gd name="adj" fmla="val 75000"/>
            </a:avLst>
          </a:prstGeom>
          <a:solidFill>
            <a:srgbClr val="3B82F6"/>
          </a:solidFill>
          <a:ln/>
        </p:spPr>
      </p:sp>
      <p:sp>
        <p:nvSpPr>
          <p:cNvPr id="10" name="Shape 8"/>
          <p:cNvSpPr/>
          <p:nvPr/>
        </p:nvSpPr>
        <p:spPr>
          <a:xfrm>
            <a:off x="429768" y="896112"/>
            <a:ext cx="1645920" cy="201168"/>
          </a:xfrm>
          <a:prstGeom prst="rect">
            <a:avLst>
              <a:gd name="adj" fmla="val 9091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" y="8961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LONG-HAUL INTERNATIONAL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57200" y="11521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Polaris Business Class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1499616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Lie-flat seats on all 777/787 widebody aircraft. Direct-aisle access on 787-9/-10. Meal service designed with Spiaggia chefs. Revenue +15% YoY. 89% load factor. TRASM 25¢+ on flagship routes.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441448"/>
            <a:ext cx="1261872" cy="237744"/>
          </a:xfrm>
          <a:prstGeom prst="rect">
            <a:avLst>
              <a:gd name="adj" fmla="val 11538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44144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LF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10512" y="2441448"/>
            <a:ext cx="1261872" cy="237744"/>
          </a:xfrm>
          <a:prstGeom prst="rect">
            <a:avLst>
              <a:gd name="adj" fmla="val 11538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810512" y="244144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YoY Rev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163824" y="2441448"/>
            <a:ext cx="1261872" cy="237744"/>
          </a:xfrm>
          <a:prstGeom prst="rect">
            <a:avLst>
              <a:gd name="adj" fmla="val 11538"/>
            </a:avLst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163824" y="244144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25¢+ TRASM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754880" y="804672"/>
            <a:ext cx="4206240" cy="1965960"/>
          </a:xfrm>
          <a:prstGeom prst="rect">
            <a:avLst>
              <a:gd name="adj" fmla="val 2791"/>
            </a:avLst>
          </a:prstGeom>
          <a:solidFill>
            <a:srgbClr val="162050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804672"/>
            <a:ext cx="4206240" cy="36576"/>
          </a:xfrm>
          <a:prstGeom prst="rect">
            <a:avLst>
              <a:gd name="adj" fmla="val 75000"/>
            </a:avLst>
          </a:prstGeom>
          <a:solidFill>
            <a:srgbClr val="10B981"/>
          </a:solidFill>
          <a:ln/>
        </p:spPr>
      </p:sp>
      <p:sp>
        <p:nvSpPr>
          <p:cNvPr id="22" name="Shape 20"/>
          <p:cNvSpPr/>
          <p:nvPr/>
        </p:nvSpPr>
        <p:spPr>
          <a:xfrm>
            <a:off x="4864608" y="896112"/>
            <a:ext cx="1645920" cy="201168"/>
          </a:xfrm>
          <a:prstGeom prst="rect">
            <a:avLst>
              <a:gd name="adj" fmla="val 9091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89611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PREMIUM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892040" y="11521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United Elevated (787 Transcon)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499616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787-9 deployed on JFK/EWR-LAX/SFO transcon routes. Polaris seats on domestic routes competing directly with Delta One. Premium demand captured from high-yield corporate NY/LA corridors.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92040" y="2441448"/>
            <a:ext cx="1261872" cy="237744"/>
          </a:xfrm>
          <a:prstGeom prst="rect">
            <a:avLst>
              <a:gd name="adj" fmla="val 11538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244144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JFK/EWR-LAX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45352" y="2441448"/>
            <a:ext cx="1261872" cy="237744"/>
          </a:xfrm>
          <a:prstGeom prst="rect">
            <a:avLst>
              <a:gd name="adj" fmla="val 11538"/>
            </a:avLst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6245352" y="244144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Polaris Domestic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598664" y="2441448"/>
            <a:ext cx="1261872" cy="237744"/>
          </a:xfrm>
          <a:prstGeom prst="rect">
            <a:avLst>
              <a:gd name="adj" fmla="val 11538"/>
            </a:avLst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7598664" y="244144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$1.2B TAM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20040" y="2907792"/>
            <a:ext cx="4206240" cy="1965960"/>
          </a:xfrm>
          <a:prstGeom prst="rect">
            <a:avLst>
              <a:gd name="adj" fmla="val 2791"/>
            </a:avLst>
          </a:prstGeom>
          <a:solidFill>
            <a:srgbClr val="1A2040"/>
          </a:solidFill>
          <a:ln/>
        </p:spPr>
      </p:sp>
      <p:sp>
        <p:nvSpPr>
          <p:cNvPr id="33" name="Shape 31"/>
          <p:cNvSpPr/>
          <p:nvPr/>
        </p:nvSpPr>
        <p:spPr>
          <a:xfrm>
            <a:off x="320040" y="2907792"/>
            <a:ext cx="4206240" cy="36576"/>
          </a:xfrm>
          <a:prstGeom prst="rect">
            <a:avLst>
              <a:gd name="adj" fmla="val 75000"/>
            </a:avLst>
          </a:prstGeom>
          <a:solidFill>
            <a:srgbClr val="8B5CF6"/>
          </a:solidFill>
          <a:ln/>
        </p:spPr>
      </p:sp>
      <p:sp>
        <p:nvSpPr>
          <p:cNvPr id="34" name="Shape 32"/>
          <p:cNvSpPr/>
          <p:nvPr/>
        </p:nvSpPr>
        <p:spPr>
          <a:xfrm>
            <a:off x="429768" y="2999232"/>
            <a:ext cx="1645920" cy="201168"/>
          </a:xfrm>
          <a:prstGeom prst="rect">
            <a:avLst>
              <a:gd name="adj" fmla="val 9091"/>
            </a:avLst>
          </a:pr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429768" y="29992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PREMIUM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57200" y="32552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Coastliner (Regional Elite)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7200" y="3602736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E175 regional jets with dedicated Polaris-style seats and enhanced amenities for connecting routes. Targets high-value business travelers on spoke markets. Planned 2026 launch across 20 routes.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544568"/>
            <a:ext cx="1261872" cy="237744"/>
          </a:xfrm>
          <a:prstGeom prst="rect">
            <a:avLst>
              <a:gd name="adj" fmla="val 11538"/>
            </a:avLst>
          </a:prstGeom>
          <a:solidFill>
            <a:srgbClr val="8B5CF6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5445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E175 Platform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1810512" y="4544568"/>
            <a:ext cx="1261872" cy="237744"/>
          </a:xfrm>
          <a:prstGeom prst="rect">
            <a:avLst>
              <a:gd name="adj" fmla="val 11538"/>
            </a:avLst>
          </a:prstGeom>
          <a:solidFill>
            <a:srgbClr val="8B5CF6"/>
          </a:solidFill>
          <a:ln/>
        </p:spPr>
      </p:sp>
      <p:sp>
        <p:nvSpPr>
          <p:cNvPr id="41" name="Text 39"/>
          <p:cNvSpPr/>
          <p:nvPr/>
        </p:nvSpPr>
        <p:spPr>
          <a:xfrm>
            <a:off x="1810512" y="45445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Routes 2026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163824" y="4544568"/>
            <a:ext cx="1261872" cy="237744"/>
          </a:xfrm>
          <a:prstGeom prst="rect">
            <a:avLst>
              <a:gd name="adj" fmla="val 11538"/>
            </a:avLst>
          </a:prstGeom>
          <a:solidFill>
            <a:srgbClr val="8B5CF6"/>
          </a:solidFill>
          <a:ln/>
        </p:spPr>
      </p:sp>
      <p:sp>
        <p:nvSpPr>
          <p:cNvPr id="43" name="Text 41"/>
          <p:cNvSpPr/>
          <p:nvPr/>
        </p:nvSpPr>
        <p:spPr>
          <a:xfrm>
            <a:off x="3163824" y="45445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 boarding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754880" y="2907792"/>
            <a:ext cx="4206240" cy="1965960"/>
          </a:xfrm>
          <a:prstGeom prst="rect">
            <a:avLst>
              <a:gd name="adj" fmla="val 2791"/>
            </a:avLst>
          </a:prstGeom>
          <a:solidFill>
            <a:srgbClr val="0F1535"/>
          </a:solidFill>
          <a:ln/>
        </p:spPr>
      </p:sp>
      <p:sp>
        <p:nvSpPr>
          <p:cNvPr id="45" name="Shape 43"/>
          <p:cNvSpPr/>
          <p:nvPr/>
        </p:nvSpPr>
        <p:spPr>
          <a:xfrm>
            <a:off x="4754880" y="2907792"/>
            <a:ext cx="4206240" cy="36576"/>
          </a:xfrm>
          <a:prstGeom prst="rect">
            <a:avLst>
              <a:gd name="adj" fmla="val 75000"/>
            </a:avLst>
          </a:prstGeom>
          <a:solidFill>
            <a:srgbClr val="F59E0B"/>
          </a:solidFill>
          <a:ln/>
        </p:spPr>
      </p:sp>
      <p:sp>
        <p:nvSpPr>
          <p:cNvPr id="46" name="Shape 44"/>
          <p:cNvSpPr/>
          <p:nvPr/>
        </p:nvSpPr>
        <p:spPr>
          <a:xfrm>
            <a:off x="4864608" y="2999232"/>
            <a:ext cx="1645920" cy="201168"/>
          </a:xfrm>
          <a:prstGeom prst="rect">
            <a:avLst>
              <a:gd name="adj" fmla="val 9091"/>
            </a:avLst>
          </a:pr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4864608" y="299923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DEMAND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892040" y="325526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Basic Economy Optimized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892040" y="3602736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Basic Economy to capture ULCC share without yield cannibalization. Dynamic pricing engine ensures BE fares yield 15% above ULCC competition. BE share ~14% of domestic bookings.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892040" y="4544568"/>
            <a:ext cx="1261872" cy="237744"/>
          </a:xfrm>
          <a:prstGeom prst="rect">
            <a:avLst>
              <a:gd name="adj" fmla="val 11538"/>
            </a:avLst>
          </a:prstGeom>
          <a:solidFill>
            <a:srgbClr val="F59E0B"/>
          </a:solidFill>
          <a:ln/>
        </p:spPr>
      </p:sp>
      <p:sp>
        <p:nvSpPr>
          <p:cNvPr id="51" name="Text 49"/>
          <p:cNvSpPr/>
          <p:nvPr/>
        </p:nvSpPr>
        <p:spPr>
          <a:xfrm>
            <a:off x="4892040" y="45445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Dom Mix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45352" y="4544568"/>
            <a:ext cx="1261872" cy="237744"/>
          </a:xfrm>
          <a:prstGeom prst="rect">
            <a:avLst>
              <a:gd name="adj" fmla="val 11538"/>
            </a:avLst>
          </a:prstGeom>
          <a:solidFill>
            <a:srgbClr val="F59E0B"/>
          </a:solidFill>
          <a:ln/>
        </p:spPr>
      </p:sp>
      <p:sp>
        <p:nvSpPr>
          <p:cNvPr id="53" name="Text 51"/>
          <p:cNvSpPr/>
          <p:nvPr/>
        </p:nvSpPr>
        <p:spPr>
          <a:xfrm>
            <a:off x="6245352" y="45445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 vs ULCC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7598664" y="4544568"/>
            <a:ext cx="1261872" cy="237744"/>
          </a:xfrm>
          <a:prstGeom prst="rect">
            <a:avLst>
              <a:gd name="adj" fmla="val 11538"/>
            </a:avLst>
          </a:prstGeom>
          <a:solidFill>
            <a:srgbClr val="F59E0B"/>
          </a:solidFill>
          <a:ln/>
        </p:spPr>
      </p:sp>
      <p:sp>
        <p:nvSpPr>
          <p:cNvPr id="55" name="Text 53"/>
          <p:cNvSpPr/>
          <p:nvPr/>
        </p:nvSpPr>
        <p:spPr>
          <a:xfrm>
            <a:off x="7598664" y="454456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upgrades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Starlink &amp; Kinective Media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5669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Connectivity + Personalized Media = New Revenue Stream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850392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92354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 ROLLOUT TIMELINE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1600200" cy="292608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033272" y="1463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188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6642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launch on 20 aircraft (757 fleet)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039112" y="1188720"/>
            <a:ext cx="1600200" cy="292608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2752344" y="1463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2039112" y="1188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Mid-2025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39112" y="16642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aircraft equipped — first carrier at scale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58184" y="1188720"/>
            <a:ext cx="1600200" cy="292608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4471416" y="1463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758184" y="1188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End-2025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58184" y="16642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domestic narrowbody fleet equipped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477256" y="1188720"/>
            <a:ext cx="1600200" cy="292608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190488" y="1463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5477256" y="1188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77256" y="16642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fleet (narrowbody + widebody) — 1,000+ aircraft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96328" y="1188720"/>
            <a:ext cx="1600200" cy="292608"/>
          </a:xfrm>
          <a:prstGeom prst="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7909560" y="1463040"/>
            <a:ext cx="182880" cy="1828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196328" y="1188720"/>
            <a:ext cx="1600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2026+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96328" y="166420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 ancillary revenue opportunity at full run-rate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" y="1536192"/>
            <a:ext cx="8503920" cy="3657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" y="2267712"/>
            <a:ext cx="850392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" y="2322576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KINECTIVE MEDIA NETWORK DETAILS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42032"/>
          <a:ext cx="8503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10312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Connectivity speed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Mbps per aircraft (Starlink)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Wi-Fi $28/flight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inventory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Personalized pre/post-flight ads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CPM-based, $15–25 CPM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launched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Shopping integration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Shop (SkyMall 2.0)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 15–20%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 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Hotel/car/tour booking in-flight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commissions 8–12%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Gaming / streaming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High-def seatback + device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$9.99/mo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roadmap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</a:tr>
            </a:tbl>
          </a:graphicData>
        </a:graphic>
      </p:graphicFrame>
      <p:sp>
        <p:nvSpPr>
          <p:cNvPr id="33" name="Shape 30"/>
          <p:cNvSpPr/>
          <p:nvPr/>
        </p:nvSpPr>
        <p:spPr>
          <a:xfrm>
            <a:off x="6720840" y="868680"/>
            <a:ext cx="2103120" cy="1097280"/>
          </a:xfrm>
          <a:prstGeom prst="rect">
            <a:avLst>
              <a:gd name="adj" fmla="val 4167"/>
            </a:avLst>
          </a:prstGeom>
          <a:solidFill>
            <a:srgbClr val="1A2D50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12280" y="94183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OPPORTUNITY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812280" y="116128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 ancillary by 2027 at full fleet deployment. Peers like Delta/American have not yet matched UAL's Starlink scale advantage.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Performance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OPS METRICS &amp; DEMAND SIGNALS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1965960" cy="822960"/>
          </a:xfrm>
          <a:prstGeom prst="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03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83.1%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232611"/>
            <a:ext cx="196596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Arrival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430122"/>
            <a:ext cx="196596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D:00 / A:14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68880" y="804672"/>
            <a:ext cx="1965960" cy="822960"/>
          </a:xfrm>
          <a:prstGeom prst="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8503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99.3%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1232611"/>
            <a:ext cx="196596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Factor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68880" y="1430122"/>
            <a:ext cx="196596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industry-best 2025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17720" y="804672"/>
            <a:ext cx="1965960" cy="822960"/>
          </a:xfrm>
          <a:prstGeom prst="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8503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87.4%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1232611"/>
            <a:ext cx="196596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Factor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17720" y="1430122"/>
            <a:ext cx="196596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average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804672"/>
            <a:ext cx="1965960" cy="822960"/>
          </a:xfrm>
          <a:prstGeom prst="rect">
            <a:avLst>
              <a:gd name="adj" fmla="val 5556"/>
            </a:avLst>
          </a:prstGeom>
          <a:solidFill>
            <a:srgbClr val="EEF2FF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85039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66560" y="1232611"/>
            <a:ext cx="1965960" cy="213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Complaints / 100K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66560" y="1430122"/>
            <a:ext cx="1965960" cy="1810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from 5.8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1764792"/>
            <a:ext cx="59436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181965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DEMAND INDICATORS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039112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097280"/>
                <a:gridCol w="109728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2026E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 travel bookings YoY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Leisure advance bookings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Atlantic booking pace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MileagePlus redemptions (demand)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/ charter demand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Cargo yield forward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6446520" y="804672"/>
            <a:ext cx="2377440" cy="1234440"/>
          </a:xfrm>
          <a:prstGeom prst="rect">
            <a:avLst>
              <a:gd name="adj" fmla="val 3704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8778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IMPROVEMENT DRIVERS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37960" y="1097280"/>
            <a:ext cx="21945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cancellations via improved crew scheduling (FLICA system). Maintenance reliability up with 787/MAX new-gen fleet. Hub operations score highest in UAL history.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46520" y="2167128"/>
            <a:ext cx="2377440" cy="1234440"/>
          </a:xfrm>
          <a:prstGeom prst="rect">
            <a:avLst>
              <a:gd name="adj" fmla="val 3704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22402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FACTOR 99.3%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37960" y="2459736"/>
            <a:ext cx="21945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Industry-leading completion rate driven by proactive MX, tech ops crew pre-positioning, and reduced weather-related cancellations via improved hub routing.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446520" y="3529584"/>
            <a:ext cx="2377440" cy="777240"/>
          </a:xfrm>
          <a:prstGeom prst="rect">
            <a:avLst>
              <a:gd name="adj" fmla="val 5882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3602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ATLANTIC DEMAND: HOT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537960" y="3822192"/>
            <a:ext cx="21945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+10–14% forward pace into Q1/Q2 2026 driven by European leisure + India business class demand.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Balance Sheet &amp; Deleveraging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REDUCTION &amp; CREDIT IMPROVEMENT — 2023–2025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5943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60120"/>
                <a:gridCol w="960120"/>
                <a:gridCol w="960120"/>
                <a:gridCol w="16002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2026E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Debt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~$27.0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&amp; Equivalents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Debt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~$24.0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($B)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~$9.5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Leverage (x)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Adj. Net Leverage (ex-MP)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~1.8x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Rating (S&amp;P)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BBB-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364992"/>
            <a:ext cx="59436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341985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LEVERAGE TRAJECTORY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3728720"/>
            <a:ext cx="1280160" cy="568960"/>
          </a:xfrm>
          <a:prstGeom prst="rect">
            <a:avLst>
              <a:gd name="adj" fmla="val 4821"/>
            </a:avLst>
          </a:prstGeom>
          <a:solidFill>
            <a:srgbClr val="EF4444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4315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FY2023: 4.0x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828800" y="3785616"/>
            <a:ext cx="1280160" cy="512064"/>
          </a:xfrm>
          <a:prstGeom prst="rect">
            <a:avLst>
              <a:gd name="adj" fmla="val 5357"/>
            </a:avLst>
          </a:prstGeom>
          <a:solidFill>
            <a:srgbClr val="EF4444"/>
          </a:solidFill>
          <a:ln/>
        </p:spPr>
      </p:sp>
      <p:sp>
        <p:nvSpPr>
          <p:cNvPr id="14" name="Text 11"/>
          <p:cNvSpPr/>
          <p:nvPr/>
        </p:nvSpPr>
        <p:spPr>
          <a:xfrm>
            <a:off x="1828800" y="4315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FY2024: 3.6x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37560" y="3842512"/>
            <a:ext cx="1280160" cy="455168"/>
          </a:xfrm>
          <a:prstGeom prst="rect">
            <a:avLst>
              <a:gd name="adj" fmla="val 6027"/>
            </a:avLst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4315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FY2025: 3.2x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846320" y="3942080"/>
            <a:ext cx="1280160" cy="355600"/>
          </a:xfrm>
          <a:prstGeom prst="rect">
            <a:avLst>
              <a:gd name="adj" fmla="val 7714"/>
            </a:avLst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4846320" y="431596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2026E: ~2.5x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446520" y="804672"/>
            <a:ext cx="2377440" cy="1143000"/>
          </a:xfrm>
          <a:prstGeom prst="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37960" y="8778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ASSET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537960" y="1097280"/>
            <a:ext cx="219456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MileagePlus securitized as collateral for $6.8B facility. Market value of MP estimated at $22B+ (JPMorgan analysis 2024). Adj. leverage ex-MP = 2.3x — investment grade equivalent.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6446520" y="2066544"/>
            <a:ext cx="2377440" cy="1143000"/>
          </a:xfrm>
          <a:prstGeom prst="rect">
            <a:avLst>
              <a:gd name="adj" fmla="val 4000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21396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CREDIT TARGET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537960" y="2359152"/>
            <a:ext cx="2194560" cy="7589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BB+ with positive outlook. Moody's Ba1. First IG upgrade expected late 2026/early 2027 at current deleveraging pace. IG would reduce interest expense ~$150M/yr.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46520" y="3328416"/>
            <a:ext cx="2377440" cy="978408"/>
          </a:xfrm>
          <a:prstGeom prst="rect">
            <a:avLst>
              <a:gd name="adj" fmla="val 4673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537960" y="34015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MATURITY PROFILE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537960" y="3621024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major debt wall until 2028. 2026 maturities ~$1.2B, comfortably covered by FCF. Weighted avg cost of debt 4.8%.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&amp; Capital Allocation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ACTUALS &amp; 2026 PRIORITIES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5943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60120"/>
                <a:gridCol w="960120"/>
                <a:gridCol w="960120"/>
                <a:gridCol w="1691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Item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FY2026E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~$6.5B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Expenditures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($4.0B)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($3.9B)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($3.7B)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~($4.5B)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Cash Flow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$1.2B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Repayment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($1.1B)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($2.0B)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($2.5B)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~($1.5B)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Repurchases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~$1.5B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 Cash Balance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$3.8B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$3.1B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$2.9B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~$3.0B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18688"/>
            <a:ext cx="384048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32735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ALLOCATION PRIORITY STACK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" y="3493008"/>
            <a:ext cx="256032" cy="256032"/>
          </a:xfrm>
          <a:prstGeom prst="rect">
            <a:avLst>
              <a:gd name="adj" fmla="val 10714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320040" y="34930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21792" y="3502152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Capex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847088" y="35021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~$4.5B/yr — ordered aircraft deliveries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3840480"/>
            <a:ext cx="256032" cy="256032"/>
          </a:xfrm>
          <a:prstGeom prst="rect">
            <a:avLst>
              <a:gd name="adj" fmla="val 10714"/>
            </a:avLst>
          </a:prstGeom>
          <a:solidFill>
            <a:srgbClr val="2563EB"/>
          </a:solidFill>
          <a:ln/>
        </p:spPr>
      </p:sp>
      <p:sp>
        <p:nvSpPr>
          <p:cNvPr id="16" name="Text 13"/>
          <p:cNvSpPr/>
          <p:nvPr/>
        </p:nvSpPr>
        <p:spPr>
          <a:xfrm>
            <a:off x="320040" y="3840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21792" y="384962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Reduction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847088" y="38496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~$1.5B/yr — targeting IG by 2027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20040" y="4187952"/>
            <a:ext cx="256032" cy="256032"/>
          </a:xfrm>
          <a:prstGeom prst="rect">
            <a:avLst>
              <a:gd name="adj" fmla="val 10714"/>
            </a:avLst>
          </a:prstGeom>
          <a:solidFill>
            <a:srgbClr val="3B82F6"/>
          </a:solidFill>
          <a:ln/>
        </p:spPr>
      </p:sp>
      <p:sp>
        <p:nvSpPr>
          <p:cNvPr id="20" name="Text 17"/>
          <p:cNvSpPr/>
          <p:nvPr/>
        </p:nvSpPr>
        <p:spPr>
          <a:xfrm>
            <a:off x="320040" y="4187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21792" y="419709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Buybacks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847088" y="41970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 authorized — ~4% float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320040" y="4535424"/>
            <a:ext cx="256032" cy="256032"/>
          </a:xfrm>
          <a:prstGeom prst="rect">
            <a:avLst>
              <a:gd name="adj" fmla="val 10714"/>
            </a:avLst>
          </a:prstGeom>
          <a:solidFill>
            <a:srgbClr val="60A8D0"/>
          </a:solidFill>
          <a:ln/>
        </p:spPr>
      </p:sp>
      <p:sp>
        <p:nvSpPr>
          <p:cNvPr id="24" name="Text 21"/>
          <p:cNvSpPr/>
          <p:nvPr/>
        </p:nvSpPr>
        <p:spPr>
          <a:xfrm>
            <a:off x="320040" y="45354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1792" y="454456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Growth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847088" y="454456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Starlink, Kinective, digital infra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446520" y="804672"/>
            <a:ext cx="2377440" cy="1188720"/>
          </a:xfrm>
          <a:prstGeom prst="rect">
            <a:avLst>
              <a:gd name="adj" fmla="val 3846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7960" y="8778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 THESIS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537960" y="1097280"/>
            <a:ext cx="21945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FCF of $2.1B = first major positive FCF year since pre-COVID. 2026E ~$2.0B despite higher capex ($4.5B fleet). FCF yield ~5% on current market cap — compelling for a growing carrier.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446520" y="2121408"/>
            <a:ext cx="2377440" cy="1097280"/>
          </a:xfrm>
          <a:prstGeom prst="rect">
            <a:avLst>
              <a:gd name="adj" fmla="val 4167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37960" y="2194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$1.5B BUYBACK PROGRAM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537960" y="2414016"/>
            <a:ext cx="21945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authorized $1.5B repurchase program in Q2 2025. ~4% of shares outstanding. Demonstrates management confidence in FCF durability. No dividend — all return via buyback.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446520" y="3346704"/>
            <a:ext cx="2377440" cy="960120"/>
          </a:xfrm>
          <a:prstGeom prst="rect">
            <a:avLst>
              <a:gd name="adj" fmla="val 4762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537960" y="34198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$4.5B (2026E)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537960" y="3639312"/>
            <a:ext cx="21945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pre-deliveries + PDPs + maintenance capex. 787 deposits accelerated as Boeing works through backlog. Partially offset by sale-leaseback transactions.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972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ESG &amp; Sustainability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530352"/>
            <a:ext cx="6400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5852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EMISSIONS, SAF &amp; COMMITMENTS — HONEST FRAMEWORK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4114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5953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EMISSIONS TREND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97280"/>
                <a:gridCol w="1097280"/>
                <a:gridCol w="914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 (MT)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CO₂/RTM (g)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% of Fuel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Avg 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1,060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41.8M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Target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~38.0M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~11.0 yrs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663440" y="804672"/>
            <a:ext cx="416052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4663440" y="859536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 SUPPLY &amp; PARTNERSHIPS</a:t>
            </a:r>
            <a:endParaRPr lang="en-US" sz="9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078992"/>
          <a:ext cx="4160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97280"/>
                <a:gridCol w="1280160"/>
                <a:gridCol w="11430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 Volume (2025)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 Commitment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Feedstock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Energy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10M 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50M gal/yr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Agricultural waste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 / Air bp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8M 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40M gal/yr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HEFA process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Neste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6M 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30M gal/yr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Waste fats/oils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Tallgrass / Blackrock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3M 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25M gal/yr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Ethanol pathway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27M gal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145M gal/yr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62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~10% of fuel need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320040" y="3273552"/>
            <a:ext cx="4114800" cy="1024128"/>
          </a:xfrm>
          <a:prstGeom prst="rect">
            <a:avLst>
              <a:gd name="adj" fmla="val 4464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11480" y="33467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COMMITMENTS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11480" y="3566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zero by 2050 (SBTi-aligned). 50% emissions reduction per RTM by 2035 vs 2019. 100% SAF-capable by 2030. $200M+ invested in SAF offtake agreements. Board ESG committee oversight.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4663440" y="3273552"/>
            <a:ext cx="4160520" cy="1024128"/>
          </a:xfrm>
          <a:prstGeom prst="rect">
            <a:avLst>
              <a:gd name="adj" fmla="val 4464"/>
            </a:avLst>
          </a:prstGeom>
          <a:solidFill>
            <a:srgbClr val="EEF2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334670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754880" y="356616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emissions grew in 2024–2025 as capacity recovered to/beyond 2019 levels. Intensity (per RTM) improvements are real but do not offset volume growth yet. SAF at 0.8% of fuel in 2025 — 10% by 2030 requires ~12x scaling. Structural decarbonization remains a 2035–2050 story.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162050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3716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 Guidance &amp; Risk Matrix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585216"/>
            <a:ext cx="82296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640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GUIDANCE &amp; KEY RISK SCENARIOS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841248"/>
            <a:ext cx="26060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886968"/>
            <a:ext cx="26060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$12–14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292962"/>
            <a:ext cx="26060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FY2026E Adj EPS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501445"/>
            <a:ext cx="26060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$10.62 in 2025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08960" y="841248"/>
            <a:ext cx="26060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886968"/>
            <a:ext cx="26060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~5.5%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08960" y="1292962"/>
            <a:ext cx="26060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108960" y="1501445"/>
            <a:ext cx="26060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ASM year-over-year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97880" y="841248"/>
            <a:ext cx="26060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17" name="Text 15"/>
          <p:cNvSpPr/>
          <p:nvPr/>
        </p:nvSpPr>
        <p:spPr>
          <a:xfrm>
            <a:off x="5897880" y="886968"/>
            <a:ext cx="26060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+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97880" y="1292962"/>
            <a:ext cx="26060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CASM ex-Fuel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97880" y="1501445"/>
            <a:ext cx="26060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mid-single-digit pressure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1847088"/>
            <a:ext cx="26060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1892808"/>
            <a:ext cx="26060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+5–6%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20040" y="2298802"/>
            <a:ext cx="26060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507285"/>
            <a:ext cx="26060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FY2025 $59.1B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108960" y="1847088"/>
            <a:ext cx="26060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25" name="Text 23"/>
          <p:cNvSpPr/>
          <p:nvPr/>
        </p:nvSpPr>
        <p:spPr>
          <a:xfrm>
            <a:off x="3108960" y="1892808"/>
            <a:ext cx="26060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15%+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108960" y="2298802"/>
            <a:ext cx="26060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0" y="2507285"/>
            <a:ext cx="26060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~14% in FY2025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97880" y="1847088"/>
            <a:ext cx="2606040" cy="868680"/>
          </a:xfrm>
          <a:prstGeom prst="rect">
            <a:avLst>
              <a:gd name="adj" fmla="val 5263"/>
            </a:avLst>
          </a:prstGeom>
          <a:solidFill>
            <a:srgbClr val="152040"/>
          </a:solidFill>
          <a:ln/>
        </p:spPr>
      </p:sp>
      <p:sp>
        <p:nvSpPr>
          <p:cNvPr id="29" name="Text 27"/>
          <p:cNvSpPr/>
          <p:nvPr/>
        </p:nvSpPr>
        <p:spPr>
          <a:xfrm>
            <a:off x="5897880" y="1892808"/>
            <a:ext cx="26060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~$4.5B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897880" y="2298802"/>
            <a:ext cx="2606040" cy="22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Guidance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97880" y="2507285"/>
            <a:ext cx="2606040" cy="1911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deliveries + MX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0040" y="2834640"/>
            <a:ext cx="850392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2889504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MATRIX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90672"/>
          <a:ext cx="8503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920240"/>
                <a:gridCol w="3566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Factor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 Strategy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Price Spike (+$0.50/gal)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$200M P&amp;L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forward hedged; new-gen fleet efficiency buffer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Boeing Delivery Delays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lost capacity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extensions + A321XLR optionality; demand &gt; supply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Recession / GDP –1%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revenue –8–12%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Premium + loyalty mix provides floor; variable cost flexibility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0D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Price War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yield –3–5%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D0D8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depth + MileagePlus loyalty moat; hub slot control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30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320040" y="4956048"/>
            <a:ext cx="850392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6" name="Text 33"/>
          <p:cNvSpPr/>
          <p:nvPr/>
        </p:nvSpPr>
        <p:spPr>
          <a:xfrm>
            <a:off x="320040" y="483717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8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UAL Management confident in FY2026E guidance range. Assumes no recession, $2.55–$2.75/gal jet fuel, and continued robust Atlantic demand.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UAL FY2025 Results &amp; 2026 Outlook</dc:title>
  <dc:subject>PptxGenJS Presentation</dc:subject>
  <dc:creator>United Airlines Holdings, Inc.</dc:creator>
  <cp:lastModifiedBy>United Airlines Holdings, Inc.</cp:lastModifiedBy>
  <cp:revision>1</cp:revision>
  <dcterms:created xsi:type="dcterms:W3CDTF">2026-03-30T21:37:39Z</dcterms:created>
  <dcterms:modified xsi:type="dcterms:W3CDTF">2026-03-30T21:37:39Z</dcterms:modified>
</cp:coreProperties>
</file>