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ARM">
    <p:bg>
      <p:bgPr>
        <a:solidFill>
          <a:srgbClr val="FD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NEN">
    <p:bg>
      <p:bgPr>
        <a:solidFill>
          <a:srgbClr val="FAF3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B31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9B3F1E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2552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2651760"/>
            <a:ext cx="2286000" cy="0"/>
          </a:xfrm>
          <a:prstGeom prst="line">
            <a:avLst/>
          </a:prstGeom>
          <a:noFill/>
          <a:ln w="19050">
            <a:solidFill>
              <a:srgbClr val="D4A84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0972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500" kern="0" dirty="0">
                <a:solidFill>
                  <a:srgbClr val="D4A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COOKING NIGHT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150876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DF6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Art of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DF6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Homemade Pasta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731520" y="283464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5E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flour to fork: master the craft that turns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5E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ingredients into extraordinary meals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17920" y="3291840"/>
            <a:ext cx="2468880" cy="1371600"/>
          </a:xfrm>
          <a:prstGeom prst="roundRect">
            <a:avLst>
              <a:gd name="adj" fmla="val 6667"/>
            </a:avLst>
          </a:prstGeom>
          <a:solidFill>
            <a:srgbClr val="C2552B">
              <a:alpha val="3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6217920" y="3291840"/>
            <a:ext cx="2468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FDF6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 slides</a:t>
            </a:r>
            <a:endParaRPr lang="en-US" sz="16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FDF6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shapes</a:t>
            </a:r>
            <a:endParaRPr lang="en-US" sz="16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FDF6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passion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C2552B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3B31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Fresh Pasta Beats Dried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1097280" cy="0"/>
          </a:xfrm>
          <a:prstGeom prst="line">
            <a:avLst/>
          </a:prstGeom>
          <a:noFill/>
          <a:ln w="31750">
            <a:solidFill>
              <a:srgbClr val="C2552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4892040"/>
            <a:ext cx="8229600" cy="0"/>
          </a:xfrm>
          <a:prstGeom prst="line">
            <a:avLst/>
          </a:prstGeom>
          <a:noFill/>
          <a:ln w="6350">
            <a:solidFill>
              <a:srgbClr val="F5E6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0" y="491032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7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491032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C7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Art of Homemade Pasta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39547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7A8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 PASTA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216152"/>
            <a:ext cx="3954780" cy="2560320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000" dirty="0">
                <a:solidFill>
                  <a:srgbClr val="3B31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Silky, tender texture that melts on the tongue</a:t>
            </a:r>
            <a:endParaRPr lang="en-US" sz="10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000" dirty="0">
                <a:solidFill>
                  <a:srgbClr val="3B31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Cooks in 2-3 minutes vs. 10-12 for dried</a:t>
            </a:r>
            <a:endParaRPr lang="en-US" sz="10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000" dirty="0">
                <a:solidFill>
                  <a:srgbClr val="3B31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Absorbs sauces better with its porous surface</a:t>
            </a:r>
            <a:endParaRPr lang="en-US" sz="10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000" dirty="0">
                <a:solidFill>
                  <a:srgbClr val="3B31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Richer flavor from fresh eggs and quality flour</a:t>
            </a:r>
            <a:endParaRPr lang="en-US" sz="10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000" dirty="0">
                <a:solidFill>
                  <a:srgbClr val="3B31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Impressive wow factor for guests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732020" y="960120"/>
            <a:ext cx="39547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8C7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DRIED PASTA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732020" y="1216152"/>
            <a:ext cx="3954780" cy="2560320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000" dirty="0">
                <a:solidFill>
                  <a:srgbClr val="3B31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Firmer bite, holds up in baked dishes</a:t>
            </a:r>
            <a:endParaRPr lang="en-US" sz="10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000" dirty="0">
                <a:solidFill>
                  <a:srgbClr val="3B31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of shelf life, always available</a:t>
            </a:r>
            <a:endParaRPr lang="en-US" sz="10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000" dirty="0">
                <a:solidFill>
                  <a:srgbClr val="3B31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results every time</a:t>
            </a:r>
            <a:endParaRPr lang="en-US" sz="10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000" dirty="0">
                <a:solidFill>
                  <a:srgbClr val="3B31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for chunky, oil-based sauces</a:t>
            </a:r>
            <a:endParaRPr lang="en-US" sz="10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000" dirty="0">
                <a:solidFill>
                  <a:srgbClr val="3B31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pantry staple, not a competitor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384048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D4DEC8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384048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6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takeaway: fresh pasta isn't better than dried, it's different. Tonight, you'll learn when each one shines.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3B31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Equipment You'll Need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1097280" cy="0"/>
          </a:xfrm>
          <a:prstGeom prst="line">
            <a:avLst/>
          </a:prstGeom>
          <a:noFill/>
          <a:ln w="31750">
            <a:solidFill>
              <a:srgbClr val="C2552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4892040"/>
            <a:ext cx="8229600" cy="0"/>
          </a:xfrm>
          <a:prstGeom prst="line">
            <a:avLst/>
          </a:prstGeom>
          <a:noFill/>
          <a:ln w="6350">
            <a:solidFill>
              <a:srgbClr val="F5E6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0" y="491032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7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491032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C7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Art of Homemade Pasta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3954780" cy="347472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66344" y="960120"/>
            <a:ext cx="3936492" cy="54864"/>
          </a:xfrm>
          <a:prstGeom prst="rect">
            <a:avLst/>
          </a:prstGeom>
          <a:solidFill>
            <a:srgbClr val="C2552B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1143000"/>
            <a:ext cx="1019556" cy="237744"/>
          </a:xfrm>
          <a:prstGeom prst="roundRect">
            <a:avLst>
              <a:gd name="adj" fmla="val 50000"/>
            </a:avLst>
          </a:prstGeom>
          <a:solidFill>
            <a:srgbClr val="C2552B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1143000"/>
            <a:ext cx="10195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ESSENTIAL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85800" y="1554480"/>
            <a:ext cx="3497580" cy="2651760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000" dirty="0">
                <a:solidFill>
                  <a:srgbClr val="3B31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wooden cutting board or clean countertop</a:t>
            </a:r>
            <a:endParaRPr lang="en-US" sz="10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000" dirty="0">
                <a:solidFill>
                  <a:srgbClr val="3B31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pin (longer is better, 18"+ ideal)</a:t>
            </a:r>
            <a:endParaRPr lang="en-US" sz="10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000" dirty="0">
                <a:solidFill>
                  <a:srgbClr val="3B31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 knife or bench scraper</a:t>
            </a:r>
            <a:endParaRPr lang="en-US" sz="10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000" dirty="0">
                <a:solidFill>
                  <a:srgbClr val="3B31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Fork for mixing dough in the well</a:t>
            </a:r>
            <a:endParaRPr lang="en-US" sz="10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000" dirty="0">
                <a:solidFill>
                  <a:srgbClr val="3B31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pot with plenty of salted water</a:t>
            </a:r>
            <a:endParaRPr lang="en-US" sz="10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000" dirty="0">
                <a:solidFill>
                  <a:srgbClr val="3B31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kitchen scale for precise ratios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32020" y="960120"/>
            <a:ext cx="3954780" cy="347472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41164" y="960120"/>
            <a:ext cx="3936492" cy="54864"/>
          </a:xfrm>
          <a:prstGeom prst="rect">
            <a:avLst/>
          </a:prstGeom>
          <a:solidFill>
            <a:srgbClr val="7A8B6F"/>
          </a:solidFill>
          <a:ln/>
        </p:spPr>
      </p:sp>
      <p:sp>
        <p:nvSpPr>
          <p:cNvPr id="14" name="Shape 12"/>
          <p:cNvSpPr/>
          <p:nvPr/>
        </p:nvSpPr>
        <p:spPr>
          <a:xfrm>
            <a:off x="5006340" y="1143000"/>
            <a:ext cx="1252728" cy="237744"/>
          </a:xfrm>
          <a:prstGeom prst="roundRect">
            <a:avLst>
              <a:gd name="adj" fmla="val 50000"/>
            </a:avLst>
          </a:prstGeom>
          <a:solidFill>
            <a:srgbClr val="7A8B6F"/>
          </a:solidFill>
          <a:ln/>
        </p:spPr>
      </p:sp>
      <p:sp>
        <p:nvSpPr>
          <p:cNvPr id="15" name="Text 13"/>
          <p:cNvSpPr/>
          <p:nvPr/>
        </p:nvSpPr>
        <p:spPr>
          <a:xfrm>
            <a:off x="5006340" y="1143000"/>
            <a:ext cx="1252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NICE TO HAVE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960620" y="1554480"/>
            <a:ext cx="3497580" cy="2651760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000" dirty="0">
                <a:solidFill>
                  <a:srgbClr val="3B31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Pasta machine (hand-crank or KitchenAid attachment)</a:t>
            </a:r>
            <a:endParaRPr lang="en-US" sz="10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000" dirty="0">
                <a:solidFill>
                  <a:srgbClr val="3B31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Drying rack or wooden dowel for hanging</a:t>
            </a:r>
            <a:endParaRPr lang="en-US" sz="10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000" dirty="0">
                <a:solidFill>
                  <a:srgbClr val="3B31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Semolina flour for dusting (prevents sticking)</a:t>
            </a:r>
            <a:endParaRPr lang="en-US" sz="10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000" dirty="0">
                <a:solidFill>
                  <a:srgbClr val="3B31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Ravioli stamp or mold for uniform shapes</a:t>
            </a:r>
            <a:endParaRPr lang="en-US" sz="10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000" dirty="0">
                <a:solidFill>
                  <a:srgbClr val="3B31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Spray bottle for keeping dough moist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3B31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Shape 1: Tagliatelle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1097280" cy="0"/>
          </a:xfrm>
          <a:prstGeom prst="line">
            <a:avLst/>
          </a:prstGeom>
          <a:noFill/>
          <a:ln w="31750">
            <a:solidFill>
              <a:srgbClr val="C2552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4892040"/>
            <a:ext cx="8229600" cy="0"/>
          </a:xfrm>
          <a:prstGeom prst="line">
            <a:avLst/>
          </a:prstGeom>
          <a:noFill/>
          <a:ln w="6350">
            <a:solidFill>
              <a:srgbClr val="F5E6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0" y="491032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7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491032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C7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Art of Homemade Pasta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3977640" cy="1097280"/>
          </a:xfrm>
          <a:prstGeom prst="roundRect">
            <a:avLst>
              <a:gd name="adj" fmla="val 6667"/>
            </a:avLst>
          </a:prstGeom>
          <a:solidFill>
            <a:srgbClr val="F2E5C0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960120"/>
            <a:ext cx="3611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B4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classic flat ribbon pasta. Wide enough to carry rich ragu, elegant enough for a dinner party. This is the shape that teaches you to roll evenly.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57200" y="2194560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25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 TIPS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2450592"/>
            <a:ext cx="3977640" cy="2011680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000" dirty="0">
                <a:solidFill>
                  <a:srgbClr val="3B31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dough to 1mm thickness, translucent when held up to light</a:t>
            </a:r>
            <a:endParaRPr lang="en-US" sz="10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000" dirty="0">
                <a:solidFill>
                  <a:srgbClr val="3B31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Flour generously, then roll into a loose log before cutting</a:t>
            </a:r>
            <a:endParaRPr lang="en-US" sz="10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000" dirty="0">
                <a:solidFill>
                  <a:srgbClr val="3B31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 ribbons 8-10mm wide with a sharp, decisive stroke</a:t>
            </a:r>
            <a:endParaRPr lang="en-US" sz="10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000" dirty="0">
                <a:solidFill>
                  <a:srgbClr val="3B31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Shake out nests immediately to prevent sticking</a:t>
            </a:r>
            <a:endParaRPr lang="en-US" sz="10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000" dirty="0">
                <a:solidFill>
                  <a:srgbClr val="3B31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 for just 90 seconds in rapidly boiling water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09160" y="960120"/>
            <a:ext cx="39776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18304" y="960120"/>
            <a:ext cx="3959352" cy="54864"/>
          </a:xfrm>
          <a:prstGeom prst="rect">
            <a:avLst/>
          </a:prstGeom>
          <a:solidFill>
            <a:srgbClr val="7A8B6F"/>
          </a:solidFill>
          <a:ln/>
        </p:spPr>
      </p:sp>
      <p:sp>
        <p:nvSpPr>
          <p:cNvPr id="13" name="Text 11"/>
          <p:cNvSpPr/>
          <p:nvPr/>
        </p:nvSpPr>
        <p:spPr>
          <a:xfrm>
            <a:off x="4901184" y="1069848"/>
            <a:ext cx="3593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B31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Difficulty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901184" y="1344168"/>
            <a:ext cx="35935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4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Beginner-friendly. If you can roll and cut, you can make tagliatelle.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09160" y="2103120"/>
            <a:ext cx="39776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18304" y="2103120"/>
            <a:ext cx="3959352" cy="54864"/>
          </a:xfrm>
          <a:prstGeom prst="rect">
            <a:avLst/>
          </a:prstGeom>
          <a:solidFill>
            <a:srgbClr val="D4A847"/>
          </a:solidFill>
          <a:ln/>
        </p:spPr>
      </p:sp>
      <p:sp>
        <p:nvSpPr>
          <p:cNvPr id="17" name="Text 15"/>
          <p:cNvSpPr/>
          <p:nvPr/>
        </p:nvSpPr>
        <p:spPr>
          <a:xfrm>
            <a:off x="4901184" y="2212848"/>
            <a:ext cx="3593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B31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Best Paired With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901184" y="2487168"/>
            <a:ext cx="35935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4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Bolognese ragu, butter &amp; sage, mushroom cream sauce, truffle oil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09160" y="3154680"/>
            <a:ext cx="39776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18304" y="3154680"/>
            <a:ext cx="3959352" cy="54864"/>
          </a:xfrm>
          <a:prstGeom prst="rect">
            <a:avLst/>
          </a:prstGeom>
          <a:solidFill>
            <a:srgbClr val="C2552B"/>
          </a:solidFill>
          <a:ln/>
        </p:spPr>
      </p:sp>
      <p:sp>
        <p:nvSpPr>
          <p:cNvPr id="21" name="Text 19"/>
          <p:cNvSpPr/>
          <p:nvPr/>
        </p:nvSpPr>
        <p:spPr>
          <a:xfrm>
            <a:off x="4901184" y="3264408"/>
            <a:ext cx="3593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B31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Common Pitfall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901184" y="3538728"/>
            <a:ext cx="35935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4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too thick. If you can't almost see your hand through it, keep rolling.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3B31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Shape 2: Ravioli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1097280" cy="0"/>
          </a:xfrm>
          <a:prstGeom prst="line">
            <a:avLst/>
          </a:prstGeom>
          <a:noFill/>
          <a:ln w="31750">
            <a:solidFill>
              <a:srgbClr val="C2552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4892040"/>
            <a:ext cx="8229600" cy="0"/>
          </a:xfrm>
          <a:prstGeom prst="line">
            <a:avLst/>
          </a:prstGeom>
          <a:noFill/>
          <a:ln w="6350">
            <a:solidFill>
              <a:srgbClr val="F5E6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0" y="491032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7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491032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C7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Art of Homemade Pasta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3977640" cy="1097280"/>
          </a:xfrm>
          <a:prstGeom prst="roundRect">
            <a:avLst>
              <a:gd name="adj" fmla="val 6667"/>
            </a:avLst>
          </a:prstGeom>
          <a:solidFill>
            <a:srgbClr val="D4DEC8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960120"/>
            <a:ext cx="3611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B4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filled pasta that impresses everyone. A little packet of flavor that turns simple ricotta and spinach into something restaurant-worthy.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57200" y="2194560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25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 TIPS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2450592"/>
            <a:ext cx="3977640" cy="2011680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000" dirty="0">
                <a:solidFill>
                  <a:srgbClr val="3B31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dough thin: thick edges ruin the bite</a:t>
            </a:r>
            <a:endParaRPr lang="en-US" sz="10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000" dirty="0">
                <a:solidFill>
                  <a:srgbClr val="3B31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Chill filling for 30 min so it holds its shape</a:t>
            </a:r>
            <a:endParaRPr lang="en-US" sz="10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000" dirty="0">
                <a:solidFill>
                  <a:srgbClr val="3B31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Brush water around each mound for a tight seal</a:t>
            </a:r>
            <a:endParaRPr lang="en-US" sz="10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000" dirty="0">
                <a:solidFill>
                  <a:srgbClr val="3B31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 out ALL air pockets before crimping edges</a:t>
            </a:r>
            <a:endParaRPr lang="en-US" sz="10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000" dirty="0">
                <a:solidFill>
                  <a:srgbClr val="3B31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fork to crimp, not just pinch with fingers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09160" y="960120"/>
            <a:ext cx="39776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18304" y="960120"/>
            <a:ext cx="3959352" cy="54864"/>
          </a:xfrm>
          <a:prstGeom prst="rect">
            <a:avLst/>
          </a:prstGeom>
          <a:solidFill>
            <a:srgbClr val="C2552B"/>
          </a:solidFill>
          <a:ln/>
        </p:spPr>
      </p:sp>
      <p:sp>
        <p:nvSpPr>
          <p:cNvPr id="13" name="Text 11"/>
          <p:cNvSpPr/>
          <p:nvPr/>
        </p:nvSpPr>
        <p:spPr>
          <a:xfrm>
            <a:off x="4901184" y="1069848"/>
            <a:ext cx="3593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B31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Difficulty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901184" y="1344168"/>
            <a:ext cx="35935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4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Intermediate. The folding and sealing take practice, but mistakes taste great anyway.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09160" y="2103120"/>
            <a:ext cx="39776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18304" y="2103120"/>
            <a:ext cx="3959352" cy="54864"/>
          </a:xfrm>
          <a:prstGeom prst="rect">
            <a:avLst/>
          </a:prstGeom>
          <a:solidFill>
            <a:srgbClr val="D4A847"/>
          </a:solidFill>
          <a:ln/>
        </p:spPr>
      </p:sp>
      <p:sp>
        <p:nvSpPr>
          <p:cNvPr id="17" name="Text 15"/>
          <p:cNvSpPr/>
          <p:nvPr/>
        </p:nvSpPr>
        <p:spPr>
          <a:xfrm>
            <a:off x="4901184" y="2212848"/>
            <a:ext cx="3593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B31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Classic Fillings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901184" y="2487168"/>
            <a:ext cx="35935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4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Ricotta &amp; spinach, butternut squash &amp; sage, mushroom &amp; thyme, lobster &amp; mascarpone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09160" y="3154680"/>
            <a:ext cx="39776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18304" y="3154680"/>
            <a:ext cx="3959352" cy="54864"/>
          </a:xfrm>
          <a:prstGeom prst="rect">
            <a:avLst/>
          </a:prstGeom>
          <a:solidFill>
            <a:srgbClr val="7A8B6F"/>
          </a:solidFill>
          <a:ln/>
        </p:spPr>
      </p:sp>
      <p:sp>
        <p:nvSpPr>
          <p:cNvPr id="21" name="Text 19"/>
          <p:cNvSpPr/>
          <p:nvPr/>
        </p:nvSpPr>
        <p:spPr>
          <a:xfrm>
            <a:off x="4901184" y="3264408"/>
            <a:ext cx="3593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B31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Common Pitfall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901184" y="3538728"/>
            <a:ext cx="35935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4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Overfilling. Less is more. A teaspoon per ravioli keeps seals tight.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3B31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Shape 3: Orecchiette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1097280" cy="0"/>
          </a:xfrm>
          <a:prstGeom prst="line">
            <a:avLst/>
          </a:prstGeom>
          <a:noFill/>
          <a:ln w="31750">
            <a:solidFill>
              <a:srgbClr val="C2552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4892040"/>
            <a:ext cx="8229600" cy="0"/>
          </a:xfrm>
          <a:prstGeom prst="line">
            <a:avLst/>
          </a:prstGeom>
          <a:noFill/>
          <a:ln w="6350">
            <a:solidFill>
              <a:srgbClr val="F5E6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0" y="491032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7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491032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C7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Art of Homemade Pasta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3977640" cy="1097280"/>
          </a:xfrm>
          <a:prstGeom prst="roundRect">
            <a:avLst>
              <a:gd name="adj" fmla="val 6667"/>
            </a:avLst>
          </a:prstGeom>
          <a:solidFill>
            <a:srgbClr val="F2E5C0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960120"/>
            <a:ext cx="3611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B4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"Little ears" from Puglia. No rolling pin, no machine, just your thumb and a butter knife. The most tactile and meditative pasta shape to make.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57200" y="2194560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25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 TIPS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2450592"/>
            <a:ext cx="3977640" cy="2011680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000" dirty="0">
                <a:solidFill>
                  <a:srgbClr val="3B31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semolina + water dough (no egg) for the right chew</a:t>
            </a:r>
            <a:endParaRPr lang="en-US" sz="10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000" dirty="0">
                <a:solidFill>
                  <a:srgbClr val="3B31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into a rope, cut small coins about 2cm wide</a:t>
            </a:r>
            <a:endParaRPr lang="en-US" sz="10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000" dirty="0">
                <a:solidFill>
                  <a:srgbClr val="3B31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each coin toward you with a butter knife</a:t>
            </a:r>
            <a:endParaRPr lang="en-US" sz="10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000" dirty="0">
                <a:solidFill>
                  <a:srgbClr val="3B31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Flip over your thumb to create the ear shape</a:t>
            </a:r>
            <a:endParaRPr lang="en-US" sz="10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000" dirty="0">
                <a:solidFill>
                  <a:srgbClr val="3B31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Rough texture is a feature, not a bug: it grabs sauce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09160" y="960120"/>
            <a:ext cx="39776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18304" y="960120"/>
            <a:ext cx="3959352" cy="54864"/>
          </a:xfrm>
          <a:prstGeom prst="rect">
            <a:avLst/>
          </a:prstGeom>
          <a:solidFill>
            <a:srgbClr val="7A8B6F"/>
          </a:solidFill>
          <a:ln/>
        </p:spPr>
      </p:sp>
      <p:sp>
        <p:nvSpPr>
          <p:cNvPr id="13" name="Text 11"/>
          <p:cNvSpPr/>
          <p:nvPr/>
        </p:nvSpPr>
        <p:spPr>
          <a:xfrm>
            <a:off x="4901184" y="1069848"/>
            <a:ext cx="3593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B31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Difficulty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901184" y="1344168"/>
            <a:ext cx="35935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4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technique, but slow. Perfect for a relaxing Sunday afternoon with music and wine.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09160" y="2103120"/>
            <a:ext cx="39776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18304" y="2103120"/>
            <a:ext cx="3959352" cy="54864"/>
          </a:xfrm>
          <a:prstGeom prst="rect">
            <a:avLst/>
          </a:prstGeom>
          <a:solidFill>
            <a:srgbClr val="D4A847"/>
          </a:solidFill>
          <a:ln/>
        </p:spPr>
      </p:sp>
      <p:sp>
        <p:nvSpPr>
          <p:cNvPr id="17" name="Text 15"/>
          <p:cNvSpPr/>
          <p:nvPr/>
        </p:nvSpPr>
        <p:spPr>
          <a:xfrm>
            <a:off x="4901184" y="2212848"/>
            <a:ext cx="3593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B31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Best Paired With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901184" y="2487168"/>
            <a:ext cx="35935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4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Broccoli rabe &amp; sausage, cherry tomato &amp; ricotta salata, pesto Genovese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09160" y="3154680"/>
            <a:ext cx="39776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18304" y="3154680"/>
            <a:ext cx="3959352" cy="54864"/>
          </a:xfrm>
          <a:prstGeom prst="rect">
            <a:avLst/>
          </a:prstGeom>
          <a:solidFill>
            <a:srgbClr val="C2552B"/>
          </a:solidFill>
          <a:ln/>
        </p:spPr>
      </p:sp>
      <p:sp>
        <p:nvSpPr>
          <p:cNvPr id="21" name="Text 19"/>
          <p:cNvSpPr/>
          <p:nvPr/>
        </p:nvSpPr>
        <p:spPr>
          <a:xfrm>
            <a:off x="4901184" y="3264408"/>
            <a:ext cx="3593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B31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Common Pitfall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901184" y="3538728"/>
            <a:ext cx="35935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4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them too thick. Thin out the center so it cooks evenly with the rim.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3B31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Common Mistakes &amp; How to Fix Them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1097280" cy="0"/>
          </a:xfrm>
          <a:prstGeom prst="line">
            <a:avLst/>
          </a:prstGeom>
          <a:noFill/>
          <a:ln w="31750">
            <a:solidFill>
              <a:srgbClr val="C2552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4892040"/>
            <a:ext cx="8229600" cy="0"/>
          </a:xfrm>
          <a:prstGeom prst="line">
            <a:avLst/>
          </a:prstGeom>
          <a:noFill/>
          <a:ln w="6350">
            <a:solidFill>
              <a:srgbClr val="F5E6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0" y="491032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7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491032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C7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Art of Homemade Pasta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263347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66344" y="960120"/>
            <a:ext cx="2615184" cy="54864"/>
          </a:xfrm>
          <a:prstGeom prst="rect">
            <a:avLst/>
          </a:prstGeom>
          <a:solidFill>
            <a:srgbClr val="C2552B"/>
          </a:solidFill>
          <a:ln/>
        </p:spPr>
      </p:sp>
      <p:sp>
        <p:nvSpPr>
          <p:cNvPr id="9" name="Text 7"/>
          <p:cNvSpPr/>
          <p:nvPr/>
        </p:nvSpPr>
        <p:spPr>
          <a:xfrm>
            <a:off x="649224" y="1069848"/>
            <a:ext cx="2249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B31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Dough Too Dry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9224" y="1344168"/>
            <a:ext cx="224942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4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water a teaspoon at a time. Humidity affects flour, so never rely on the recipe amount alone.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55264" y="960120"/>
            <a:ext cx="263347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64408" y="960120"/>
            <a:ext cx="2615184" cy="54864"/>
          </a:xfrm>
          <a:prstGeom prst="rect">
            <a:avLst/>
          </a:prstGeom>
          <a:solidFill>
            <a:srgbClr val="6B4E3D"/>
          </a:solidFill>
          <a:ln/>
        </p:spPr>
      </p:sp>
      <p:sp>
        <p:nvSpPr>
          <p:cNvPr id="13" name="Text 11"/>
          <p:cNvSpPr/>
          <p:nvPr/>
        </p:nvSpPr>
        <p:spPr>
          <a:xfrm>
            <a:off x="3447288" y="1069848"/>
            <a:ext cx="2249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B31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Dough Too Sticky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47288" y="1344168"/>
            <a:ext cx="224942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4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Dust with semolina (not AP flour) and knead more. The gluten needs 10 full minutes to develop.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053328" y="960120"/>
            <a:ext cx="263347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62472" y="960120"/>
            <a:ext cx="2615184" cy="54864"/>
          </a:xfrm>
          <a:prstGeom prst="rect">
            <a:avLst/>
          </a:prstGeom>
          <a:solidFill>
            <a:srgbClr val="7A8B6F"/>
          </a:solidFill>
          <a:ln/>
        </p:spPr>
      </p:sp>
      <p:sp>
        <p:nvSpPr>
          <p:cNvPr id="17" name="Text 15"/>
          <p:cNvSpPr/>
          <p:nvPr/>
        </p:nvSpPr>
        <p:spPr>
          <a:xfrm>
            <a:off x="6245352" y="1069848"/>
            <a:ext cx="2249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B31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Pasta Tears When Rolling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245352" y="1344168"/>
            <a:ext cx="224942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4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the dough 30 minutes under a towel. Gluten relaxation is non-negotiable.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2468880"/>
            <a:ext cx="263347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6344" y="2468880"/>
            <a:ext cx="2615184" cy="54864"/>
          </a:xfrm>
          <a:prstGeom prst="rect">
            <a:avLst/>
          </a:prstGeom>
          <a:solidFill>
            <a:srgbClr val="D4A847"/>
          </a:solidFill>
          <a:ln/>
        </p:spPr>
      </p:sp>
      <p:sp>
        <p:nvSpPr>
          <p:cNvPr id="21" name="Text 19"/>
          <p:cNvSpPr/>
          <p:nvPr/>
        </p:nvSpPr>
        <p:spPr>
          <a:xfrm>
            <a:off x="649224" y="2578608"/>
            <a:ext cx="2249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B31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Ravioli Burst Open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9224" y="2852928"/>
            <a:ext cx="224942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4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Seal edges completely and remove air. Drop gently into simmering (not boiling) water.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55264" y="2468880"/>
            <a:ext cx="263347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64408" y="2468880"/>
            <a:ext cx="2615184" cy="54864"/>
          </a:xfrm>
          <a:prstGeom prst="rect">
            <a:avLst/>
          </a:prstGeom>
          <a:solidFill>
            <a:srgbClr val="9B3F1E"/>
          </a:solidFill>
          <a:ln/>
        </p:spPr>
      </p:sp>
      <p:sp>
        <p:nvSpPr>
          <p:cNvPr id="25" name="Text 23"/>
          <p:cNvSpPr/>
          <p:nvPr/>
        </p:nvSpPr>
        <p:spPr>
          <a:xfrm>
            <a:off x="3447288" y="2578608"/>
            <a:ext cx="2249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B31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Pasta Sticks Together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447288" y="2852928"/>
            <a:ext cx="224942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4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Toss with semolina immediately after cutting. Use plenty of water when cooking: 1L per 100g.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053328" y="2468880"/>
            <a:ext cx="263347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062472" y="2468880"/>
            <a:ext cx="2615184" cy="54864"/>
          </a:xfrm>
          <a:prstGeom prst="rect">
            <a:avLst/>
          </a:prstGeom>
          <a:solidFill>
            <a:srgbClr val="5C6B52"/>
          </a:solidFill>
          <a:ln/>
        </p:spPr>
      </p:sp>
      <p:sp>
        <p:nvSpPr>
          <p:cNvPr id="29" name="Text 27"/>
          <p:cNvSpPr/>
          <p:nvPr/>
        </p:nvSpPr>
        <p:spPr>
          <a:xfrm>
            <a:off x="6245352" y="2578608"/>
            <a:ext cx="2249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B31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Bland Flavor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245352" y="2852928"/>
            <a:ext cx="224942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4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Salt the dough AND the water generously. The water should taste like the sea. Save pasta water for sauce.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3B31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2552B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1371600"/>
            <a:ext cx="2286000" cy="0"/>
          </a:xfrm>
          <a:prstGeom prst="line">
            <a:avLst/>
          </a:prstGeom>
          <a:noFill/>
          <a:ln w="19050">
            <a:solidFill>
              <a:srgbClr val="D4A84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55448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DF6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Now, Let's Make Pasta.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246888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F5E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great pasta maker started exactly where you are tonight.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F5E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dough will be imperfect. Some ravioli will burst. That's the point.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F5E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Pasta-making is a practice, not a performance.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3657600"/>
            <a:ext cx="2286000" cy="1005840"/>
          </a:xfrm>
          <a:prstGeom prst="roundRect">
            <a:avLst>
              <a:gd name="adj" fmla="val 7273"/>
            </a:avLst>
          </a:prstGeom>
          <a:solidFill>
            <a:srgbClr val="3B3129"/>
          </a:solidFill>
          <a:ln w="12700">
            <a:solidFill>
              <a:srgbClr val="C255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376732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C25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TOUCH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68680" y="402336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5E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Feel the dough. Your hands will learn what your eyes can't.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91840" y="3657600"/>
            <a:ext cx="2286000" cy="1005840"/>
          </a:xfrm>
          <a:prstGeom prst="roundRect">
            <a:avLst>
              <a:gd name="adj" fmla="val 7273"/>
            </a:avLst>
          </a:prstGeom>
          <a:solidFill>
            <a:srgbClr val="3B3129"/>
          </a:solidFill>
          <a:ln w="12700">
            <a:solidFill>
              <a:srgbClr val="7A8B6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1840" y="376732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7A8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TASTE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429000" y="402336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5E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Salt everything. Taste as you go. Adjust with confidence.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852160" y="3657600"/>
            <a:ext cx="2286000" cy="1005840"/>
          </a:xfrm>
          <a:prstGeom prst="roundRect">
            <a:avLst>
              <a:gd name="adj" fmla="val 7273"/>
            </a:avLst>
          </a:prstGeom>
          <a:solidFill>
            <a:srgbClr val="3B3129"/>
          </a:solidFill>
          <a:ln w="12700">
            <a:solidFill>
              <a:srgbClr val="D4A84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852160" y="376732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D4A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989320" y="402336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5E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best pasta is the one you make for someone you love.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C2552B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Art of Homemade Pasta</dc:title>
  <dc:subject>PptxGenJS Presentation</dc:subject>
  <dc:creator>Community Cooking Night</dc:creator>
  <cp:lastModifiedBy>Community Cooking Night</cp:lastModifiedBy>
  <cp:revision>1</cp:revision>
  <dcterms:created xsi:type="dcterms:W3CDTF">2026-03-30T16:56:28Z</dcterms:created>
  <dcterms:modified xsi:type="dcterms:W3CDTF">2026-03-30T16:56:28Z</dcterms:modified>
</cp:coreProperties>
</file>