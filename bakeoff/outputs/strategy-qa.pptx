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E7FD9"/>
            </a:solidFill>
            <a:ln w="31750" cap="flat">
              <a:solidFill>
                <a:srgbClr val="2E7F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FD9"/>
              </a:solidFill>
              <a:ln w="9525" cap="flat">
                <a:solidFill>
                  <a:srgbClr val="2E7F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7.2</c:v>
                </c:pt>
                <c:pt idx="1">
                  <c:v>8.5</c:v>
                </c:pt>
                <c:pt idx="2">
                  <c:v>9.8</c:v>
                </c:pt>
                <c:pt idx="3">
                  <c:v>11.4</c:v>
                </c:pt>
                <c:pt idx="4">
                  <c:v>12.8</c:v>
                </c:pt>
                <c:pt idx="5">
                  <c:v>14.1</c:v>
                </c:pt>
                <c:pt idx="6">
                  <c:v>15.6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2E7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Q1'26</c:v>
                  </c:pt>
                  <c:pt idx="1">
                    <c:v>Q2'26</c:v>
                  </c:pt>
                  <c:pt idx="2">
                    <c:v>Q3'26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</c:v>
                </c:pt>
                <c:pt idx="1">
                  <c:v>3.4</c:v>
                </c:pt>
                <c:pt idx="2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Q1'26</c:v>
                  </c:pt>
                  <c:pt idx="1">
                    <c:v>Q2'26</c:v>
                  </c:pt>
                  <c:pt idx="2">
                    <c:v>Q3'26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Blended</c:v>
                </c:pt>
              </c:strCache>
            </c:strRef>
          </c:tx>
          <c:spPr>
            <a:solidFill>
              <a:srgbClr val="2E7FD9"/>
            </a:solidFill>
            <a:ln w="25400" cap="flat">
              <a:solidFill>
                <a:srgbClr val="2E7F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FD9"/>
              </a:solidFill>
              <a:ln w="9525" cap="flat">
                <a:solidFill>
                  <a:srgbClr val="2E7F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22.4</c:v>
                </c:pt>
                <c:pt idx="1">
                  <c:v>20.1</c:v>
                </c:pt>
                <c:pt idx="2">
                  <c:v>19.8</c:v>
                </c:pt>
                <c:pt idx="3">
                  <c:v>18.2</c:v>
                </c:pt>
                <c:pt idx="4">
                  <c:v>17.6</c:v>
                </c:pt>
                <c:pt idx="5">
                  <c:v>16.4</c:v>
                </c:pt>
                <c:pt idx="6">
                  <c:v>15.8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38.2</c:v>
                </c:pt>
                <c:pt idx="1">
                  <c:v>34.6</c:v>
                </c:pt>
                <c:pt idx="2">
                  <c:v>32.1</c:v>
                </c:pt>
                <c:pt idx="3">
                  <c:v>28.4</c:v>
                </c:pt>
                <c:pt idx="4">
                  <c:v>26.8</c:v>
                </c:pt>
                <c:pt idx="5">
                  <c:v>24.2</c:v>
                </c:pt>
                <c:pt idx="6">
                  <c:v>22.6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14.8</c:v>
                </c:pt>
                <c:pt idx="1">
                  <c:v>13.2</c:v>
                </c:pt>
                <c:pt idx="2">
                  <c:v>13.6</c:v>
                </c:pt>
                <c:pt idx="3">
                  <c:v>12.4</c:v>
                </c:pt>
                <c:pt idx="4">
                  <c:v>12.1</c:v>
                </c:pt>
                <c:pt idx="5">
                  <c:v>11.8</c:v>
                </c:pt>
                <c:pt idx="6">
                  <c:v>11.2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2E7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</c:v>
                  </c:pt>
                  <c:pt idx="1">
                    <c:v>Prod</c:v>
                  </c:pt>
                  <c:pt idx="2">
                    <c:v>Sales</c:v>
                  </c:pt>
                  <c:pt idx="3">
                    <c:v>CS</c:v>
                  </c:pt>
                  <c:pt idx="4">
                    <c:v>Mktg</c:v>
                  </c:pt>
                  <c:pt idx="5">
                    <c:v>G&amp;A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</c:v>
                </c:pt>
                <c:pt idx="1">
                  <c:v>9</c:v>
                </c:pt>
                <c:pt idx="2">
                  <c:v>22</c:v>
                </c:pt>
                <c:pt idx="3">
                  <c:v>14</c:v>
                </c:pt>
                <c:pt idx="4">
                  <c:v>9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Target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</c:v>
                  </c:pt>
                  <c:pt idx="1">
                    <c:v>Prod</c:v>
                  </c:pt>
                  <c:pt idx="2">
                    <c:v>Sales</c:v>
                  </c:pt>
                  <c:pt idx="3">
                    <c:v>CS</c:v>
                  </c:pt>
                  <c:pt idx="4">
                    <c:v>Mktg</c:v>
                  </c:pt>
                  <c:pt idx="5">
                    <c:v>G&amp;A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</c:v>
                </c:pt>
                <c:pt idx="1">
                  <c:v>10</c:v>
                </c:pt>
                <c:pt idx="2">
                  <c:v>25</c:v>
                </c:pt>
                <c:pt idx="3">
                  <c:v>16</c:v>
                </c:pt>
                <c:pt idx="4">
                  <c:v>10</c:v>
                </c:pt>
                <c:pt idx="5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Burn ($K)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Q1'26</c:v>
                  </c:pt>
                  <c:pt idx="1">
                    <c:v>Q2'26</c:v>
                  </c:pt>
                  <c:pt idx="2">
                    <c:v>Q3'26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193</c:v>
                </c:pt>
                <c:pt idx="1">
                  <c:v>233</c:v>
                </c:pt>
                <c:pt idx="2">
                  <c:v>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Q3 2026 STRATEGIC REVIEW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7C7"/>
                </a:solidFill>
              </a:rPr>
              <a:t>NovaCrest  ·  Board of Directors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B"/>
                </a:solidFill>
              </a:rPr>
              <a:t>March 31, 2026  ·  Confidential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75488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27632"/>
            <a:ext cx="1143000" cy="621792"/>
          </a:xfrm>
          <a:prstGeom prst="rect">
            <a:avLst/>
          </a:prstGeom>
          <a:solidFill>
            <a:srgbClr val="0D1E3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FD9"/>
                </a:solidFill>
              </a:rPr>
              <a:t>$15.6M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ARR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08760" y="1627632"/>
            <a:ext cx="1143000" cy="621792"/>
          </a:xfrm>
          <a:prstGeom prst="rect">
            <a:avLst/>
          </a:prstGeom>
          <a:solidFill>
            <a:srgbClr val="0D1E3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FD9"/>
                </a:solidFill>
              </a:rPr>
              <a:t>Series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72768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Stage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97480" y="1627632"/>
            <a:ext cx="1143000" cy="621792"/>
          </a:xfrm>
          <a:prstGeom prst="rect">
            <a:avLst/>
          </a:prstGeom>
          <a:solidFill>
            <a:srgbClr val="0D1E3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FD9"/>
                </a:solidFill>
              </a:rPr>
              <a:t>112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61488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Headcount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1143000" cy="621792"/>
          </a:xfrm>
          <a:prstGeom prst="rect">
            <a:avLst/>
          </a:prstGeom>
          <a:solidFill>
            <a:srgbClr val="0D1E3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020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FD9"/>
                </a:solidFill>
              </a:rPr>
              <a:t>2021, SF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50208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Founded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23591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B"/>
                </a:solidFill>
              </a:rPr>
              <a:t>CEO: Sarah Chen  ·  CFO: David Park  ·  CTO: Marcus Williams  ·  VP Sales: Rachel Torres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5968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B"/>
                </a:solidFill>
              </a:rPr>
              <a:t>Board: Jeff Blackwell (Insight), Priya Sharma (Accel), Tom Nguyen (Independent)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256032"/>
            <a:ext cx="3474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 Q3 KEY WINS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493776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 ARR +10.6% QoQ → $15.6M  (+4.2% vs plan)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32120" y="786384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 Pipeline $8.6M — best quarter ever; win rate 28.4%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32120" y="1078992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 VP CS + Head of Partnerships + 2 ML PhDs hired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0680" y="1426464"/>
            <a:ext cx="34747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26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  CONCERNS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1664208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580"/>
                </a:solidFill>
              </a:rPr>
              <a:t>→  Churn spike: $500K in Q3 (+66% QoQ); 58% preventable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32120" y="1956816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580"/>
                </a:solidFill>
              </a:rPr>
              <a:t>→  Competitive: DataForge SMB module; Zenith fundraise + hiring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40680" y="2340864"/>
            <a:ext cx="34747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23408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●  BOARD DECISION REQUIRED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32120" y="25786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→  Approve $2.5M CS investment to address preventable churn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→  Approve usage-based SMB pricing tier ($499/mo)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→  Discuss Series C timing (Q2 2027 vs $30M ARR milestone)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40680" y="3383280"/>
            <a:ext cx="3474720" cy="201168"/>
          </a:xfrm>
          <a:prstGeom prst="rect">
            <a:avLst/>
          </a:prstGeom>
          <a:solidFill>
            <a:srgbClr val="162A4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3383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FD9"/>
                </a:solidFill>
              </a:rPr>
              <a:t>AGENDA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32120" y="36210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  Revenue Dashboard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32120" y="3858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  GTM + Customer Health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32120" y="40965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 Product + Team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32120" y="43342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  Financial Outlook + Competitive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32120" y="45720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  Board Asks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470"/>
                </a:solidFill>
              </a:rPr>
              <a:t>NovaCrest  |  Q3 2026 Board Review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SLIDE 2  ·  Revenue Dashboard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Q3 2026 Actuals vs 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NovaCrest  |  Q3 2026 Board Review  |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March 31,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594360"/>
            <a:ext cx="64008" cy="74980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FD9"/>
                </a:solidFill>
              </a:rPr>
              <a:t>$15.6M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5176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ARR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+10.6% QoQ  ·  +4.2% vs plan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11096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594360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</a:rPr>
              <a:t>118%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39112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Net Revenue Retention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39112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Target 120%+  ·  ↓ from 121% (churn)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85032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85032" y="594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78.2%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813048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Gross Margin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13048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Target 80%+  ·  Improving ↑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968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594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1.12x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586984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Magic Number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86984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Q2: 0.98  ·  Target &gt;0.75  ·  Strong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32904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2904" y="594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13.2 mo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360920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CAC Payback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60920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Target &lt;16 mo  ·  Improving ↑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" y="1435608"/>
            <a:ext cx="32004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1435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ARR TREND  ($M)  ·  Q1 2025 – Q3 2026</a:t>
            </a:r>
            <a:endParaRPr lang="en-US" sz="8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137160" y="1673352"/>
          <a:ext cx="3246120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3520440" y="1435608"/>
            <a:ext cx="265176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93592" y="1435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QUARTERLY REVENUE  ($M)</a:t>
            </a:r>
            <a:endParaRPr lang="en-US" sz="800" dirty="0"/>
          </a:p>
        </p:txBody>
      </p:sp>
      <p:graphicFrame>
        <p:nvGraphicFramePr>
          <p:cNvPr id="40" name="Chart 1" descr=""/>
          <p:cNvGraphicFramePr/>
          <p:nvPr/>
        </p:nvGraphicFramePr>
        <p:xfrm>
          <a:off x="3520440" y="1673352"/>
          <a:ext cx="2651760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Shape 37"/>
          <p:cNvSpPr/>
          <p:nvPr/>
        </p:nvSpPr>
        <p:spPr>
          <a:xfrm>
            <a:off x="6144768" y="1435608"/>
            <a:ext cx="2862072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17920" y="1435608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UNIT ECONOMICS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6144768" y="1673352"/>
            <a:ext cx="777240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199632" y="1673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922008" y="1673352"/>
            <a:ext cx="521208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976872" y="16733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2026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7443216" y="1673352"/>
            <a:ext cx="521208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498080" y="16733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 2026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7964424" y="1673352"/>
            <a:ext cx="521208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019288" y="16733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8485632" y="1673352"/>
            <a:ext cx="521208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540496" y="16733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Trend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6144768" y="1947672"/>
            <a:ext cx="777240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199632" y="194767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Gross Margin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6922008" y="194767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976872" y="1947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78.2%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7443216" y="194767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7498080" y="1947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77.5%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7964424" y="194767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019288" y="1947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80%+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8485632" y="194767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8540496" y="1947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↑ Improving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6144768" y="222199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199632" y="222199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NRR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6922008" y="222199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76872" y="222199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118%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7443216" y="222199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7498080" y="222199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121%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7964424" y="222199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019288" y="222199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120%+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8485632" y="222199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540496" y="222199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↓ Churn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6144768" y="2496312"/>
            <a:ext cx="777240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6199632" y="249631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Logo Retention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6922008" y="249631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6976872" y="24963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92.4%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7443216" y="249631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7498080" y="24963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94.1%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7964424" y="249631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8019288" y="24963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95%+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8485632" y="249631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540496" y="24963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↓ Risk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6144768" y="277063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6199632" y="277063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LTV:CAC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6922008" y="277063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6976872" y="277063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4.8x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7443216" y="277063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7498080" y="277063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4.6x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7964424" y="277063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8019288" y="277063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4.0x+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8485632" y="277063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8540496" y="277063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↑ Healthy</a:t>
            </a:r>
            <a:endParaRPr lang="en-US" sz="900" dirty="0"/>
          </a:p>
        </p:txBody>
      </p:sp>
      <p:sp>
        <p:nvSpPr>
          <p:cNvPr id="93" name="Shape 89"/>
          <p:cNvSpPr/>
          <p:nvPr/>
        </p:nvSpPr>
        <p:spPr>
          <a:xfrm>
            <a:off x="6144768" y="3044952"/>
            <a:ext cx="777240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6199632" y="30449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CAC Payback</a:t>
            </a:r>
            <a:endParaRPr lang="en-US" sz="900" dirty="0"/>
          </a:p>
        </p:txBody>
      </p:sp>
      <p:sp>
        <p:nvSpPr>
          <p:cNvPr id="95" name="Shape 91"/>
          <p:cNvSpPr/>
          <p:nvPr/>
        </p:nvSpPr>
        <p:spPr>
          <a:xfrm>
            <a:off x="6922008" y="304495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6976872" y="30449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13.2 mo</a:t>
            </a:r>
            <a:endParaRPr lang="en-US" sz="900" dirty="0"/>
          </a:p>
        </p:txBody>
      </p:sp>
      <p:sp>
        <p:nvSpPr>
          <p:cNvPr id="97" name="Shape 93"/>
          <p:cNvSpPr/>
          <p:nvPr/>
        </p:nvSpPr>
        <p:spPr>
          <a:xfrm>
            <a:off x="7443216" y="304495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7498080" y="30449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14.1 mo</a:t>
            </a:r>
            <a:endParaRPr lang="en-US" sz="900" dirty="0"/>
          </a:p>
        </p:txBody>
      </p:sp>
      <p:sp>
        <p:nvSpPr>
          <p:cNvPr id="99" name="Shape 95"/>
          <p:cNvSpPr/>
          <p:nvPr/>
        </p:nvSpPr>
        <p:spPr>
          <a:xfrm>
            <a:off x="7964424" y="304495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8019288" y="30449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&lt;16 mo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485632" y="304495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8540496" y="30449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↑ Improving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6144768" y="331927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6199632" y="331927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Magic Number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6922008" y="331927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6976872" y="33192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1.12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7443216" y="331927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7498080" y="33192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0.98</a:t>
            </a:r>
            <a:endParaRPr lang="en-US" sz="900" dirty="0"/>
          </a:p>
        </p:txBody>
      </p:sp>
      <p:sp>
        <p:nvSpPr>
          <p:cNvPr id="109" name="Shape 105"/>
          <p:cNvSpPr/>
          <p:nvPr/>
        </p:nvSpPr>
        <p:spPr>
          <a:xfrm>
            <a:off x="7964424" y="331927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8019288" y="33192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&gt;0.75</a:t>
            </a:r>
            <a:endParaRPr lang="en-US" sz="900" dirty="0"/>
          </a:p>
        </p:txBody>
      </p:sp>
      <p:sp>
        <p:nvSpPr>
          <p:cNvPr id="111" name="Shape 107"/>
          <p:cNvSpPr/>
          <p:nvPr/>
        </p:nvSpPr>
        <p:spPr>
          <a:xfrm>
            <a:off x="8485632" y="331927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8540496" y="33192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↑ Strong</a:t>
            </a:r>
            <a:endParaRPr lang="en-US" sz="900" dirty="0"/>
          </a:p>
        </p:txBody>
      </p:sp>
      <p:sp>
        <p:nvSpPr>
          <p:cNvPr id="113" name="Shape 109"/>
          <p:cNvSpPr/>
          <p:nvPr/>
        </p:nvSpPr>
        <p:spPr>
          <a:xfrm>
            <a:off x="137160" y="3794760"/>
            <a:ext cx="603504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210312" y="37947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ARR BRIDGE  —  Q3 2026</a:t>
            </a:r>
            <a:endParaRPr lang="en-US" sz="800" dirty="0"/>
          </a:p>
        </p:txBody>
      </p:sp>
      <p:sp>
        <p:nvSpPr>
          <p:cNvPr id="115" name="Shape 111"/>
          <p:cNvSpPr/>
          <p:nvPr/>
        </p:nvSpPr>
        <p:spPr>
          <a:xfrm>
            <a:off x="137160" y="3995928"/>
            <a:ext cx="1463040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192024" y="3995928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</a:t>
            </a:r>
            <a:endParaRPr lang="en-US" sz="900" dirty="0"/>
          </a:p>
        </p:txBody>
      </p:sp>
      <p:sp>
        <p:nvSpPr>
          <p:cNvPr id="117" name="Shape 113"/>
          <p:cNvSpPr/>
          <p:nvPr/>
        </p:nvSpPr>
        <p:spPr>
          <a:xfrm>
            <a:off x="1600200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1655064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 2026</a:t>
            </a:r>
            <a:endParaRPr lang="en-US" sz="900" dirty="0"/>
          </a:p>
        </p:txBody>
      </p:sp>
      <p:sp>
        <p:nvSpPr>
          <p:cNvPr id="119" name="Shape 115"/>
          <p:cNvSpPr/>
          <p:nvPr/>
        </p:nvSpPr>
        <p:spPr>
          <a:xfrm>
            <a:off x="2404872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2459736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 2026</a:t>
            </a:r>
            <a:endParaRPr lang="en-US" sz="900" dirty="0"/>
          </a:p>
        </p:txBody>
      </p:sp>
      <p:sp>
        <p:nvSpPr>
          <p:cNvPr id="121" name="Shape 117"/>
          <p:cNvSpPr/>
          <p:nvPr/>
        </p:nvSpPr>
        <p:spPr>
          <a:xfrm>
            <a:off x="3209544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3264408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2026</a:t>
            </a:r>
            <a:endParaRPr lang="en-US" sz="900" dirty="0"/>
          </a:p>
        </p:txBody>
      </p:sp>
      <p:sp>
        <p:nvSpPr>
          <p:cNvPr id="123" name="Shape 119"/>
          <p:cNvSpPr/>
          <p:nvPr/>
        </p:nvSpPr>
        <p:spPr>
          <a:xfrm>
            <a:off x="4014216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4069080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QoQ Δ</a:t>
            </a:r>
            <a:endParaRPr lang="en-US" sz="900" dirty="0"/>
          </a:p>
        </p:txBody>
      </p:sp>
      <p:sp>
        <p:nvSpPr>
          <p:cNvPr id="125" name="Shape 121"/>
          <p:cNvSpPr/>
          <p:nvPr/>
        </p:nvSpPr>
        <p:spPr>
          <a:xfrm>
            <a:off x="4818888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2"/>
          <p:cNvSpPr/>
          <p:nvPr/>
        </p:nvSpPr>
        <p:spPr>
          <a:xfrm>
            <a:off x="4873752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 Plan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137160" y="4137660"/>
            <a:ext cx="1463040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4"/>
          <p:cNvSpPr/>
          <p:nvPr/>
        </p:nvSpPr>
        <p:spPr>
          <a:xfrm>
            <a:off x="192024" y="4137660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Beginning ARR</a:t>
            </a:r>
            <a:endParaRPr lang="en-US" sz="900" dirty="0"/>
          </a:p>
        </p:txBody>
      </p:sp>
      <p:sp>
        <p:nvSpPr>
          <p:cNvPr id="129" name="Shape 125"/>
          <p:cNvSpPr/>
          <p:nvPr/>
        </p:nvSpPr>
        <p:spPr>
          <a:xfrm>
            <a:off x="1600200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1655064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$11.4M</a:t>
            </a:r>
            <a:endParaRPr lang="en-US" sz="900" dirty="0"/>
          </a:p>
        </p:txBody>
      </p:sp>
      <p:sp>
        <p:nvSpPr>
          <p:cNvPr id="131" name="Shape 127"/>
          <p:cNvSpPr/>
          <p:nvPr/>
        </p:nvSpPr>
        <p:spPr>
          <a:xfrm>
            <a:off x="2404872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2459736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$12.8M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3209544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3264408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$14.1M</a:t>
            </a:r>
            <a:endParaRPr lang="en-US" sz="900" dirty="0"/>
          </a:p>
        </p:txBody>
      </p:sp>
      <p:sp>
        <p:nvSpPr>
          <p:cNvPr id="135" name="Shape 131"/>
          <p:cNvSpPr/>
          <p:nvPr/>
        </p:nvSpPr>
        <p:spPr>
          <a:xfrm>
            <a:off x="4014216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4069080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137" name="Shape 133"/>
          <p:cNvSpPr/>
          <p:nvPr/>
        </p:nvSpPr>
        <p:spPr>
          <a:xfrm>
            <a:off x="4818888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4873752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139" name="Shape 135"/>
          <p:cNvSpPr/>
          <p:nvPr/>
        </p:nvSpPr>
        <p:spPr>
          <a:xfrm>
            <a:off x="137160" y="4279392"/>
            <a:ext cx="1463040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192024" y="4279392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 New ARR</a:t>
            </a:r>
            <a:endParaRPr lang="en-US" sz="900" dirty="0"/>
          </a:p>
        </p:txBody>
      </p:sp>
      <p:sp>
        <p:nvSpPr>
          <p:cNvPr id="141" name="Shape 137"/>
          <p:cNvSpPr/>
          <p:nvPr/>
        </p:nvSpPr>
        <p:spPr>
          <a:xfrm>
            <a:off x="1600200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655064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$1.4M</a:t>
            </a:r>
            <a:endParaRPr lang="en-US" sz="900" dirty="0"/>
          </a:p>
        </p:txBody>
      </p:sp>
      <p:sp>
        <p:nvSpPr>
          <p:cNvPr id="143" name="Shape 139"/>
          <p:cNvSpPr/>
          <p:nvPr/>
        </p:nvSpPr>
        <p:spPr>
          <a:xfrm>
            <a:off x="2404872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2459736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$1.6M</a:t>
            </a:r>
            <a:endParaRPr lang="en-US" sz="900" dirty="0"/>
          </a:p>
        </p:txBody>
      </p:sp>
      <p:sp>
        <p:nvSpPr>
          <p:cNvPr id="145" name="Shape 141"/>
          <p:cNvSpPr/>
          <p:nvPr/>
        </p:nvSpPr>
        <p:spPr>
          <a:xfrm>
            <a:off x="3209544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2"/>
          <p:cNvSpPr/>
          <p:nvPr/>
        </p:nvSpPr>
        <p:spPr>
          <a:xfrm>
            <a:off x="3264408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$1.9M</a:t>
            </a:r>
            <a:endParaRPr lang="en-US" sz="900" dirty="0"/>
          </a:p>
        </p:txBody>
      </p:sp>
      <p:sp>
        <p:nvSpPr>
          <p:cNvPr id="147" name="Shape 143"/>
          <p:cNvSpPr/>
          <p:nvPr/>
        </p:nvSpPr>
        <p:spPr>
          <a:xfrm>
            <a:off x="4014216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4069080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+18.8%</a:t>
            </a:r>
            <a:endParaRPr lang="en-US" sz="900" dirty="0"/>
          </a:p>
        </p:txBody>
      </p:sp>
      <p:sp>
        <p:nvSpPr>
          <p:cNvPr id="149" name="Shape 145"/>
          <p:cNvSpPr/>
          <p:nvPr/>
        </p:nvSpPr>
        <p:spPr>
          <a:xfrm>
            <a:off x="4818888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4873752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+12% ↑</a:t>
            </a:r>
            <a:endParaRPr lang="en-US" sz="900" dirty="0"/>
          </a:p>
        </p:txBody>
      </p:sp>
      <p:sp>
        <p:nvSpPr>
          <p:cNvPr id="151" name="Shape 147"/>
          <p:cNvSpPr/>
          <p:nvPr/>
        </p:nvSpPr>
        <p:spPr>
          <a:xfrm>
            <a:off x="137160" y="4421124"/>
            <a:ext cx="1463040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48"/>
          <p:cNvSpPr/>
          <p:nvPr/>
        </p:nvSpPr>
        <p:spPr>
          <a:xfrm>
            <a:off x="192024" y="4421124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 Expansion ARR</a:t>
            </a:r>
            <a:endParaRPr lang="en-US" sz="900" dirty="0"/>
          </a:p>
        </p:txBody>
      </p:sp>
      <p:sp>
        <p:nvSpPr>
          <p:cNvPr id="153" name="Shape 149"/>
          <p:cNvSpPr/>
          <p:nvPr/>
        </p:nvSpPr>
        <p:spPr>
          <a:xfrm>
            <a:off x="1600200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0"/>
          <p:cNvSpPr/>
          <p:nvPr/>
        </p:nvSpPr>
        <p:spPr>
          <a:xfrm>
            <a:off x="1655064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$0.6M</a:t>
            </a:r>
            <a:endParaRPr lang="en-US" sz="900" dirty="0"/>
          </a:p>
        </p:txBody>
      </p:sp>
      <p:sp>
        <p:nvSpPr>
          <p:cNvPr id="155" name="Shape 151"/>
          <p:cNvSpPr/>
          <p:nvPr/>
        </p:nvSpPr>
        <p:spPr>
          <a:xfrm>
            <a:off x="2404872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2459736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$0.7M</a:t>
            </a:r>
            <a:endParaRPr lang="en-US" sz="900" dirty="0"/>
          </a:p>
        </p:txBody>
      </p:sp>
      <p:sp>
        <p:nvSpPr>
          <p:cNvPr id="157" name="Shape 153"/>
          <p:cNvSpPr/>
          <p:nvPr/>
        </p:nvSpPr>
        <p:spPr>
          <a:xfrm>
            <a:off x="3209544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3264408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$0.8M</a:t>
            </a:r>
            <a:endParaRPr lang="en-US" sz="900" dirty="0"/>
          </a:p>
        </p:txBody>
      </p:sp>
      <p:sp>
        <p:nvSpPr>
          <p:cNvPr id="159" name="Shape 155"/>
          <p:cNvSpPr/>
          <p:nvPr/>
        </p:nvSpPr>
        <p:spPr>
          <a:xfrm>
            <a:off x="4014216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6"/>
          <p:cNvSpPr/>
          <p:nvPr/>
        </p:nvSpPr>
        <p:spPr>
          <a:xfrm>
            <a:off x="4069080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+14.3%</a:t>
            </a:r>
            <a:endParaRPr lang="en-US" sz="900" dirty="0"/>
          </a:p>
        </p:txBody>
      </p:sp>
      <p:sp>
        <p:nvSpPr>
          <p:cNvPr id="161" name="Shape 157"/>
          <p:cNvSpPr/>
          <p:nvPr/>
        </p:nvSpPr>
        <p:spPr>
          <a:xfrm>
            <a:off x="4818888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4873752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On plan</a:t>
            </a:r>
            <a:endParaRPr lang="en-US" sz="900" dirty="0"/>
          </a:p>
        </p:txBody>
      </p:sp>
      <p:sp>
        <p:nvSpPr>
          <p:cNvPr id="163" name="Shape 159"/>
          <p:cNvSpPr/>
          <p:nvPr/>
        </p:nvSpPr>
        <p:spPr>
          <a:xfrm>
            <a:off x="137160" y="4562856"/>
            <a:ext cx="1463040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4" name="Text 160"/>
          <p:cNvSpPr/>
          <p:nvPr/>
        </p:nvSpPr>
        <p:spPr>
          <a:xfrm>
            <a:off x="192024" y="4562856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− Churn ARR</a:t>
            </a:r>
            <a:endParaRPr lang="en-US" sz="900" dirty="0"/>
          </a:p>
        </p:txBody>
      </p:sp>
      <p:sp>
        <p:nvSpPr>
          <p:cNvPr id="165" name="Shape 161"/>
          <p:cNvSpPr/>
          <p:nvPr/>
        </p:nvSpPr>
        <p:spPr>
          <a:xfrm>
            <a:off x="1600200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6" name="Text 162"/>
          <p:cNvSpPr/>
          <p:nvPr/>
        </p:nvSpPr>
        <p:spPr>
          <a:xfrm>
            <a:off x="1655064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($0.3M)</a:t>
            </a:r>
            <a:endParaRPr lang="en-US" sz="900" dirty="0"/>
          </a:p>
        </p:txBody>
      </p:sp>
      <p:sp>
        <p:nvSpPr>
          <p:cNvPr id="167" name="Shape 163"/>
          <p:cNvSpPr/>
          <p:nvPr/>
        </p:nvSpPr>
        <p:spPr>
          <a:xfrm>
            <a:off x="2404872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2459736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($0.3M)</a:t>
            </a:r>
            <a:endParaRPr lang="en-US" sz="900" dirty="0"/>
          </a:p>
        </p:txBody>
      </p:sp>
      <p:sp>
        <p:nvSpPr>
          <p:cNvPr id="169" name="Shape 165"/>
          <p:cNvSpPr/>
          <p:nvPr/>
        </p:nvSpPr>
        <p:spPr>
          <a:xfrm>
            <a:off x="3209544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0" name="Text 166"/>
          <p:cNvSpPr/>
          <p:nvPr/>
        </p:nvSpPr>
        <p:spPr>
          <a:xfrm>
            <a:off x="3264408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($0.5M)</a:t>
            </a:r>
            <a:endParaRPr lang="en-US" sz="900" dirty="0"/>
          </a:p>
        </p:txBody>
      </p:sp>
      <p:sp>
        <p:nvSpPr>
          <p:cNvPr id="171" name="Shape 167"/>
          <p:cNvSpPr/>
          <p:nvPr/>
        </p:nvSpPr>
        <p:spPr>
          <a:xfrm>
            <a:off x="4014216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4069080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+66.7% ⚠</a:t>
            </a:r>
            <a:endParaRPr lang="en-US" sz="900" dirty="0"/>
          </a:p>
        </p:txBody>
      </p:sp>
      <p:sp>
        <p:nvSpPr>
          <p:cNvPr id="173" name="Shape 169"/>
          <p:cNvSpPr/>
          <p:nvPr/>
        </p:nvSpPr>
        <p:spPr>
          <a:xfrm>
            <a:off x="4818888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4" name="Text 170"/>
          <p:cNvSpPr/>
          <p:nvPr/>
        </p:nvSpPr>
        <p:spPr>
          <a:xfrm>
            <a:off x="4873752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Behind ↓</a:t>
            </a:r>
            <a:endParaRPr lang="en-US" sz="900" dirty="0"/>
          </a:p>
        </p:txBody>
      </p:sp>
      <p:sp>
        <p:nvSpPr>
          <p:cNvPr id="175" name="Shape 171"/>
          <p:cNvSpPr/>
          <p:nvPr/>
        </p:nvSpPr>
        <p:spPr>
          <a:xfrm>
            <a:off x="137160" y="4704588"/>
            <a:ext cx="1463040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Text 172"/>
          <p:cNvSpPr/>
          <p:nvPr/>
        </p:nvSpPr>
        <p:spPr>
          <a:xfrm>
            <a:off x="192024" y="4704588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= Ending ARR</a:t>
            </a:r>
            <a:endParaRPr lang="en-US" sz="900" dirty="0"/>
          </a:p>
        </p:txBody>
      </p:sp>
      <p:sp>
        <p:nvSpPr>
          <p:cNvPr id="177" name="Shape 173"/>
          <p:cNvSpPr/>
          <p:nvPr/>
        </p:nvSpPr>
        <p:spPr>
          <a:xfrm>
            <a:off x="1600200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4"/>
          <p:cNvSpPr/>
          <p:nvPr/>
        </p:nvSpPr>
        <p:spPr>
          <a:xfrm>
            <a:off x="1655064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$12.8M</a:t>
            </a:r>
            <a:endParaRPr lang="en-US" sz="900" dirty="0"/>
          </a:p>
        </p:txBody>
      </p:sp>
      <p:sp>
        <p:nvSpPr>
          <p:cNvPr id="179" name="Shape 175"/>
          <p:cNvSpPr/>
          <p:nvPr/>
        </p:nvSpPr>
        <p:spPr>
          <a:xfrm>
            <a:off x="2404872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6"/>
          <p:cNvSpPr/>
          <p:nvPr/>
        </p:nvSpPr>
        <p:spPr>
          <a:xfrm>
            <a:off x="2459736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$14.1M</a:t>
            </a:r>
            <a:endParaRPr lang="en-US" sz="900" dirty="0"/>
          </a:p>
        </p:txBody>
      </p:sp>
      <p:sp>
        <p:nvSpPr>
          <p:cNvPr id="181" name="Shape 177"/>
          <p:cNvSpPr/>
          <p:nvPr/>
        </p:nvSpPr>
        <p:spPr>
          <a:xfrm>
            <a:off x="3209544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3264408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FD9"/>
                </a:solidFill>
              </a:rPr>
              <a:t>$15.6M</a:t>
            </a:r>
            <a:endParaRPr lang="en-US" sz="900" dirty="0"/>
          </a:p>
        </p:txBody>
      </p:sp>
      <p:sp>
        <p:nvSpPr>
          <p:cNvPr id="183" name="Shape 179"/>
          <p:cNvSpPr/>
          <p:nvPr/>
        </p:nvSpPr>
        <p:spPr>
          <a:xfrm>
            <a:off x="4014216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0"/>
          <p:cNvSpPr/>
          <p:nvPr/>
        </p:nvSpPr>
        <p:spPr>
          <a:xfrm>
            <a:off x="4069080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+10.6%</a:t>
            </a:r>
            <a:endParaRPr lang="en-US" sz="900" dirty="0"/>
          </a:p>
        </p:txBody>
      </p:sp>
      <p:sp>
        <p:nvSpPr>
          <p:cNvPr id="185" name="Shape 181"/>
          <p:cNvSpPr/>
          <p:nvPr/>
        </p:nvSpPr>
        <p:spPr>
          <a:xfrm>
            <a:off x="4818888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4873752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+4.2% 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SLIDE 3  ·  GTM Performance &amp; Customer Health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NovaCrest  |  Q3 2026 Board Review  |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March 31,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594360"/>
            <a:ext cx="64008" cy="7132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FD9"/>
                </a:solidFill>
              </a:rPr>
              <a:t>$8.6M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5176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Pipeline Generated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+21.1% QoQ  ·  Best ever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11096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594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28.4%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39112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Win 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39112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+2.3pp QoQ  ·  Enterprise improving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85032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85032" y="594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$42K ACV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813048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Avg Deal Size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13048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+10.5%  ·  Moving upmarket 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968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594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112%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586984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Quota Attainment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86984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+18pp vs Q2  ·  Q2 was 94%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32904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2904" y="594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68 days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360920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Sales Cycle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60920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-5.6% QoQ  ·  New demo flow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" y="1399032"/>
            <a:ext cx="416052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13990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CHANNEL PERFORMANCE  —  Q3 2026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37160" y="1618488"/>
            <a:ext cx="1097280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" y="161848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Channel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234440" y="1618488"/>
            <a:ext cx="658368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9304" y="161848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Pipeline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92808" y="1618488"/>
            <a:ext cx="658368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47672" y="161848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Deals Won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51176" y="1618488"/>
            <a:ext cx="594360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1618488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ACV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45536" y="1618488"/>
            <a:ext cx="594360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1618488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39896" y="1618488"/>
            <a:ext cx="1371600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94760" y="16184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Notes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37160" y="1874520"/>
            <a:ext cx="109728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2024" y="18745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Outbound SDR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234440" y="1874520"/>
            <a:ext cx="658368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89304" y="187452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$3.8M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92808" y="1874520"/>
            <a:ext cx="658368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47672" y="187452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18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51176" y="1874520"/>
            <a:ext cx="59436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1874520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$52K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145536" y="1874520"/>
            <a:ext cx="59436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0" y="1874520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$24.1K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39896" y="1874520"/>
            <a:ext cx="137160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1874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Scaled 4→6 SDRs in Q2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37160" y="213055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2024" y="2130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Inbound Marketing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234440" y="2130552"/>
            <a:ext cx="6583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9304" y="213055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$2.4M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92808" y="2130552"/>
            <a:ext cx="6583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47672" y="213055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551176" y="2130552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06040" y="213055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$34K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45536" y="2130552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0" y="213055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$12.8K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739896" y="21305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94760" y="21305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Content + paid search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37160" y="2386584"/>
            <a:ext cx="109728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2024" y="23865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Partner / Referral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234440" y="2386584"/>
            <a:ext cx="658368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289304" y="238658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$1.5M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892808" y="2386584"/>
            <a:ext cx="658368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47672" y="238658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551176" y="2386584"/>
            <a:ext cx="59436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06040" y="2386584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$68K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145536" y="2386584"/>
            <a:ext cx="59436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0" y="2386584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$8.4K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739896" y="2386584"/>
            <a:ext cx="137160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94760" y="23865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SAP + Siemens ramping ↑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37160" y="26426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92024" y="264261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TOTAL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234440" y="2642616"/>
            <a:ext cx="6583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89304" y="264261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$8.6M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892808" y="2642616"/>
            <a:ext cx="6583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47672" y="264261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45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551176" y="2642616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606040" y="264261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$42K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145536" y="2642616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0400" y="264261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$15.8K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739896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794760" y="26426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407408" y="1399032"/>
            <a:ext cx="4599432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80560" y="1399032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BLENDED CAC TREND  ($K)</a:t>
            </a:r>
            <a:endParaRPr lang="en-US" sz="800" dirty="0"/>
          </a:p>
        </p:txBody>
      </p:sp>
      <p:graphicFrame>
        <p:nvGraphicFramePr>
          <p:cNvPr id="99" name="Chart 0" descr=""/>
          <p:cNvGraphicFramePr/>
          <p:nvPr/>
        </p:nvGraphicFramePr>
        <p:xfrm>
          <a:off x="4407408" y="1618488"/>
          <a:ext cx="4599432" cy="1664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0" name="Shape 97"/>
          <p:cNvSpPr/>
          <p:nvPr/>
        </p:nvSpPr>
        <p:spPr>
          <a:xfrm>
            <a:off x="137160" y="2944368"/>
            <a:ext cx="53035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210312" y="29443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CHURN DEEP DIVE  —  $500K IN Q3  (+66% QoQ)  ·  58% PREVENTABLE</a:t>
            </a:r>
            <a:endParaRPr lang="en-US" sz="800" dirty="0"/>
          </a:p>
        </p:txBody>
      </p:sp>
      <p:sp>
        <p:nvSpPr>
          <p:cNvPr id="102" name="Shape 99"/>
          <p:cNvSpPr/>
          <p:nvPr/>
        </p:nvSpPr>
        <p:spPr>
          <a:xfrm>
            <a:off x="137160" y="3163824"/>
            <a:ext cx="1261872" cy="283464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92024" y="3163824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Account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1399032" y="3163824"/>
            <a:ext cx="749808" cy="283464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453896" y="3163824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Segment</a:t>
            </a:r>
            <a:endParaRPr lang="en-US" sz="900" dirty="0"/>
          </a:p>
        </p:txBody>
      </p:sp>
      <p:sp>
        <p:nvSpPr>
          <p:cNvPr id="106" name="Shape 103"/>
          <p:cNvSpPr/>
          <p:nvPr/>
        </p:nvSpPr>
        <p:spPr>
          <a:xfrm>
            <a:off x="2148840" y="3163824"/>
            <a:ext cx="594360" cy="283464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203704" y="3163824"/>
            <a:ext cx="521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ARR Lost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2743200" y="3163824"/>
            <a:ext cx="2212848" cy="283464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98064" y="3163824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Reason</a:t>
            </a:r>
            <a:endParaRPr lang="en-US" sz="900" dirty="0"/>
          </a:p>
        </p:txBody>
      </p:sp>
      <p:sp>
        <p:nvSpPr>
          <p:cNvPr id="110" name="Shape 107"/>
          <p:cNvSpPr/>
          <p:nvPr/>
        </p:nvSpPr>
        <p:spPr>
          <a:xfrm>
            <a:off x="4956048" y="3163824"/>
            <a:ext cx="1097280" cy="283464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010912" y="3163824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Preventable?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137160" y="3447288"/>
            <a:ext cx="1261872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92024" y="344728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Apex Manufacturing</a:t>
            </a:r>
            <a:endParaRPr lang="en-US" sz="900" dirty="0"/>
          </a:p>
        </p:txBody>
      </p:sp>
      <p:sp>
        <p:nvSpPr>
          <p:cNvPr id="114" name="Shape 111"/>
          <p:cNvSpPr/>
          <p:nvPr/>
        </p:nvSpPr>
        <p:spPr>
          <a:xfrm>
            <a:off x="1399032" y="3447288"/>
            <a:ext cx="749808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453896" y="3447288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Enterprise</a:t>
            </a:r>
            <a:endParaRPr lang="en-US" sz="900" dirty="0"/>
          </a:p>
        </p:txBody>
      </p:sp>
      <p:sp>
        <p:nvSpPr>
          <p:cNvPr id="116" name="Shape 113"/>
          <p:cNvSpPr/>
          <p:nvPr/>
        </p:nvSpPr>
        <p:spPr>
          <a:xfrm>
            <a:off x="2148840" y="3447288"/>
            <a:ext cx="59436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2203704" y="3447288"/>
            <a:ext cx="521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$145K</a:t>
            </a:r>
            <a:endParaRPr lang="en-US" sz="900" dirty="0"/>
          </a:p>
        </p:txBody>
      </p:sp>
      <p:sp>
        <p:nvSpPr>
          <p:cNvPr id="118" name="Shape 115"/>
          <p:cNvSpPr/>
          <p:nvPr/>
        </p:nvSpPr>
        <p:spPr>
          <a:xfrm>
            <a:off x="2743200" y="3447288"/>
            <a:ext cx="2212848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2798064" y="3447288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Acquired — contract not renewed post-M&amp;A</a:t>
            </a:r>
            <a:endParaRPr lang="en-US" sz="900" dirty="0"/>
          </a:p>
        </p:txBody>
      </p:sp>
      <p:sp>
        <p:nvSpPr>
          <p:cNvPr id="120" name="Shape 117"/>
          <p:cNvSpPr/>
          <p:nvPr/>
        </p:nvSpPr>
        <p:spPr>
          <a:xfrm>
            <a:off x="4956048" y="3447288"/>
            <a:ext cx="10972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5010912" y="344728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</a:t>
            </a:r>
            <a:endParaRPr lang="en-US" sz="900" dirty="0"/>
          </a:p>
        </p:txBody>
      </p:sp>
      <p:sp>
        <p:nvSpPr>
          <p:cNvPr id="122" name="Shape 119"/>
          <p:cNvSpPr/>
          <p:nvPr/>
        </p:nvSpPr>
        <p:spPr>
          <a:xfrm>
            <a:off x="137160" y="3730752"/>
            <a:ext cx="12618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192024" y="373075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 SMB accounts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1399032" y="3730752"/>
            <a:ext cx="749808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453896" y="373075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SMB</a:t>
            </a:r>
            <a:endParaRPr lang="en-US" sz="900" dirty="0"/>
          </a:p>
        </p:txBody>
      </p:sp>
      <p:sp>
        <p:nvSpPr>
          <p:cNvPr id="126" name="Shape 123"/>
          <p:cNvSpPr/>
          <p:nvPr/>
        </p:nvSpPr>
        <p:spPr>
          <a:xfrm>
            <a:off x="2148840" y="3730752"/>
            <a:ext cx="594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2203704" y="3730752"/>
            <a:ext cx="521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$118K</a:t>
            </a:r>
            <a:endParaRPr lang="en-US" sz="900" dirty="0"/>
          </a:p>
        </p:txBody>
      </p:sp>
      <p:sp>
        <p:nvSpPr>
          <p:cNvPr id="128" name="Shape 125"/>
          <p:cNvSpPr/>
          <p:nvPr/>
        </p:nvSpPr>
        <p:spPr>
          <a:xfrm>
            <a:off x="2743200" y="3730752"/>
            <a:ext cx="2212848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2798064" y="3730752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Price sensitivity; 3→DataForge, 1 went OOB</a:t>
            </a:r>
            <a:endParaRPr lang="en-US" sz="900" dirty="0"/>
          </a:p>
        </p:txBody>
      </p:sp>
      <p:sp>
        <p:nvSpPr>
          <p:cNvPr id="130" name="Shape 127"/>
          <p:cNvSpPr/>
          <p:nvPr/>
        </p:nvSpPr>
        <p:spPr>
          <a:xfrm>
            <a:off x="4956048" y="3730752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5010912" y="3730752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Yes — 2-3 saveable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137160" y="4014216"/>
            <a:ext cx="1261872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192024" y="4014216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TechFab Solutions</a:t>
            </a:r>
            <a:endParaRPr lang="en-US" sz="900" dirty="0"/>
          </a:p>
        </p:txBody>
      </p:sp>
      <p:sp>
        <p:nvSpPr>
          <p:cNvPr id="134" name="Shape 131"/>
          <p:cNvSpPr/>
          <p:nvPr/>
        </p:nvSpPr>
        <p:spPr>
          <a:xfrm>
            <a:off x="1399032" y="4014216"/>
            <a:ext cx="749808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1453896" y="4014216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Mid-Market</a:t>
            </a:r>
            <a:endParaRPr lang="en-US" sz="900" dirty="0"/>
          </a:p>
        </p:txBody>
      </p:sp>
      <p:sp>
        <p:nvSpPr>
          <p:cNvPr id="136" name="Shape 133"/>
          <p:cNvSpPr/>
          <p:nvPr/>
        </p:nvSpPr>
        <p:spPr>
          <a:xfrm>
            <a:off x="2148840" y="4014216"/>
            <a:ext cx="59436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2203704" y="4014216"/>
            <a:ext cx="521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$48K</a:t>
            </a:r>
            <a:endParaRPr lang="en-US" sz="900" dirty="0"/>
          </a:p>
        </p:txBody>
      </p:sp>
      <p:sp>
        <p:nvSpPr>
          <p:cNvPr id="138" name="Shape 135"/>
          <p:cNvSpPr/>
          <p:nvPr/>
        </p:nvSpPr>
        <p:spPr>
          <a:xfrm>
            <a:off x="2743200" y="4014216"/>
            <a:ext cx="2212848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2798064" y="4014216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Poor implementation; never achieved time-to-value</a:t>
            </a:r>
            <a:endParaRPr lang="en-US" sz="900" dirty="0"/>
          </a:p>
        </p:txBody>
      </p:sp>
      <p:sp>
        <p:nvSpPr>
          <p:cNvPr id="140" name="Shape 137"/>
          <p:cNvSpPr/>
          <p:nvPr/>
        </p:nvSpPr>
        <p:spPr>
          <a:xfrm>
            <a:off x="4956048" y="4014216"/>
            <a:ext cx="10972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5010912" y="401421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Yes — CS failure</a:t>
            </a:r>
            <a:endParaRPr lang="en-US" sz="900" dirty="0"/>
          </a:p>
        </p:txBody>
      </p:sp>
      <p:sp>
        <p:nvSpPr>
          <p:cNvPr id="142" name="Shape 139"/>
          <p:cNvSpPr/>
          <p:nvPr/>
        </p:nvSpPr>
        <p:spPr>
          <a:xfrm>
            <a:off x="137160" y="4297680"/>
            <a:ext cx="12618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92024" y="4297680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 SMB accounts</a:t>
            </a:r>
            <a:endParaRPr lang="en-US" sz="900" dirty="0"/>
          </a:p>
        </p:txBody>
      </p:sp>
      <p:sp>
        <p:nvSpPr>
          <p:cNvPr id="144" name="Shape 141"/>
          <p:cNvSpPr/>
          <p:nvPr/>
        </p:nvSpPr>
        <p:spPr>
          <a:xfrm>
            <a:off x="1399032" y="4297680"/>
            <a:ext cx="749808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453896" y="4297680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SMB</a:t>
            </a:r>
            <a:endParaRPr lang="en-US" sz="900" dirty="0"/>
          </a:p>
        </p:txBody>
      </p:sp>
      <p:sp>
        <p:nvSpPr>
          <p:cNvPr id="146" name="Shape 143"/>
          <p:cNvSpPr/>
          <p:nvPr/>
        </p:nvSpPr>
        <p:spPr>
          <a:xfrm>
            <a:off x="2148840" y="4297680"/>
            <a:ext cx="594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2203704" y="4297680"/>
            <a:ext cx="521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$82K</a:t>
            </a:r>
            <a:endParaRPr lang="en-US" sz="900" dirty="0"/>
          </a:p>
        </p:txBody>
      </p:sp>
      <p:sp>
        <p:nvSpPr>
          <p:cNvPr id="148" name="Shape 145"/>
          <p:cNvSpPr/>
          <p:nvPr/>
        </p:nvSpPr>
        <p:spPr>
          <a:xfrm>
            <a:off x="2743200" y="4297680"/>
            <a:ext cx="2212848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2798064" y="4297680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Low usage (&lt;10% adoption); never onboarded</a:t>
            </a:r>
            <a:endParaRPr lang="en-US" sz="900" dirty="0"/>
          </a:p>
        </p:txBody>
      </p:sp>
      <p:sp>
        <p:nvSpPr>
          <p:cNvPr id="150" name="Shape 147"/>
          <p:cNvSpPr/>
          <p:nvPr/>
        </p:nvSpPr>
        <p:spPr>
          <a:xfrm>
            <a:off x="4956048" y="429768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010912" y="429768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Yes — onboarding gap</a:t>
            </a:r>
            <a:endParaRPr lang="en-US" sz="900" dirty="0"/>
          </a:p>
        </p:txBody>
      </p:sp>
      <p:sp>
        <p:nvSpPr>
          <p:cNvPr id="152" name="Shape 149"/>
          <p:cNvSpPr/>
          <p:nvPr/>
        </p:nvSpPr>
        <p:spPr>
          <a:xfrm>
            <a:off x="137160" y="4581144"/>
            <a:ext cx="1261872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192024" y="4581144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TOTAL / PREVENTABLE</a:t>
            </a:r>
            <a:endParaRPr lang="en-US" sz="900" dirty="0"/>
          </a:p>
        </p:txBody>
      </p:sp>
      <p:sp>
        <p:nvSpPr>
          <p:cNvPr id="154" name="Shape 151"/>
          <p:cNvSpPr/>
          <p:nvPr/>
        </p:nvSpPr>
        <p:spPr>
          <a:xfrm>
            <a:off x="1399032" y="4581144"/>
            <a:ext cx="749808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453896" y="4581144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56" name="Shape 153"/>
          <p:cNvSpPr/>
          <p:nvPr/>
        </p:nvSpPr>
        <p:spPr>
          <a:xfrm>
            <a:off x="2148840" y="4581144"/>
            <a:ext cx="59436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2203704" y="4581144"/>
            <a:ext cx="521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$500K</a:t>
            </a:r>
            <a:endParaRPr lang="en-US" sz="900" dirty="0"/>
          </a:p>
        </p:txBody>
      </p:sp>
      <p:sp>
        <p:nvSpPr>
          <p:cNvPr id="158" name="Shape 155"/>
          <p:cNvSpPr/>
          <p:nvPr/>
        </p:nvSpPr>
        <p:spPr>
          <a:xfrm>
            <a:off x="2743200" y="4581144"/>
            <a:ext cx="2212848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2798064" y="4581144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$290K of $500K (58%) preventable</a:t>
            </a:r>
            <a:endParaRPr lang="en-US" sz="900" dirty="0"/>
          </a:p>
        </p:txBody>
      </p:sp>
      <p:sp>
        <p:nvSpPr>
          <p:cNvPr id="160" name="Shape 157"/>
          <p:cNvSpPr/>
          <p:nvPr/>
        </p:nvSpPr>
        <p:spPr>
          <a:xfrm>
            <a:off x="4956048" y="4581144"/>
            <a:ext cx="10972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010912" y="4581144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$290K recoverable</a:t>
            </a:r>
            <a:endParaRPr lang="en-US" sz="900" dirty="0"/>
          </a:p>
        </p:txBody>
      </p:sp>
      <p:sp>
        <p:nvSpPr>
          <p:cNvPr id="162" name="Shape 159"/>
          <p:cNvSpPr/>
          <p:nvPr/>
        </p:nvSpPr>
        <p:spPr>
          <a:xfrm>
            <a:off x="5577840" y="2944368"/>
            <a:ext cx="342900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5650992" y="29443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AT-RISK ACCOUNTS  —  Q4 WATCH LIST</a:t>
            </a:r>
            <a:endParaRPr lang="en-US" sz="800" dirty="0"/>
          </a:p>
        </p:txBody>
      </p:sp>
      <p:sp>
        <p:nvSpPr>
          <p:cNvPr id="164" name="Shape 161"/>
          <p:cNvSpPr/>
          <p:nvPr/>
        </p:nvSpPr>
        <p:spPr>
          <a:xfrm>
            <a:off x="5577840" y="3163824"/>
            <a:ext cx="86868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632704" y="3163824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Account</a:t>
            </a:r>
            <a:endParaRPr lang="en-US" sz="900" dirty="0"/>
          </a:p>
        </p:txBody>
      </p:sp>
      <p:sp>
        <p:nvSpPr>
          <p:cNvPr id="166" name="Shape 163"/>
          <p:cNvSpPr/>
          <p:nvPr/>
        </p:nvSpPr>
        <p:spPr>
          <a:xfrm>
            <a:off x="6446520" y="3163824"/>
            <a:ext cx="50292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6501384" y="316382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ARR</a:t>
            </a:r>
            <a:endParaRPr lang="en-US" sz="900" dirty="0"/>
          </a:p>
        </p:txBody>
      </p:sp>
      <p:sp>
        <p:nvSpPr>
          <p:cNvPr id="168" name="Shape 165"/>
          <p:cNvSpPr/>
          <p:nvPr/>
        </p:nvSpPr>
        <p:spPr>
          <a:xfrm>
            <a:off x="6949440" y="3163824"/>
            <a:ext cx="155448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7004304" y="31638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Risk Signal</a:t>
            </a:r>
            <a:endParaRPr lang="en-US" sz="900" dirty="0"/>
          </a:p>
        </p:txBody>
      </p:sp>
      <p:sp>
        <p:nvSpPr>
          <p:cNvPr id="170" name="Shape 167"/>
          <p:cNvSpPr/>
          <p:nvPr/>
        </p:nvSpPr>
        <p:spPr>
          <a:xfrm>
            <a:off x="8503920" y="3163824"/>
            <a:ext cx="502920" cy="36576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8558784" y="316382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Owner</a:t>
            </a:r>
            <a:endParaRPr lang="en-US" sz="900" dirty="0"/>
          </a:p>
        </p:txBody>
      </p:sp>
      <p:sp>
        <p:nvSpPr>
          <p:cNvPr id="172" name="Shape 169"/>
          <p:cNvSpPr/>
          <p:nvPr/>
        </p:nvSpPr>
        <p:spPr>
          <a:xfrm>
            <a:off x="5577840" y="3529584"/>
            <a:ext cx="8686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5632704" y="3529584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Sterling Industries</a:t>
            </a:r>
            <a:endParaRPr lang="en-US" sz="900" dirty="0"/>
          </a:p>
        </p:txBody>
      </p:sp>
      <p:sp>
        <p:nvSpPr>
          <p:cNvPr id="174" name="Shape 171"/>
          <p:cNvSpPr/>
          <p:nvPr/>
        </p:nvSpPr>
        <p:spPr>
          <a:xfrm>
            <a:off x="6446520" y="3529584"/>
            <a:ext cx="5029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6501384" y="352958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$210K</a:t>
            </a:r>
            <a:endParaRPr lang="en-US" sz="900" dirty="0"/>
          </a:p>
        </p:txBody>
      </p:sp>
      <p:sp>
        <p:nvSpPr>
          <p:cNvPr id="176" name="Shape 173"/>
          <p:cNvSpPr/>
          <p:nvPr/>
        </p:nvSpPr>
        <p:spPr>
          <a:xfrm>
            <a:off x="6949440" y="3529584"/>
            <a:ext cx="15544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7004304" y="352958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Champion left; new VP evaluating alternatives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8503920" y="3529584"/>
            <a:ext cx="5029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8558784" y="352958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R. Torres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5577840" y="3895344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632704" y="3895344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ClearPath Systems</a:t>
            </a:r>
            <a:endParaRPr lang="en-US" sz="900" dirty="0"/>
          </a:p>
        </p:txBody>
      </p:sp>
      <p:sp>
        <p:nvSpPr>
          <p:cNvPr id="182" name="Shape 179"/>
          <p:cNvSpPr/>
          <p:nvPr/>
        </p:nvSpPr>
        <p:spPr>
          <a:xfrm>
            <a:off x="6446520" y="3895344"/>
            <a:ext cx="502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6501384" y="389534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$72K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6949440" y="3895344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7004304" y="389534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Renewal in 60 days; competitor POC underway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8503920" y="3895344"/>
            <a:ext cx="502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8558784" y="389534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D. Park</a:t>
            </a:r>
            <a:endParaRPr lang="en-US" sz="900" dirty="0"/>
          </a:p>
        </p:txBody>
      </p:sp>
      <p:sp>
        <p:nvSpPr>
          <p:cNvPr id="188" name="Shape 185"/>
          <p:cNvSpPr/>
          <p:nvPr/>
        </p:nvSpPr>
        <p:spPr>
          <a:xfrm>
            <a:off x="5577840" y="4261104"/>
            <a:ext cx="8686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5632704" y="4261104"/>
            <a:ext cx="79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Midwest Components</a:t>
            </a:r>
            <a:endParaRPr lang="en-US" sz="900" dirty="0"/>
          </a:p>
        </p:txBody>
      </p:sp>
      <p:sp>
        <p:nvSpPr>
          <p:cNvPr id="190" name="Shape 187"/>
          <p:cNvSpPr/>
          <p:nvPr/>
        </p:nvSpPr>
        <p:spPr>
          <a:xfrm>
            <a:off x="6446520" y="4261104"/>
            <a:ext cx="5029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6501384" y="426110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$58K</a:t>
            </a:r>
            <a:endParaRPr lang="en-US" sz="900" dirty="0"/>
          </a:p>
        </p:txBody>
      </p:sp>
      <p:sp>
        <p:nvSpPr>
          <p:cNvPr id="192" name="Shape 189"/>
          <p:cNvSpPr/>
          <p:nvPr/>
        </p:nvSpPr>
        <p:spPr>
          <a:xfrm>
            <a:off x="6949440" y="4261104"/>
            <a:ext cx="15544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7004304" y="426110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Usage -40% Aug; tickets 3x — CS engaged</a:t>
            </a:r>
            <a:endParaRPr lang="en-US" sz="900" dirty="0"/>
          </a:p>
        </p:txBody>
      </p:sp>
      <p:sp>
        <p:nvSpPr>
          <p:cNvPr id="194" name="Shape 191"/>
          <p:cNvSpPr/>
          <p:nvPr/>
        </p:nvSpPr>
        <p:spPr>
          <a:xfrm>
            <a:off x="8503920" y="4261104"/>
            <a:ext cx="5029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8558784" y="426110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J. Lin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SLIDE 4  ·  Product &amp; Engineering / Team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Q3 2026 Shipped · Q4 Roadmap · Headcount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NovaCrest  |  Q3 2026 Board Review  |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March 31,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594360"/>
            <a:ext cx="50292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" y="5943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Q3 SHIPPED FEATURES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" y="813816"/>
            <a:ext cx="1554480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" y="8138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813816"/>
            <a:ext cx="1874520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46504" y="8138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30-Day Adoption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813816"/>
            <a:ext cx="1645920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8138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Revenue Signal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1106424"/>
            <a:ext cx="155448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" y="11064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Predictive Maintenance v2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91640" y="1106424"/>
            <a:ext cx="1874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46504" y="110642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67% of enterprise accounts enabled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66160" y="1106424"/>
            <a:ext cx="16459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106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$1.2M pipeline; 3 deals cite directly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1399032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" y="13990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Self-Serve Dashboard Builder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1399032"/>
            <a:ext cx="1874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46504" y="139903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340 dashboards by 89 accounts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1399032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13990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CS ticket volume -18%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" y="1691640"/>
            <a:ext cx="155448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" y="1691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E7FD9"/>
                </a:solidFill>
              </a:rPr>
              <a:t>SAP Integration (native)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91640" y="1691640"/>
            <a:ext cx="1874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46504" y="169164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 connected; 8 in progress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1691640"/>
            <a:ext cx="16459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1024" y="1691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FD9"/>
                </a:solidFill>
              </a:rPr>
              <a:t>Partner channel accelerant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1984248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" y="19842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SOC 2 Type II ✓  (cert 8/15)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91640" y="1984248"/>
            <a:ext cx="1874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46504" y="1984248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N/A — compliance milestone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66160" y="1984248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1024" y="19842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Unblocked 4 deals ($380K pipeline)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7160" y="2331720"/>
            <a:ext cx="50292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" y="2331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Q4 ROADMAP PRIORITIES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37160" y="2551176"/>
            <a:ext cx="320040" cy="2697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024" y="2551176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551176"/>
            <a:ext cx="1828800" cy="2697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2551176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0" y="2551176"/>
            <a:ext cx="1234440" cy="2697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40864" y="2551176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520440" y="2551176"/>
            <a:ext cx="1691640" cy="2697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75304" y="2551176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 Impact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7160" y="2820924"/>
            <a:ext cx="3200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" y="2820924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2820924"/>
            <a:ext cx="182880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" y="2820924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Multi-tenant analytics (enterprise isolation)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0" y="2820924"/>
            <a:ext cx="12344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40864" y="2820924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 dev — 60%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520440" y="2820924"/>
            <a:ext cx="16916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75304" y="2820924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2 deals $200K+ blocked on this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7160" y="3090672"/>
            <a:ext cx="3200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2024" y="3090672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3090672"/>
            <a:ext cx="182880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" y="3090672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Siemens MindSphere integration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286000" y="3090672"/>
            <a:ext cx="12344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40864" y="3090672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Design done; dev starting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520440" y="3090672"/>
            <a:ext cx="16916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75304" y="3090672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Opens $4M TAM in industrial IoT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37160" y="3360420"/>
            <a:ext cx="3200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2024" y="3360420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360420"/>
            <a:ext cx="182880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" y="3360420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Usage-based pricing tier (SMB)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286000" y="3360420"/>
            <a:ext cx="12344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40864" y="3360420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Spec complete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520440" y="3360420"/>
            <a:ext cx="16916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75304" y="3360420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Addresses 58% of preventable churn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37160" y="3630168"/>
            <a:ext cx="3200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2024" y="3630168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3630168"/>
            <a:ext cx="182880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2064" y="3630168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Customer health score dashboard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286000" y="3630168"/>
            <a:ext cx="12344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40864" y="3630168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Prototype built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520440" y="3630168"/>
            <a:ext cx="16916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575304" y="3630168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Early warning for at-risk accounts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37160" y="3899916"/>
            <a:ext cx="3200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92024" y="3899916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3899916"/>
            <a:ext cx="182880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2064" y="3899916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Mobile app (read-only dashboards)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286000" y="3899916"/>
            <a:ext cx="12344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40864" y="3899916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Scoping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520440" y="3899916"/>
            <a:ext cx="16916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75304" y="3899916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Frequently requested; low revenue impact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303520" y="594360"/>
            <a:ext cx="370332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76672" y="594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HEADCOUNT BY FUNCTION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303520" y="813816"/>
            <a:ext cx="1298448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58384" y="813816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Function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601968" y="813816"/>
            <a:ext cx="502920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56832" y="81381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104888" y="813816"/>
            <a:ext cx="502920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59752" y="81381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607808" y="813816"/>
            <a:ext cx="502920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662672" y="81381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Open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110728" y="813816"/>
            <a:ext cx="804672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165592" y="81381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 Target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303520" y="1078992"/>
            <a:ext cx="129844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58384" y="1078992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Engineering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601968" y="1078992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656832" y="107899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42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104888" y="1078992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59752" y="107899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46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7607808" y="1078992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662672" y="107899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8110728" y="1078992"/>
            <a:ext cx="8046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165592" y="107899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50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303520" y="1344168"/>
            <a:ext cx="12984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358384" y="1344168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Product &amp; Design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601968" y="134416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656832" y="134416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7104888" y="134416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59752" y="134416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7607808" y="134416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62672" y="134416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8110728" y="1344168"/>
            <a:ext cx="8046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165592" y="134416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303520" y="1609344"/>
            <a:ext cx="129844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358384" y="1609344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Sales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6601968" y="1609344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656832" y="1609344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18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7104888" y="1609344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59752" y="1609344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22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7607808" y="1609344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662672" y="1609344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110728" y="1609344"/>
            <a:ext cx="8046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165592" y="160934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25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303520" y="1874520"/>
            <a:ext cx="12984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358384" y="1874520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Customer Success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6601968" y="1874520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656832" y="1874520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7104888" y="1874520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159752" y="1874520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14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7607808" y="1874520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62672" y="1874520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8110728" y="1874520"/>
            <a:ext cx="8046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165592" y="187452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16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5303520" y="2139696"/>
            <a:ext cx="129844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358384" y="2139696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Marketing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601968" y="2139696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56832" y="213969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7104888" y="2139696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159752" y="213969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7607808" y="2139696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662672" y="213969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8110728" y="2139696"/>
            <a:ext cx="8046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165592" y="213969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5303520" y="2404872"/>
            <a:ext cx="12984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358384" y="2404872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G&amp;A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6601968" y="2404872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656832" y="240487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7104888" y="2404872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159752" y="240487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7607808" y="2404872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662672" y="240487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8110728" y="2404872"/>
            <a:ext cx="8046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165592" y="240487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13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5303520" y="2670048"/>
            <a:ext cx="129844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358384" y="2670048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TOTAL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6601968" y="2670048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656832" y="267004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98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7104888" y="2670048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159752" y="267004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112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7607808" y="2670048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662672" y="267004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12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8110728" y="2670048"/>
            <a:ext cx="8046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165592" y="267004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124</a:t>
            </a:r>
            <a:endParaRPr lang="en-US" sz="900" dirty="0"/>
          </a:p>
        </p:txBody>
      </p:sp>
      <p:graphicFrame>
        <p:nvGraphicFramePr>
          <p:cNvPr id="174" name="Chart 0" descr=""/>
          <p:cNvGraphicFramePr/>
          <p:nvPr/>
        </p:nvGraphicFramePr>
        <p:xfrm>
          <a:off x="5303520" y="2980944"/>
          <a:ext cx="37033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5" name="Shape 172"/>
          <p:cNvSpPr/>
          <p:nvPr/>
        </p:nvSpPr>
        <p:spPr>
          <a:xfrm>
            <a:off x="137160" y="3721608"/>
            <a:ext cx="50292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210312" y="37216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KEY HIRES — Q3 2026</a:t>
            </a:r>
            <a:endParaRPr lang="en-US" sz="800" dirty="0"/>
          </a:p>
        </p:txBody>
      </p:sp>
      <p:sp>
        <p:nvSpPr>
          <p:cNvPr id="177" name="Shape 174"/>
          <p:cNvSpPr/>
          <p:nvPr/>
        </p:nvSpPr>
        <p:spPr>
          <a:xfrm>
            <a:off x="137160" y="3739896"/>
            <a:ext cx="1344168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192024" y="37398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179" name="Shape 176"/>
          <p:cNvSpPr/>
          <p:nvPr/>
        </p:nvSpPr>
        <p:spPr>
          <a:xfrm>
            <a:off x="1481328" y="3739896"/>
            <a:ext cx="2103120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1536192" y="373989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Background</a:t>
            </a:r>
            <a:endParaRPr lang="en-US" sz="900" dirty="0"/>
          </a:p>
        </p:txBody>
      </p:sp>
      <p:sp>
        <p:nvSpPr>
          <p:cNvPr id="181" name="Shape 178"/>
          <p:cNvSpPr/>
          <p:nvPr/>
        </p:nvSpPr>
        <p:spPr>
          <a:xfrm>
            <a:off x="3584448" y="3739896"/>
            <a:ext cx="1581912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3639312" y="373989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Focus</a:t>
            </a:r>
            <a:endParaRPr lang="en-US" sz="900" dirty="0"/>
          </a:p>
        </p:txBody>
      </p:sp>
      <p:sp>
        <p:nvSpPr>
          <p:cNvPr id="183" name="Shape 180"/>
          <p:cNvSpPr/>
          <p:nvPr/>
        </p:nvSpPr>
        <p:spPr>
          <a:xfrm>
            <a:off x="137160" y="4032504"/>
            <a:ext cx="1344168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192024" y="403250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VP Customer Success (9/1)</a:t>
            </a:r>
            <a:endParaRPr lang="en-US" sz="900" dirty="0"/>
          </a:p>
        </p:txBody>
      </p:sp>
      <p:sp>
        <p:nvSpPr>
          <p:cNvPr id="185" name="Shape 182"/>
          <p:cNvSpPr/>
          <p:nvPr/>
        </p:nvSpPr>
        <p:spPr>
          <a:xfrm>
            <a:off x="1481328" y="4032504"/>
            <a:ext cx="21031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1536192" y="403250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Previously at Datadog — built CS org from 20→80</a:t>
            </a:r>
            <a:endParaRPr lang="en-US" sz="900" dirty="0"/>
          </a:p>
        </p:txBody>
      </p:sp>
      <p:sp>
        <p:nvSpPr>
          <p:cNvPr id="187" name="Shape 184"/>
          <p:cNvSpPr/>
          <p:nvPr/>
        </p:nvSpPr>
        <p:spPr>
          <a:xfrm>
            <a:off x="3584448" y="4032504"/>
            <a:ext cx="1581912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3639312" y="40325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Own churn reduction; build SMB onboarding motion</a:t>
            </a:r>
            <a:endParaRPr lang="en-US" sz="900" dirty="0"/>
          </a:p>
        </p:txBody>
      </p:sp>
      <p:sp>
        <p:nvSpPr>
          <p:cNvPr id="189" name="Shape 186"/>
          <p:cNvSpPr/>
          <p:nvPr/>
        </p:nvSpPr>
        <p:spPr>
          <a:xfrm>
            <a:off x="137160" y="4325112"/>
            <a:ext cx="134416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192024" y="43251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Head of Partnerships (8/15)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1481328" y="4325112"/>
            <a:ext cx="2103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1536192" y="432511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Previously at Siemens — owns SAP + Siemens channel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3584448" y="4325112"/>
            <a:ext cx="15819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3639312" y="43251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FD9"/>
                </a:solidFill>
              </a:rPr>
              <a:t>Accelerate partner pipeline ($1.5M → $5M target)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137160" y="4617720"/>
            <a:ext cx="1344168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192024" y="461772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 Senior ML Engineers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1481328" y="4617720"/>
            <a:ext cx="21031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1536192" y="461772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PhD hires from Georgia Tech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3584448" y="4617720"/>
            <a:ext cx="1581912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3639312" y="4617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Predictive Maintenance v3; model accuracy roadmap</a:t>
            </a:r>
            <a:endParaRPr lang="en-US" sz="900" dirty="0"/>
          </a:p>
        </p:txBody>
      </p:sp>
      <p:sp>
        <p:nvSpPr>
          <p:cNvPr id="201" name="Text 198"/>
          <p:cNvSpPr/>
          <p:nvPr/>
        </p:nvSpPr>
        <p:spPr>
          <a:xfrm>
            <a:off x="137160" y="48874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⚠  Q3 Attrition: 6 departures (5.4% quarterly) — 3 engineering to FAANG. Comp bands adjusted +12% for senior engineers.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SLIDE 5  ·  Financial Outlook &amp; Competitive Landscape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FY2026E / Cash Position / Market Dynamics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NovaCrest  |  Q3 2026 Board Review  |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March 31,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594360"/>
            <a:ext cx="530352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" y="5943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P&amp;L SUMMARY  ($K)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" y="813816"/>
            <a:ext cx="1261872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" y="813816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Line Item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99032" y="813816"/>
            <a:ext cx="74980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3896" y="81381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813816"/>
            <a:ext cx="74980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3704" y="81381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98648" y="813816"/>
            <a:ext cx="74980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81381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48456" y="813816"/>
            <a:ext cx="65836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813816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YoY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06824" y="813816"/>
            <a:ext cx="74980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1688" y="81381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FY2026E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1068019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" y="1068019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Revenue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99032" y="1068019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106801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$3,400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48840" y="1068019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3704" y="106801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$3,700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98648" y="1068019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106801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$4,100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48456" y="1068019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1068019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+64%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06824" y="1068019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61688" y="106801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$15,400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1322222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" y="1322222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99032" y="132222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53896" y="132222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($740)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48840" y="132222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03704" y="132222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($830)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98648" y="132222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53512" y="132222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($890)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48456" y="1322222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1322222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+52%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06824" y="132222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61688" y="132222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($3,340)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37160" y="1576426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" y="1576426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Gross Profit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99032" y="1576426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53896" y="157642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$2,660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48840" y="1576426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03704" y="157642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$2,870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898648" y="1576426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53512" y="157642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$3,210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48456" y="1576426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03320" y="1576426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+68%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06824" y="1576426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61688" y="157642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$12,060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7160" y="1830629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2024" y="1830629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Gross Margin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399032" y="1830629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53896" y="183062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78.2%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148840" y="1830629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03704" y="183062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77.6%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898648" y="1830629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53512" y="183062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78.3%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48456" y="1830629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03320" y="1830629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+2.1pp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306824" y="1830629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61688" y="183062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78.3%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37160" y="2084832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2024" y="2084832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S&amp;M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399032" y="2084832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53896" y="208483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($1,420)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148840" y="2084832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03704" y="208483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($1,580)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898648" y="2084832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53512" y="208483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($1,720)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648456" y="2084832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03320" y="2084832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+48%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306824" y="2084832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61688" y="208483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($6,480)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37160" y="2339035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92024" y="2339035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R&amp;D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399032" y="2339035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453896" y="233903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($1,340)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148840" y="2339035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203704" y="233903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($1,480)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898648" y="2339035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53512" y="233903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($1,620)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648456" y="2339035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03320" y="2339035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+55%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306824" y="2339035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61688" y="233903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($6,040)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37160" y="2593238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2024" y="2593238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G&amp;A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399032" y="2593238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453896" y="259323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($480)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148840" y="2593238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03704" y="259323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($510)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898648" y="2593238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953512" y="259323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($540)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648456" y="2593238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03320" y="2593238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+38%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306824" y="2593238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61688" y="259323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($2,060)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37160" y="2847442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92024" y="2847442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Total OpEx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399032" y="284744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453896" y="284744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($3,240)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148840" y="284744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203704" y="284744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($3,570)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898648" y="284744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953512" y="284744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($3,880)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648456" y="2847442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703320" y="2847442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+50%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306824" y="284744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361688" y="284744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($14,580)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137160" y="3101645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2024" y="3101645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Net Income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399032" y="3101645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453896" y="310164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($580)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148840" y="3101645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203704" y="310164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($700)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898648" y="3101645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953512" y="310164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($670)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648456" y="3101645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703320" y="3101645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Improving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306824" y="3101645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361688" y="310164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($2,520)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137160" y="3355848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92024" y="3355848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Monthly Burn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1399032" y="3355848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453896" y="335584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$193K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2148840" y="3355848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203704" y="335584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$233K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2898648" y="3355848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953512" y="335584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$223K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648456" y="3355848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703320" y="3355848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4306824" y="3355848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361688" y="335584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137160" y="3657600"/>
            <a:ext cx="530352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10312" y="36576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CASH POSITION &amp; EFFICIENCY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137160" y="3877056"/>
            <a:ext cx="1252728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387705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65176" y="3950208"/>
            <a:ext cx="10881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$18.2M</a:t>
            </a:r>
            <a:endParaRPr lang="en-US" sz="2100" dirty="0"/>
          </a:p>
        </p:txBody>
      </p:sp>
      <p:sp>
        <p:nvSpPr>
          <p:cNvPr id="149" name="Text 147"/>
          <p:cNvSpPr/>
          <p:nvPr/>
        </p:nvSpPr>
        <p:spPr>
          <a:xfrm>
            <a:off x="265176" y="4247937"/>
            <a:ext cx="1088136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Cash on Hand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265176" y="4404848"/>
            <a:ext cx="1088136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Series B $32M (Mar 2025)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1463040" y="3877056"/>
            <a:ext cx="1252728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463040" y="3877056"/>
            <a:ext cx="64008" cy="7132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591056" y="3950208"/>
            <a:ext cx="10881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FD9"/>
                </a:solidFill>
              </a:rPr>
              <a:t>$223K</a:t>
            </a:r>
            <a:endParaRPr lang="en-US" sz="2100" dirty="0"/>
          </a:p>
        </p:txBody>
      </p:sp>
      <p:sp>
        <p:nvSpPr>
          <p:cNvPr id="154" name="Text 152"/>
          <p:cNvSpPr/>
          <p:nvPr/>
        </p:nvSpPr>
        <p:spPr>
          <a:xfrm>
            <a:off x="1591056" y="4247937"/>
            <a:ext cx="1088136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Monthly Burn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1591056" y="4404848"/>
            <a:ext cx="1088136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Q3 avg — declining QoQ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2788920" y="3877056"/>
            <a:ext cx="1252728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788920" y="387705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916936" y="3950208"/>
            <a:ext cx="10881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81 months</a:t>
            </a:r>
            <a:endParaRPr lang="en-US" sz="2100" dirty="0"/>
          </a:p>
        </p:txBody>
      </p:sp>
      <p:sp>
        <p:nvSpPr>
          <p:cNvPr id="159" name="Text 157"/>
          <p:cNvSpPr/>
          <p:nvPr/>
        </p:nvSpPr>
        <p:spPr>
          <a:xfrm>
            <a:off x="2916936" y="4247937"/>
            <a:ext cx="1088136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Runway</a:t>
            </a:r>
            <a:endParaRPr lang="en-US" sz="850" dirty="0"/>
          </a:p>
        </p:txBody>
      </p:sp>
      <p:sp>
        <p:nvSpPr>
          <p:cNvPr id="160" name="Text 158"/>
          <p:cNvSpPr/>
          <p:nvPr/>
        </p:nvSpPr>
        <p:spPr>
          <a:xfrm>
            <a:off x="2916936" y="4404848"/>
            <a:ext cx="1088136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Comfortable — not a near-term factor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4114800" y="3877056"/>
            <a:ext cx="1252728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114800" y="387705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242816" y="3950208"/>
            <a:ext cx="10881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0.36x</a:t>
            </a:r>
            <a:endParaRPr lang="en-US" sz="2100" dirty="0"/>
          </a:p>
        </p:txBody>
      </p:sp>
      <p:sp>
        <p:nvSpPr>
          <p:cNvPr id="164" name="Text 162"/>
          <p:cNvSpPr/>
          <p:nvPr/>
        </p:nvSpPr>
        <p:spPr>
          <a:xfrm>
            <a:off x="4242816" y="4247937"/>
            <a:ext cx="1088136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Burn Multiple</a:t>
            </a:r>
            <a:endParaRPr lang="en-US" sz="850" dirty="0"/>
          </a:p>
        </p:txBody>
      </p:sp>
      <p:sp>
        <p:nvSpPr>
          <p:cNvPr id="165" name="Text 163"/>
          <p:cNvSpPr/>
          <p:nvPr/>
        </p:nvSpPr>
        <p:spPr>
          <a:xfrm>
            <a:off x="4242816" y="4404848"/>
            <a:ext cx="1088136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Excellent (&lt;1x = efficient)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5577840" y="594360"/>
            <a:ext cx="34290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50992" y="5943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MONTHLY BURN &amp; REVENUE TREND  ($K)</a:t>
            </a:r>
            <a:endParaRPr lang="en-US" sz="800" dirty="0"/>
          </a:p>
        </p:txBody>
      </p:sp>
      <p:graphicFrame>
        <p:nvGraphicFramePr>
          <p:cNvPr id="168" name="Chart 0" descr=""/>
          <p:cNvGraphicFramePr/>
          <p:nvPr/>
        </p:nvGraphicFramePr>
        <p:xfrm>
          <a:off x="5577840" y="813816"/>
          <a:ext cx="3429000" cy="144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9" name="Shape 166"/>
          <p:cNvSpPr/>
          <p:nvPr/>
        </p:nvSpPr>
        <p:spPr>
          <a:xfrm>
            <a:off x="5577840" y="2386584"/>
            <a:ext cx="34290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5650992" y="23865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5577840" y="2606040"/>
            <a:ext cx="694944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5632704" y="260604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Dimension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6272784" y="2606040"/>
            <a:ext cx="749808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6327648" y="26060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NovaCrest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7022592" y="2606040"/>
            <a:ext cx="713232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7077456" y="2606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DataForge</a:t>
            </a:r>
            <a:endParaRPr lang="en-US" sz="900" dirty="0"/>
          </a:p>
        </p:txBody>
      </p:sp>
      <p:sp>
        <p:nvSpPr>
          <p:cNvPr id="177" name="Shape 174"/>
          <p:cNvSpPr/>
          <p:nvPr/>
        </p:nvSpPr>
        <p:spPr>
          <a:xfrm>
            <a:off x="7735824" y="2606040"/>
            <a:ext cx="6400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7790688" y="260604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Acme</a:t>
            </a:r>
            <a:endParaRPr lang="en-US" sz="900" dirty="0"/>
          </a:p>
        </p:txBody>
      </p:sp>
      <p:sp>
        <p:nvSpPr>
          <p:cNvPr id="179" name="Shape 176"/>
          <p:cNvSpPr/>
          <p:nvPr/>
        </p:nvSpPr>
        <p:spPr>
          <a:xfrm>
            <a:off x="8375904" y="2606040"/>
            <a:ext cx="630936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8430768" y="2606040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Zenith AI</a:t>
            </a:r>
            <a:endParaRPr lang="en-US" sz="900" dirty="0"/>
          </a:p>
        </p:txBody>
      </p:sp>
      <p:sp>
        <p:nvSpPr>
          <p:cNvPr id="181" name="Shape 178"/>
          <p:cNvSpPr/>
          <p:nvPr/>
        </p:nvSpPr>
        <p:spPr>
          <a:xfrm>
            <a:off x="5577840" y="2852928"/>
            <a:ext cx="694944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5632704" y="285292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Stage</a:t>
            </a:r>
            <a:endParaRPr lang="en-US" sz="900" dirty="0"/>
          </a:p>
        </p:txBody>
      </p:sp>
      <p:sp>
        <p:nvSpPr>
          <p:cNvPr id="183" name="Shape 180"/>
          <p:cNvSpPr/>
          <p:nvPr/>
        </p:nvSpPr>
        <p:spPr>
          <a:xfrm>
            <a:off x="6272784" y="2852928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6327648" y="285292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Series B $32M</a:t>
            </a:r>
            <a:endParaRPr lang="en-US" sz="900" dirty="0"/>
          </a:p>
        </p:txBody>
      </p:sp>
      <p:sp>
        <p:nvSpPr>
          <p:cNvPr id="185" name="Shape 182"/>
          <p:cNvSpPr/>
          <p:nvPr/>
        </p:nvSpPr>
        <p:spPr>
          <a:xfrm>
            <a:off x="7022592" y="2852928"/>
            <a:ext cx="71323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7077456" y="285292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Series C $85M</a:t>
            </a:r>
            <a:endParaRPr lang="en-US" sz="900" dirty="0"/>
          </a:p>
        </p:txBody>
      </p:sp>
      <p:sp>
        <p:nvSpPr>
          <p:cNvPr id="187" name="Shape 184"/>
          <p:cNvSpPr/>
          <p:nvPr/>
        </p:nvSpPr>
        <p:spPr>
          <a:xfrm>
            <a:off x="7735824" y="2852928"/>
            <a:ext cx="6400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7790688" y="285292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Public $2.1B</a:t>
            </a:r>
            <a:endParaRPr lang="en-US" sz="900" dirty="0"/>
          </a:p>
        </p:txBody>
      </p:sp>
      <p:sp>
        <p:nvSpPr>
          <p:cNvPr id="189" name="Shape 186"/>
          <p:cNvSpPr/>
          <p:nvPr/>
        </p:nvSpPr>
        <p:spPr>
          <a:xfrm>
            <a:off x="8375904" y="2852928"/>
            <a:ext cx="630936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8430768" y="2852928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Series A $18M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5577840" y="3099816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5632704" y="309981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ARR (est)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6272784" y="3099816"/>
            <a:ext cx="74980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6327648" y="3099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$15.6M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7022592" y="3099816"/>
            <a:ext cx="71323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7077456" y="30998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~$45M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7735824" y="3099816"/>
            <a:ext cx="640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7790688" y="309981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~$180M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8375904" y="3099816"/>
            <a:ext cx="63093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8430768" y="3099816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~$4M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5577840" y="3346704"/>
            <a:ext cx="694944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5632704" y="3346704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Target Mkt</a:t>
            </a:r>
            <a:endParaRPr lang="en-US" sz="900" dirty="0"/>
          </a:p>
        </p:txBody>
      </p:sp>
      <p:sp>
        <p:nvSpPr>
          <p:cNvPr id="203" name="Shape 200"/>
          <p:cNvSpPr/>
          <p:nvPr/>
        </p:nvSpPr>
        <p:spPr>
          <a:xfrm>
            <a:off x="6272784" y="3346704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6327648" y="3346704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Mid-mkt mfg</a:t>
            </a:r>
            <a:endParaRPr lang="en-US" sz="900" dirty="0"/>
          </a:p>
        </p:txBody>
      </p:sp>
      <p:sp>
        <p:nvSpPr>
          <p:cNvPr id="205" name="Shape 202"/>
          <p:cNvSpPr/>
          <p:nvPr/>
        </p:nvSpPr>
        <p:spPr>
          <a:xfrm>
            <a:off x="7022592" y="3346704"/>
            <a:ext cx="71323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7077456" y="3346704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SMB-Mid horiz.</a:t>
            </a:r>
            <a:endParaRPr lang="en-US" sz="900" dirty="0"/>
          </a:p>
        </p:txBody>
      </p:sp>
      <p:sp>
        <p:nvSpPr>
          <p:cNvPr id="207" name="Shape 204"/>
          <p:cNvSpPr/>
          <p:nvPr/>
        </p:nvSpPr>
        <p:spPr>
          <a:xfrm>
            <a:off x="7735824" y="3346704"/>
            <a:ext cx="6400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8" name="Text 205"/>
          <p:cNvSpPr/>
          <p:nvPr/>
        </p:nvSpPr>
        <p:spPr>
          <a:xfrm>
            <a:off x="7790688" y="3346704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Enterprise all</a:t>
            </a:r>
            <a:endParaRPr lang="en-US" sz="900" dirty="0"/>
          </a:p>
        </p:txBody>
      </p:sp>
      <p:sp>
        <p:nvSpPr>
          <p:cNvPr id="209" name="Shape 206"/>
          <p:cNvSpPr/>
          <p:nvPr/>
        </p:nvSpPr>
        <p:spPr>
          <a:xfrm>
            <a:off x="8375904" y="3346704"/>
            <a:ext cx="630936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0" name="Text 207"/>
          <p:cNvSpPr/>
          <p:nvPr/>
        </p:nvSpPr>
        <p:spPr>
          <a:xfrm>
            <a:off x="8430768" y="3346704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Mid-mkt mfg</a:t>
            </a:r>
            <a:endParaRPr lang="en-US" sz="900" dirty="0"/>
          </a:p>
        </p:txBody>
      </p:sp>
      <p:sp>
        <p:nvSpPr>
          <p:cNvPr id="211" name="Shape 208"/>
          <p:cNvSpPr/>
          <p:nvPr/>
        </p:nvSpPr>
        <p:spPr>
          <a:xfrm>
            <a:off x="5577840" y="3593592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2" name="Text 209"/>
          <p:cNvSpPr/>
          <p:nvPr/>
        </p:nvSpPr>
        <p:spPr>
          <a:xfrm>
            <a:off x="5632704" y="359359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Avg ACV</a:t>
            </a:r>
            <a:endParaRPr lang="en-US" sz="900" dirty="0"/>
          </a:p>
        </p:txBody>
      </p:sp>
      <p:sp>
        <p:nvSpPr>
          <p:cNvPr id="213" name="Shape 210"/>
          <p:cNvSpPr/>
          <p:nvPr/>
        </p:nvSpPr>
        <p:spPr>
          <a:xfrm>
            <a:off x="6272784" y="3593592"/>
            <a:ext cx="74980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4" name="Text 211"/>
          <p:cNvSpPr/>
          <p:nvPr/>
        </p:nvSpPr>
        <p:spPr>
          <a:xfrm>
            <a:off x="6327648" y="3593592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$30-250K</a:t>
            </a:r>
            <a:endParaRPr lang="en-US" sz="900" dirty="0"/>
          </a:p>
        </p:txBody>
      </p:sp>
      <p:sp>
        <p:nvSpPr>
          <p:cNvPr id="215" name="Shape 212"/>
          <p:cNvSpPr/>
          <p:nvPr/>
        </p:nvSpPr>
        <p:spPr>
          <a:xfrm>
            <a:off x="7022592" y="3593592"/>
            <a:ext cx="71323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7077456" y="359359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$2.4-48K</a:t>
            </a:r>
            <a:endParaRPr lang="en-US" sz="900" dirty="0"/>
          </a:p>
        </p:txBody>
      </p:sp>
      <p:sp>
        <p:nvSpPr>
          <p:cNvPr id="217" name="Shape 214"/>
          <p:cNvSpPr/>
          <p:nvPr/>
        </p:nvSpPr>
        <p:spPr>
          <a:xfrm>
            <a:off x="7735824" y="3593592"/>
            <a:ext cx="640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8" name="Text 215"/>
          <p:cNvSpPr/>
          <p:nvPr/>
        </p:nvSpPr>
        <p:spPr>
          <a:xfrm>
            <a:off x="7790688" y="3593592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$100K-500K+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8375904" y="3593592"/>
            <a:ext cx="63093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0" name="Text 217"/>
          <p:cNvSpPr/>
          <p:nvPr/>
        </p:nvSpPr>
        <p:spPr>
          <a:xfrm>
            <a:off x="8430768" y="35935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$20-80K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5577840" y="3840480"/>
            <a:ext cx="694944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2" name="Text 219"/>
          <p:cNvSpPr/>
          <p:nvPr/>
        </p:nvSpPr>
        <p:spPr>
          <a:xfrm>
            <a:off x="5632704" y="384048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Win Rate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6272784" y="3840480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4" name="Text 221"/>
          <p:cNvSpPr/>
          <p:nvPr/>
        </p:nvSpPr>
        <p:spPr>
          <a:xfrm>
            <a:off x="6327648" y="38404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7022592" y="3840480"/>
            <a:ext cx="71323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7077456" y="384048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62% ✓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7735824" y="3840480"/>
            <a:ext cx="6400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7790688" y="384048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34% ✗</a:t>
            </a:r>
            <a:endParaRPr lang="en-US" sz="900" dirty="0"/>
          </a:p>
        </p:txBody>
      </p:sp>
      <p:sp>
        <p:nvSpPr>
          <p:cNvPr id="229" name="Shape 226"/>
          <p:cNvSpPr/>
          <p:nvPr/>
        </p:nvSpPr>
        <p:spPr>
          <a:xfrm>
            <a:off x="8375904" y="3840480"/>
            <a:ext cx="630936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0" name="Text 227"/>
          <p:cNvSpPr/>
          <p:nvPr/>
        </p:nvSpPr>
        <p:spPr>
          <a:xfrm>
            <a:off x="8430768" y="3840480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55% ✓</a:t>
            </a:r>
            <a:endParaRPr lang="en-US" sz="900" dirty="0"/>
          </a:p>
        </p:txBody>
      </p:sp>
      <p:sp>
        <p:nvSpPr>
          <p:cNvPr id="231" name="Shape 228"/>
          <p:cNvSpPr/>
          <p:nvPr/>
        </p:nvSpPr>
        <p:spPr>
          <a:xfrm>
            <a:off x="5577840" y="4087368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2" name="Text 229"/>
          <p:cNvSpPr/>
          <p:nvPr/>
        </p:nvSpPr>
        <p:spPr>
          <a:xfrm>
            <a:off x="5632704" y="40873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Key Threat</a:t>
            </a:r>
            <a:endParaRPr lang="en-US" sz="900" dirty="0"/>
          </a:p>
        </p:txBody>
      </p:sp>
      <p:sp>
        <p:nvSpPr>
          <p:cNvPr id="233" name="Shape 230"/>
          <p:cNvSpPr/>
          <p:nvPr/>
        </p:nvSpPr>
        <p:spPr>
          <a:xfrm>
            <a:off x="6272784" y="4087368"/>
            <a:ext cx="74980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6327648" y="40873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235" name="Shape 232"/>
          <p:cNvSpPr/>
          <p:nvPr/>
        </p:nvSpPr>
        <p:spPr>
          <a:xfrm>
            <a:off x="7022592" y="4087368"/>
            <a:ext cx="71323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7077456" y="408736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$199/mo SMB module</a:t>
            </a:r>
            <a:endParaRPr lang="en-US" sz="900" dirty="0"/>
          </a:p>
        </p:txBody>
      </p:sp>
      <p:sp>
        <p:nvSpPr>
          <p:cNvPr id="237" name="Shape 234"/>
          <p:cNvSpPr/>
          <p:nvPr/>
        </p:nvSpPr>
        <p:spPr>
          <a:xfrm>
            <a:off x="7735824" y="4087368"/>
            <a:ext cx="640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8" name="Text 235"/>
          <p:cNvSpPr/>
          <p:nvPr/>
        </p:nvSpPr>
        <p:spPr>
          <a:xfrm>
            <a:off x="7790688" y="408736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Acme Lite Q1'27</a:t>
            </a:r>
            <a:endParaRPr lang="en-US" sz="900" dirty="0"/>
          </a:p>
        </p:txBody>
      </p:sp>
      <p:sp>
        <p:nvSpPr>
          <p:cNvPr id="239" name="Shape 236"/>
          <p:cNvSpPr/>
          <p:nvPr/>
        </p:nvSpPr>
        <p:spPr>
          <a:xfrm>
            <a:off x="8375904" y="4087368"/>
            <a:ext cx="63093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430768" y="4087368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VC hiring blitz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</a:rPr>
              <a:t>BOARD ASKS  ·  Q3 2026 REVIEW  ·  THREE ITEMS REQUIRING 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" y="658368"/>
            <a:ext cx="2834640" cy="4005072"/>
          </a:xfrm>
          <a:prstGeom prst="rect">
            <a:avLst/>
          </a:prstGeom>
          <a:solidFill>
            <a:srgbClr val="0A1628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749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822960"/>
            <a:ext cx="6583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822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6888" y="113385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$2.5M Incremental Customer Success Investment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" y="1627632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" y="162763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RATIONALE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5176" y="18196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Hire 8 FTEs: 4 onboarding specialists, 2 renewal managers, 1 SMB CS lead, 1 CS ops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65176" y="21396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$290K of Q3 churn ($500K total) was preventable — weak onboarding, no down-tier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65176" y="245973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Sterling ($210K), ClearPath ($72K), Midwest ($58K) at risk in Q4 alone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46888" y="2825496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" y="282549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KEY METRICS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46888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~$700K/yr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Expected ARR Saved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563624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8488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14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18488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Payback Period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46888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~280%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ROI (3-yr)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563624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18488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Q4 churn ≥ $600K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18488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If Not Approved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46888" y="4005072"/>
            <a:ext cx="2633472" cy="475488"/>
          </a:xfrm>
          <a:prstGeom prst="rect">
            <a:avLst/>
          </a:prstGeom>
          <a:solidFill>
            <a:srgbClr val="0F1E3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041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2626"/>
                </a:solidFill>
              </a:rPr>
              <a:t>URGENT — Q4 at-risk pipeline is $340K; delay = churn compounds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154680" y="658368"/>
            <a:ext cx="2834640" cy="4005072"/>
          </a:xfrm>
          <a:prstGeom prst="rect">
            <a:avLst/>
          </a:prstGeom>
          <a:solidFill>
            <a:srgbClr val="0A1628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749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02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3749040" y="822960"/>
            <a:ext cx="6583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58184" y="822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64408" y="113385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Usage-Based SMB Pricing Tier  ($499/mo entry)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64408" y="1627632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2696" y="162763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RATIONALE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82696" y="18196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Current minimum $2.5K/mo losing 60+ SMB prospects/quarter on price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3282696" y="21396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Addresses SMB onboarding gap — usage-based aligns cost to adoption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3282696" y="245973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DataForge $199/mo module is pulling SMB deals away now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3264408" y="2825496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82696" y="282549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KEY METRICS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264408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+$1.2M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19272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New ARR (12 mo)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81144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~($200K)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36008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Down-tier risk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264408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9272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+$1.0M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19272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Net ARR impact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81144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36008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Q1 2027 launch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36008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Timeline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264408" y="4005072"/>
            <a:ext cx="2633472" cy="475488"/>
          </a:xfrm>
          <a:prstGeom prst="rect">
            <a:avLst/>
          </a:prstGeom>
          <a:solidFill>
            <a:srgbClr val="0F1E3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4041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</a:rPr>
              <a:t>COMPETITIVE — DataForge manufacturing module launched in Q3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6172200" y="658368"/>
            <a:ext cx="2834640" cy="4005072"/>
          </a:xfrm>
          <a:prstGeom prst="rect">
            <a:avLst/>
          </a:prstGeom>
          <a:solidFill>
            <a:srgbClr val="0A1628"/>
          </a:solidFill>
          <a:ln w="15240">
            <a:solidFill>
              <a:srgbClr val="2E7FD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72200" y="658368"/>
            <a:ext cx="2834640" cy="54864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81928" y="749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FD9"/>
                </a:solidFill>
              </a:rPr>
              <a:t>03</a:t>
            </a:r>
            <a:endParaRPr lang="en-US" sz="2600" dirty="0"/>
          </a:p>
        </p:txBody>
      </p:sp>
      <p:sp>
        <p:nvSpPr>
          <p:cNvPr id="63" name="Shape 61"/>
          <p:cNvSpPr/>
          <p:nvPr/>
        </p:nvSpPr>
        <p:spPr>
          <a:xfrm>
            <a:off x="6766560" y="822960"/>
            <a:ext cx="658368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75704" y="822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DISCUSS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81928" y="113385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Series C Timing — Q2 2027 vs $30M ARR Milestone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81928" y="1627632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0216" y="162763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FD9"/>
                </a:solidFill>
              </a:rPr>
              <a:t>RATIONALE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300216" y="18196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Current runway: 81 months — not forced; can raise from position of strength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6300216" y="21396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Option A: Q2 2027 at $22-25M ARR — momentum story, growth rate compelling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6300216" y="245973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Option B: Wait for $30M ARR — stronger metrics but 2028 timeline, market risk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281928" y="2825496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0216" y="282549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FD9"/>
                </a:solidFill>
              </a:rPr>
              <a:t>KEY METRICS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81928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36792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FD9"/>
                </a:solidFill>
              </a:rPr>
              <a:t>$15.6M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336792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Current ARR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598664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53528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FD9"/>
                </a:solidFill>
              </a:rPr>
              <a:t>$18.2M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653528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Cash on Hand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81928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36792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FD9"/>
                </a:solidFill>
              </a:rPr>
              <a:t>0.36x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336792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Burn Multiple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598664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53528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FD9"/>
                </a:solidFill>
              </a:rPr>
              <a:t>TBD — board input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653528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Target Raise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281928" y="4005072"/>
            <a:ext cx="2633472" cy="475488"/>
          </a:xfrm>
          <a:prstGeom prst="rect">
            <a:avLst/>
          </a:prstGeom>
          <a:solidFill>
            <a:srgbClr val="0F1E36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27648" y="4041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E7FD9"/>
                </a:solidFill>
              </a:rPr>
              <a:t>STRATEGIC — Board input requested on timing and investor targets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470"/>
                </a:solidFill>
              </a:rPr>
              <a:t>NovaCrest  |  Q3 2026 Board Review  |  CONFIDENTIAL  |  For Board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Strategic Review — NovaCrest</dc:title>
  <dc:subject>PptxGenJS Presentation</dc:subject>
  <dc:creator>PptxGenJS</dc:creator>
  <cp:lastModifiedBy>PptxGenJS</cp:lastModifiedBy>
  <cp:revision>1</cp:revision>
  <dcterms:created xsi:type="dcterms:W3CDTF">2026-03-31T19:56:22Z</dcterms:created>
  <dcterms:modified xsi:type="dcterms:W3CDTF">2026-03-31T19:56:22Z</dcterms:modified>
</cp:coreProperties>
</file>