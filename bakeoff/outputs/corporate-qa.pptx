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C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INVESTOR PRESENTATION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731520"/>
            <a:ext cx="1005840" cy="1005840"/>
          </a:xfrm>
          <a:prstGeom prst="ellipse">
            <a:avLst/>
          </a:prstGeom>
          <a:solidFill>
            <a:srgbClr val="C9A84C"/>
          </a:solidFill>
          <a:ln/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86868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60020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Airlines Holdings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365760" y="2560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8C87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FY2025 Results &amp; 2026 Outlook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0" y="3291840"/>
            <a:ext cx="9144000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3364992"/>
            <a:ext cx="9144000" cy="82296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345643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UAL  |  NASDAQ  |  January 20, 2026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0" y="4114800"/>
            <a:ext cx="1828800" cy="1024128"/>
          </a:xfrm>
          <a:prstGeom prst="rect">
            <a:avLst/>
          </a:prstGeom>
          <a:solidFill>
            <a:srgbClr val="2A4F7F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" y="4151376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$59.1B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" y="4590288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6E4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FY2025 Revenue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828800" y="4114800"/>
            <a:ext cx="1828800" cy="102412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1874520" y="4151376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$10.62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874520" y="4590288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6E4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Adj. EPS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657600" y="4114800"/>
            <a:ext cx="1828800" cy="1024128"/>
          </a:xfrm>
          <a:prstGeom prst="rect">
            <a:avLst/>
          </a:prstGeom>
          <a:solidFill>
            <a:srgbClr val="2A4F7F"/>
          </a:solidFill>
          <a:ln/>
        </p:spPr>
      </p:sp>
      <p:sp>
        <p:nvSpPr>
          <p:cNvPr id="18" name="Text 16"/>
          <p:cNvSpPr/>
          <p:nvPr/>
        </p:nvSpPr>
        <p:spPr>
          <a:xfrm>
            <a:off x="3703320" y="4151376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181.1M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703320" y="4590288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6E4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Passengers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486400" y="4114800"/>
            <a:ext cx="1828800" cy="102412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1" name="Text 19"/>
          <p:cNvSpPr/>
          <p:nvPr/>
        </p:nvSpPr>
        <p:spPr>
          <a:xfrm>
            <a:off x="5532120" y="4151376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1,490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532120" y="4590288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6E4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Fleet Size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315200" y="4114800"/>
            <a:ext cx="1828800" cy="1024128"/>
          </a:xfrm>
          <a:prstGeom prst="rect">
            <a:avLst/>
          </a:prstGeom>
          <a:solidFill>
            <a:srgbClr val="2A4F7F"/>
          </a:solidFill>
          <a:ln/>
        </p:spPr>
      </p:sp>
      <p:sp>
        <p:nvSpPr>
          <p:cNvPr id="24" name="Text 22"/>
          <p:cNvSpPr/>
          <p:nvPr/>
        </p:nvSpPr>
        <p:spPr>
          <a:xfrm>
            <a:off x="7360920" y="4151376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$12–$14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360920" y="4590288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6E4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2026E EPS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Thesis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621792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C87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Four pillars supporting UAL re-rating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9144000" cy="5029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" y="1097280"/>
            <a:ext cx="4343400" cy="178308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097280"/>
            <a:ext cx="4343400" cy="3200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" name="Text 6"/>
          <p:cNvSpPr/>
          <p:nvPr/>
        </p:nvSpPr>
        <p:spPr>
          <a:xfrm>
            <a:off x="338328" y="1133856"/>
            <a:ext cx="4123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Scale &amp; Hub Dominance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481328"/>
            <a:ext cx="40690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 Largest U.S. airline by ASMs (330.3B)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1764792"/>
            <a:ext cx="40690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 #1 at ORD, DEN, IAH, EWR, SFO, IAD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2048256"/>
            <a:ext cx="40690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 Only U.S. carrier to Bangkok, Ho Chi Minh City, Adelaide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" y="2331720"/>
            <a:ext cx="40690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 Network moat compounds with every new route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17720" y="1097280"/>
            <a:ext cx="4343400" cy="1783080"/>
          </a:xfrm>
          <a:prstGeom prst="rect">
            <a:avLst/>
          </a:prstGeom>
          <a:solidFill>
            <a:srgbClr val="2A4F7F"/>
          </a:solidFill>
          <a:ln/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17720" y="1097280"/>
            <a:ext cx="4343400" cy="3200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5" name="Text 13"/>
          <p:cNvSpPr/>
          <p:nvPr/>
        </p:nvSpPr>
        <p:spPr>
          <a:xfrm>
            <a:off x="4727448" y="1133856"/>
            <a:ext cx="4123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Premium / Loyalty Revenue Quality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54880" y="1481328"/>
            <a:ext cx="40690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 Premium cabin +11% in 2025 — growing 2× basic economy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54880" y="1764792"/>
            <a:ext cx="40690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 130M MileagePlus members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54880" y="2048256"/>
            <a:ext cx="40690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 Chase co-brand adding 1M+ cards/yr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54880" y="2331720"/>
            <a:ext cx="40690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 Signature Interior rolling out across fleet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28600" y="2944368"/>
            <a:ext cx="4343400" cy="1783080"/>
          </a:xfrm>
          <a:prstGeom prst="rect">
            <a:avLst/>
          </a:prstGeom>
          <a:solidFill>
            <a:srgbClr val="2A4F7F"/>
          </a:solidFill>
          <a:ln/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28600" y="2944368"/>
            <a:ext cx="4343400" cy="3200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2" name="Text 20"/>
          <p:cNvSpPr/>
          <p:nvPr/>
        </p:nvSpPr>
        <p:spPr>
          <a:xfrm>
            <a:off x="338328" y="2980944"/>
            <a:ext cx="4123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Balance Sheet Normalization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3328416"/>
            <a:ext cx="40690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 Net leverage 2.2× (Dec'25) → &lt;2.0× (Dec'26)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5760" y="3611880"/>
            <a:ext cx="40690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 MileagePlus bonds fully retired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5760" y="3895344"/>
            <a:ext cx="40690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 Investment-grade trajectory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65760" y="4178808"/>
            <a:ext cx="40690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 Interest expense –16% YoY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17720" y="2944368"/>
            <a:ext cx="4343400" cy="178308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17720" y="2944368"/>
            <a:ext cx="4343400" cy="3200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9" name="Text 27"/>
          <p:cNvSpPr/>
          <p:nvPr/>
        </p:nvSpPr>
        <p:spPr>
          <a:xfrm>
            <a:off x="4727448" y="2980944"/>
            <a:ext cx="4123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2026 EPS Inflection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54880" y="3328416"/>
            <a:ext cx="40690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 $12–$14 EPS guidance (vs. $10.62 in 2025): +13%–+32%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54880" y="3611880"/>
            <a:ext cx="40690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 First time materially exceeding 2019 peak of $12.05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54880" y="3895344"/>
            <a:ext cx="40690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 Labor headwinds largely absorbed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54880" y="4178808"/>
            <a:ext cx="40690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 TRASM inflection + aircraft efficiency = margin expansion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0" y="4727448"/>
            <a:ext cx="9144000" cy="416052"/>
          </a:xfrm>
          <a:prstGeom prst="rect">
            <a:avLst/>
          </a:prstGeom>
          <a:solidFill>
            <a:srgbClr val="D6E4F0"/>
          </a:solidFill>
          <a:ln/>
        </p:spPr>
      </p:sp>
      <p:sp>
        <p:nvSpPr>
          <p:cNvPr id="35" name="Text 33"/>
          <p:cNvSpPr/>
          <p:nvPr/>
        </p:nvSpPr>
        <p:spPr>
          <a:xfrm>
            <a:off x="274320" y="4745736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A2332"/>
                </a:solidFill>
              </a:rPr>
              <a:t>UAL enters 2026 with labor contracts settled, the largest delivery pipeline in its history, record booking trends, and a balance sheet on track for investment-grade — the convergence of tailwinds that have been building since 2022.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Arc: 2021–2026E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621792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C87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Six-year revenue and earnings trajectory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9144000" cy="50292"/>
          </a:xfrm>
          <a:prstGeom prst="rect">
            <a:avLst/>
          </a:prstGeom>
          <a:solidFill>
            <a:srgbClr val="C9A84C"/>
          </a:solidFill>
          <a:ln/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078992"/>
          <a:ext cx="86868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115568"/>
                <a:gridCol w="1115568"/>
                <a:gridCol w="1115568"/>
                <a:gridCol w="1115568"/>
                <a:gridCol w="1115568"/>
                <a:gridCol w="1097280"/>
              </a:tblGrid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FY2021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FY2022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FY2023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FY2024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FY2025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FY2026E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Total Revenue ($B)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$24.6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$45.0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$53.7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$57.1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$59.1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Adj. EPS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Neg.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$10.61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$10.05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$10.61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$10.62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$12–$14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Adj. Pre-Tax Margin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Neg.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~6%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8.0%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8.1%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7.8%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~10%+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ASMs (B)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178.7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247.9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291.3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311.2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330.3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~349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Fleet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~1,300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1,358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1,406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1,490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~1,610E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3172968"/>
            <a:ext cx="54864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280"/>
                </a:solidFill>
              </a:rPr>
              <a:t>Revenue ($B) — scaled to $65B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 rot="16200000">
            <a:off x="0" y="3246120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6B7280"/>
                </a:solidFill>
              </a:rPr>
              <a:t>Revenue ($B)</a:t>
            </a:r>
            <a:endParaRPr lang="en-US" sz="700" dirty="0"/>
          </a:p>
        </p:txBody>
      </p:sp>
      <p:sp>
        <p:nvSpPr>
          <p:cNvPr id="9" name="Shape 6"/>
          <p:cNvSpPr/>
          <p:nvPr/>
        </p:nvSpPr>
        <p:spPr>
          <a:xfrm>
            <a:off x="502920" y="3701041"/>
            <a:ext cx="1319784" cy="249167"/>
          </a:xfrm>
          <a:prstGeom prst="rect">
            <a:avLst/>
          </a:prstGeom>
          <a:solidFill>
            <a:srgbClr val="2A4F7F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3737617"/>
            <a:ext cx="13197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$24.6B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502920" y="3977640"/>
            <a:ext cx="13197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151"/>
                </a:solidFill>
              </a:rPr>
              <a:t>2021</a:t>
            </a:r>
            <a:endParaRPr lang="en-US" sz="700" dirty="0"/>
          </a:p>
        </p:txBody>
      </p:sp>
      <p:sp>
        <p:nvSpPr>
          <p:cNvPr id="12" name="Shape 9"/>
          <p:cNvSpPr/>
          <p:nvPr/>
        </p:nvSpPr>
        <p:spPr>
          <a:xfrm>
            <a:off x="1905000" y="3494415"/>
            <a:ext cx="1319784" cy="455793"/>
          </a:xfrm>
          <a:prstGeom prst="rect">
            <a:avLst/>
          </a:prstGeom>
          <a:solidFill>
            <a:srgbClr val="2A4F7F"/>
          </a:solidFill>
          <a:ln/>
        </p:spPr>
      </p:sp>
      <p:sp>
        <p:nvSpPr>
          <p:cNvPr id="13" name="Text 10"/>
          <p:cNvSpPr/>
          <p:nvPr/>
        </p:nvSpPr>
        <p:spPr>
          <a:xfrm>
            <a:off x="1905000" y="3530991"/>
            <a:ext cx="13197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$45B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1905000" y="3977640"/>
            <a:ext cx="13197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151"/>
                </a:solidFill>
              </a:rPr>
              <a:t>2022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3307080" y="3406295"/>
            <a:ext cx="1319784" cy="543913"/>
          </a:xfrm>
          <a:prstGeom prst="rect">
            <a:avLst/>
          </a:prstGeom>
          <a:solidFill>
            <a:srgbClr val="2A4F7F"/>
          </a:solidFill>
          <a:ln/>
        </p:spPr>
      </p:sp>
      <p:sp>
        <p:nvSpPr>
          <p:cNvPr id="16" name="Text 13"/>
          <p:cNvSpPr/>
          <p:nvPr/>
        </p:nvSpPr>
        <p:spPr>
          <a:xfrm>
            <a:off x="3307080" y="3442871"/>
            <a:ext cx="13197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$53.7B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3307080" y="3977640"/>
            <a:ext cx="13197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151"/>
                </a:solidFill>
              </a:rPr>
              <a:t>2023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4709160" y="3371857"/>
            <a:ext cx="1319784" cy="578351"/>
          </a:xfrm>
          <a:prstGeom prst="rect">
            <a:avLst/>
          </a:prstGeom>
          <a:solidFill>
            <a:srgbClr val="2A4F7F"/>
          </a:solidFill>
          <a:ln/>
        </p:spPr>
      </p:sp>
      <p:sp>
        <p:nvSpPr>
          <p:cNvPr id="19" name="Text 16"/>
          <p:cNvSpPr/>
          <p:nvPr/>
        </p:nvSpPr>
        <p:spPr>
          <a:xfrm>
            <a:off x="4709160" y="3408433"/>
            <a:ext cx="13197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$57.1B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4709160" y="3977640"/>
            <a:ext cx="13197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151"/>
                </a:solidFill>
              </a:rPr>
              <a:t>2024</a:t>
            </a:r>
            <a:endParaRPr lang="en-US" sz="700" dirty="0"/>
          </a:p>
        </p:txBody>
      </p:sp>
      <p:sp>
        <p:nvSpPr>
          <p:cNvPr id="21" name="Shape 18"/>
          <p:cNvSpPr/>
          <p:nvPr/>
        </p:nvSpPr>
        <p:spPr>
          <a:xfrm>
            <a:off x="6111240" y="3351600"/>
            <a:ext cx="1319784" cy="598608"/>
          </a:xfrm>
          <a:prstGeom prst="rect">
            <a:avLst/>
          </a:prstGeom>
          <a:solidFill>
            <a:srgbClr val="2A4F7F"/>
          </a:solidFill>
          <a:ln/>
        </p:spPr>
      </p:sp>
      <p:sp>
        <p:nvSpPr>
          <p:cNvPr id="22" name="Text 19"/>
          <p:cNvSpPr/>
          <p:nvPr/>
        </p:nvSpPr>
        <p:spPr>
          <a:xfrm>
            <a:off x="6111240" y="3388176"/>
            <a:ext cx="13197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$59.1B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6111240" y="3977640"/>
            <a:ext cx="13197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151"/>
                </a:solidFill>
              </a:rPr>
              <a:t>2025</a:t>
            </a:r>
            <a:endParaRPr lang="en-US" sz="700" dirty="0"/>
          </a:p>
        </p:txBody>
      </p:sp>
      <p:sp>
        <p:nvSpPr>
          <p:cNvPr id="24" name="Shape 21"/>
          <p:cNvSpPr/>
          <p:nvPr/>
        </p:nvSpPr>
        <p:spPr>
          <a:xfrm>
            <a:off x="7513320" y="3312097"/>
            <a:ext cx="1319784" cy="638111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5" name="Text 22"/>
          <p:cNvSpPr/>
          <p:nvPr/>
        </p:nvSpPr>
        <p:spPr>
          <a:xfrm>
            <a:off x="7513320" y="3348673"/>
            <a:ext cx="13197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2332"/>
                </a:solidFill>
              </a:rPr>
              <a:t>$63B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7513320" y="3977640"/>
            <a:ext cx="13197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151"/>
                </a:solidFill>
              </a:rPr>
              <a:t>2026E</a:t>
            </a:r>
            <a:endParaRPr lang="en-US" sz="700" dirty="0"/>
          </a:p>
        </p:txBody>
      </p:sp>
      <p:sp>
        <p:nvSpPr>
          <p:cNvPr id="27" name="Shape 24"/>
          <p:cNvSpPr/>
          <p:nvPr/>
        </p:nvSpPr>
        <p:spPr>
          <a:xfrm>
            <a:off x="228600" y="4133088"/>
            <a:ext cx="8686800" cy="1005840"/>
          </a:xfrm>
          <a:prstGeom prst="rect">
            <a:avLst/>
          </a:prstGeom>
          <a:solidFill>
            <a:srgbClr val="C9A84C"/>
          </a:solidFill>
          <a:ln/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365760" y="4160520"/>
            <a:ext cx="841248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2332"/>
                </a:solidFill>
              </a:rPr>
              <a:t>EPS Plateau 2022–2025: $10.61 → $10.05 → $10.61 → $10.62 reflects absorption of $10B+ in cumulative pilot/FA contract obligations — NOT operational underperformance. Revenue +31% since 2022. The plateau ends in 2026.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FY2025 Quarterly Performance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621792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C87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Revenue, earnings, and margin by quarter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9144000" cy="50292"/>
          </a:xfrm>
          <a:prstGeom prst="rect">
            <a:avLst/>
          </a:prstGeom>
          <a:solidFill>
            <a:srgbClr val="C9A84C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078992"/>
          <a:ext cx="86868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417320"/>
                <a:gridCol w="822960"/>
                <a:gridCol w="1188720"/>
                <a:gridCol w="1097280"/>
                <a:gridCol w="1463040"/>
                <a:gridCol w="132588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Quarter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Total Revenue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YoY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Net Income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Adj. EPS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Pre-Tax Margin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ASMs (B)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Q1 2025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$13.213B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+5.4%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$0.387B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$0.91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3.0%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75.155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Q2 2025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$15.236B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+1.7%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$0.973B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$3.87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11.0%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84.347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Q3 2025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$15.225B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+2.6%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$0.949B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$2.78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8.0%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87.417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Q4 2025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$15.394B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+4.8%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$1.024B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$3.10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8.5%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83.365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FY 2025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$59.068B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+3.5%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$3.400B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$10.62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7.8%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330.284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28600" y="3566160"/>
            <a:ext cx="2852928" cy="1435608"/>
          </a:xfrm>
          <a:prstGeom prst="rect">
            <a:avLst/>
          </a:prstGeom>
          <a:solidFill>
            <a:srgbClr val="D6E4F0"/>
          </a:solidFill>
          <a:ln/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28600" y="3566160"/>
            <a:ext cx="2852928" cy="2926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9" name="Text 6"/>
          <p:cNvSpPr/>
          <p:nvPr/>
        </p:nvSpPr>
        <p:spPr>
          <a:xfrm>
            <a:off x="320040" y="356616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Context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38328" y="3895344"/>
            <a:ext cx="2651760" cy="1069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</a:rPr>
              <a:t>Revenue +4.8% but EPS –4.9% vs. Q4'24 ($3.10 vs. $3.26). Comps problem + temporary domestic fare softness, not structural.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172968" y="3566160"/>
            <a:ext cx="2852928" cy="1435608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172968" y="3566160"/>
            <a:ext cx="2852928" cy="2926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3" name="Text 10"/>
          <p:cNvSpPr/>
          <p:nvPr/>
        </p:nvSpPr>
        <p:spPr>
          <a:xfrm>
            <a:off x="3264408" y="356616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Story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3282696" y="3895344"/>
            <a:ext cx="2651760" cy="1069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Initial $11.50–$13.50 → revised to $9.00–$11.00 mid-year → delivered $10.62 at/near top of revised range.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6117336" y="3566160"/>
            <a:ext cx="2852928" cy="1435608"/>
          </a:xfrm>
          <a:prstGeom prst="rect">
            <a:avLst/>
          </a:prstGeom>
          <a:solidFill>
            <a:srgbClr val="C9A84C"/>
          </a:solidFill>
          <a:ln/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117336" y="3566160"/>
            <a:ext cx="2852928" cy="292608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17" name="Text 14"/>
          <p:cNvSpPr/>
          <p:nvPr/>
        </p:nvSpPr>
        <p:spPr>
          <a:xfrm>
            <a:off x="6208776" y="356616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C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GAAP vs. Adj.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227064" y="3895344"/>
            <a:ext cx="2651760" cy="1069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</a:rPr>
              <a:t>$447M fleet write-offs pulled GAAP EPS below adjusted; retirements economically rational.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Economics: The TRASM/CASM Story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621792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C87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Annual trends and 2025 quarterly breakdown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9144000" cy="5029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" y="1078992"/>
            <a:ext cx="2286000" cy="20116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107899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Annual Trends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280160"/>
          <a:ext cx="53035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841248"/>
                <a:gridCol w="841248"/>
                <a:gridCol w="877824"/>
                <a:gridCol w="877824"/>
                <a:gridCol w="950976"/>
              </a:tblGrid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Year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F7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TRASM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F7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PRASM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F7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CASM-ex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F7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Fuel/Gal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F7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Load Factor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F7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FY2023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18.44¢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—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12.03¢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$3.01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83.9%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FY2024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18.34¢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16.66¢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12.58¢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$2.65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83.1%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FY2025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17.88¢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16.18¢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12.64¢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$2.44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82.2%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228600" y="2724912"/>
            <a:ext cx="2560320" cy="20116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0" name="Text 7"/>
          <p:cNvSpPr/>
          <p:nvPr/>
        </p:nvSpPr>
        <p:spPr>
          <a:xfrm>
            <a:off x="228600" y="272491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2025 Quarterly</a:t>
            </a:r>
            <a:endParaRPr lang="en-US" sz="8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2926080"/>
          <a:ext cx="53035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841248"/>
                <a:gridCol w="841248"/>
                <a:gridCol w="877824"/>
                <a:gridCol w="877824"/>
                <a:gridCol w="950976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Quarter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F7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TRASM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F7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PRASM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F7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CASM-ex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F7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Fuel/Gal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F7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Load Factor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F7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Q1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17.58¢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15.78¢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13.17¢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$2.53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79.2%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Q2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18.06¢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16.40¢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12.36¢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$2.34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83.1%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Q3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17.42¢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15.80¢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12.15¢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$2.43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84.4%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Q4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18.47¢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16.71¢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12.94¢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$2.49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81.9%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5760720" y="1078992"/>
            <a:ext cx="3154680" cy="1207008"/>
          </a:xfrm>
          <a:prstGeom prst="rect">
            <a:avLst/>
          </a:prstGeom>
          <a:solidFill>
            <a:srgbClr val="D6E4F0"/>
          </a:solidFill>
          <a:ln/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5870448" y="1124712"/>
            <a:ext cx="2944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5F"/>
                </a:solidFill>
              </a:rPr>
              <a:t>TRASM –2.5% in 2025: NOT a demand problem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5870448" y="1408176"/>
            <a:ext cx="294436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</a:rPr>
              <a:t>Record 181M passengers. Industry capacity grew faster than unit revenue. Response: UAL pulled 4 ppts domestic capacity mid-year, retired 21 aircraft early.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5760720" y="2395728"/>
            <a:ext cx="3154680" cy="749808"/>
          </a:xfrm>
          <a:prstGeom prst="rect">
            <a:avLst/>
          </a:prstGeom>
          <a:solidFill>
            <a:srgbClr val="C9A84C"/>
          </a:solidFill>
          <a:ln/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5870448" y="2441448"/>
            <a:ext cx="2944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332"/>
                </a:solidFill>
              </a:rPr>
              <a:t>Unhedged by Policy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5870448" y="2679192"/>
            <a:ext cx="29443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</a:rPr>
              <a:t>$0.10/gal = ~$466M annual P&amp;L impact at 4.663B gallons consumed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5760720" y="3246120"/>
            <a:ext cx="3154680" cy="178308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5870448" y="3291840"/>
            <a:ext cx="2944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84C"/>
                </a:solidFill>
              </a:rPr>
              <a:t>2026 Thesis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5870448" y="3566160"/>
            <a:ext cx="2944368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TRASM inflects positive as industry capacity normalizes → CASM-ex stabilizes with aircraft deliveries → gap widens = margin expansion toward 10%+ pre-tax margin target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Structure: Composition Matters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621792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C87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FY2025 vs. FY2024 operating expense detail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9144000" cy="50292"/>
          </a:xfrm>
          <a:prstGeom prst="rect">
            <a:avLst/>
          </a:prstGeom>
          <a:solidFill>
            <a:srgbClr val="C9A84C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078992"/>
          <a:ext cx="86868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051560"/>
                <a:gridCol w="1051560"/>
                <a:gridCol w="914400"/>
                <a:gridCol w="731520"/>
                <a:gridCol w="320040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Line Item</a:t>
                      </a: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FY2025</a:t>
                      </a: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FY2024</a:t>
                      </a: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YoY $</a:t>
                      </a: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YoY %</a:t>
                      </a: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Interpretation</a:t>
                      </a: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</a:rPr>
                        <a:t>Salaries &amp; related</a:t>
                      </a: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</a:rPr>
                        <a:t>$17.647B</a:t>
                      </a: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</a:rPr>
                        <a:t>$16.678B</a:t>
                      </a: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</a:rPr>
                        <a:t>+$969M</a:t>
                      </a: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</a:rPr>
                        <a:t>+5.8%</a:t>
                      </a: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</a:rPr>
                        <a:t>Bounded — pilot contract peaks in early years</a:t>
                      </a: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</a:rPr>
                        <a:t>Aircraft fuel</a:t>
                      </a: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</a:rPr>
                        <a:t>$11.396B</a:t>
                      </a: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</a:rPr>
                        <a:t>$11.756B</a:t>
                      </a: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</a:rPr>
                        <a:t>–$360M</a:t>
                      </a: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</a:rPr>
                        <a:t>–3.1%</a:t>
                      </a: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</a:rPr>
                        <a:t>Genuine tailwind; new aircraft insulates further</a:t>
                      </a: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</a:rPr>
                        <a:t>Landing fees &amp; rent</a:t>
                      </a: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</a:rPr>
                        <a:t>$3.849B</a:t>
                      </a: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</a:rPr>
                        <a:t>$3.437B</a:t>
                      </a: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</a:rPr>
                        <a:t>+$412M</a:t>
                      </a: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</a:rPr>
                        <a:t>+12.0%</a:t>
                      </a: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</a:rPr>
                        <a:t>Good cost: EWR T-A, ORD, DEN upgrades</a:t>
                      </a: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</a:rPr>
                        <a:t>Maintenance</a:t>
                      </a: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</a:rPr>
                        <a:t>$3.294B</a:t>
                      </a: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</a:rPr>
                        <a:t>$3.063B</a:t>
                      </a: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</a:rPr>
                        <a:t>+$231M</a:t>
                      </a: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</a:rPr>
                        <a:t>+7.5%</a:t>
                      </a: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</a:rPr>
                        <a:t>Fleet growth + aging aircraft in transition</a:t>
                      </a: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</a:rPr>
                        <a:t>Depreciation</a:t>
                      </a: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</a:rPr>
                        <a:t>$2.939B</a:t>
                      </a: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</a:rPr>
                        <a:t>$2.928B</a:t>
                      </a: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</a:rPr>
                        <a:t>+$11M</a:t>
                      </a: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</a:rPr>
                        <a:t>+0.4%</a:t>
                      </a: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</a:rPr>
                        <a:t>Stable</a:t>
                      </a: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</a:rPr>
                        <a:t>Regional capacity</a:t>
                      </a: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</a:rPr>
                        <a:t>$2.693B</a:t>
                      </a: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</a:rPr>
                        <a:t>$2.516B</a:t>
                      </a: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</a:rPr>
                        <a:t>+$177M</a:t>
                      </a: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</a:rPr>
                        <a:t>+7.0%</a:t>
                      </a: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</a:rPr>
                        <a:t>Volume growth</a:t>
                      </a: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</a:rPr>
                        <a:t>Distribution</a:t>
                      </a: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</a:rPr>
                        <a:t>$2.109B</a:t>
                      </a: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</a:rPr>
                        <a:t>$2.231B</a:t>
                      </a: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</a:rPr>
                        <a:t>–$122M</a:t>
                      </a: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</a:rPr>
                        <a:t>–5.5%</a:t>
                      </a: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</a:rPr>
                        <a:t>Tailwind: direct channel shift</a:t>
                      </a: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</a:rPr>
                        <a:t>Other</a:t>
                      </a: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</a:rPr>
                        <a:t>$9.919B</a:t>
                      </a: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</a:rPr>
                        <a:t>$9.053B</a:t>
                      </a: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</a:rPr>
                        <a:t>+$866M</a:t>
                      </a: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</a:rPr>
                        <a:t>+9.6%</a:t>
                      </a: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</a:rPr>
                        <a:t>Total OpEx</a:t>
                      </a: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</a:rPr>
                        <a:t>$54.356B</a:t>
                      </a: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</a:rPr>
                        <a:t>$51.967B</a:t>
                      </a: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</a:rPr>
                        <a:t>+$2.389B</a:t>
                      </a: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</a:rPr>
                        <a:t>+4.6%</a:t>
                      </a: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</a:rPr>
                        <a:t>vs. Revenue +3.5%</a:t>
                      </a: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28600" y="4526280"/>
            <a:ext cx="2852928" cy="502920"/>
          </a:xfrm>
          <a:prstGeom prst="rect">
            <a:avLst/>
          </a:prstGeom>
          <a:solidFill>
            <a:srgbClr val="D6E4F0"/>
          </a:solidFill>
          <a:ln/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320040" y="4544568"/>
            <a:ext cx="269748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A2332"/>
                </a:solidFill>
              </a:rPr>
              <a:t>Labor: Up $2.9B in 2 yrs. 32.5% of OpEx. Gauge-up means labor cost per SEAT rises less than cost per employee — 150 pax vs. 50 on replaced planes.</a:t>
            </a:r>
            <a:endParaRPr lang="en-US" sz="780" dirty="0"/>
          </a:p>
        </p:txBody>
      </p:sp>
      <p:sp>
        <p:nvSpPr>
          <p:cNvPr id="9" name="Shape 6"/>
          <p:cNvSpPr/>
          <p:nvPr/>
        </p:nvSpPr>
        <p:spPr>
          <a:xfrm>
            <a:off x="3172968" y="4526280"/>
            <a:ext cx="2852928" cy="502920"/>
          </a:xfrm>
          <a:prstGeom prst="rect">
            <a:avLst/>
          </a:prstGeom>
          <a:solidFill>
            <a:srgbClr val="2A4F7F"/>
          </a:solidFill>
          <a:ln/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264408" y="4544568"/>
            <a:ext cx="269748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</a:rPr>
              <a:t>Landing Fees: +12% = UAL's own $2.7B EWR Terminal A + ORD T2 satellite + DEN gates. Premium product in OpEx, not just CapEx.</a:t>
            </a:r>
            <a:endParaRPr lang="en-US" sz="780" dirty="0"/>
          </a:p>
        </p:txBody>
      </p:sp>
      <p:sp>
        <p:nvSpPr>
          <p:cNvPr id="11" name="Shape 8"/>
          <p:cNvSpPr/>
          <p:nvPr/>
        </p:nvSpPr>
        <p:spPr>
          <a:xfrm>
            <a:off x="6117336" y="4526280"/>
            <a:ext cx="2852928" cy="502920"/>
          </a:xfrm>
          <a:prstGeom prst="rect">
            <a:avLst/>
          </a:prstGeom>
          <a:solidFill>
            <a:srgbClr val="C9A84C"/>
          </a:solidFill>
          <a:ln/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208776" y="4544568"/>
            <a:ext cx="269748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A2332"/>
                </a:solidFill>
              </a:rPr>
              <a:t>Distribution –5.5%: Direct channels handle 85%+ of check-ins. GDS fee avoidance has legs as app engagement accelerates.</a:t>
            </a:r>
            <a:endParaRPr lang="en-US" sz="7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Two-Speed Airline: Regional Revenue Trends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621792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C87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International outperformance driving revenue quality improvement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9144000" cy="50292"/>
          </a:xfrm>
          <a:prstGeom prst="rect">
            <a:avLst/>
          </a:prstGeom>
          <a:solidFill>
            <a:srgbClr val="C9A84C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078992"/>
          <a:ext cx="50292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822960"/>
                <a:gridCol w="822960"/>
                <a:gridCol w="822960"/>
                <a:gridCol w="822960"/>
              </a:tblGrid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Region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FY2023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FY2024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FY2025E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3-Yr CAGR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Domestic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$31.874B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$28.458B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~$31.6B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–0.4%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Atlantic — Europe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$8.068B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$8.099B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~$10.1B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+11.9%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Atlantic — MEIA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$1.000B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$1.141B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~$1.3B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+14.0%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Pacific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$4.437B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$5.226B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~$6.88B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+24.5%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Latin America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$3.667B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$4.827B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~$5.53B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+22.8%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40680" y="1078992"/>
            <a:ext cx="3474720" cy="86868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550408" y="1143000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</a:rPr>
              <a:t>MEIA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550408" y="1399032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+58.7% Q4 revenue | +56% capacity | EWR-Dubai, EWR-Delhi, SFO-Bangalore ramping | India = structural opportunity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440680" y="1938528"/>
            <a:ext cx="3474720" cy="868680"/>
          </a:xfrm>
          <a:prstGeom prst="rect">
            <a:avLst/>
          </a:prstGeom>
          <a:solidFill>
            <a:srgbClr val="2A4F7F"/>
          </a:solidFill>
          <a:ln/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550408" y="2002536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</a:rPr>
              <a:t>Pacific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550408" y="2258568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+10.1% Q4 | Only U.S. carrier to Bangkok, Adelaide, Ho Chi Minh City | Monopoly routes support yield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5440680" y="2798064"/>
            <a:ext cx="3474720" cy="868680"/>
          </a:xfrm>
          <a:prstGeom prst="rect">
            <a:avLst/>
          </a:prstGeom>
          <a:solidFill>
            <a:srgbClr val="D6E4F0"/>
          </a:solidFill>
          <a:ln/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550408" y="2862072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</a:rPr>
              <a:t>Domestic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550408" y="3118104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2332"/>
                </a:solidFill>
              </a:rPr>
              <a:t>+2.0% Q4 revenue but PRASM –1.9% | Soft all year | Mid-year capacity discipline in progress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5440680" y="3657600"/>
            <a:ext cx="3474720" cy="914400"/>
          </a:xfrm>
          <a:prstGeom prst="rect">
            <a:avLst/>
          </a:prstGeom>
          <a:solidFill>
            <a:srgbClr val="374151"/>
          </a:solidFill>
          <a:ln/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550408" y="3721608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</a:rPr>
              <a:t>Latin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550408" y="3977640"/>
            <a:ext cx="3291840" cy="557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+0.5% Q4 but PRASM –7.6% | Brazilian competition + macro | ~10% of pax revenue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228600" y="3401568"/>
            <a:ext cx="5029200" cy="960120"/>
          </a:xfrm>
          <a:prstGeom prst="rect">
            <a:avLst/>
          </a:prstGeom>
          <a:solidFill>
            <a:srgbClr val="2A4F7F"/>
          </a:solidFill>
          <a:ln/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338328" y="3447288"/>
            <a:ext cx="4828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A84C"/>
                </a:solidFill>
              </a:rPr>
              <a:t>2026 Route Expansion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338328" y="3703320"/>
            <a:ext cx="482803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New routes in 2025–2026: EWR-Dubai (daily), EWR-Delhi (daily), SFO-Bangalore, SFO-Singapore (787-9 Elevated April 2026), ORD-Melbourne. Pacific + MEIA corridors represent the highest PRASM expansion opportunity in the portfolio.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228600" y="4434840"/>
            <a:ext cx="8686800" cy="56692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3" name="Text 20"/>
          <p:cNvSpPr/>
          <p:nvPr/>
        </p:nvSpPr>
        <p:spPr>
          <a:xfrm>
            <a:off x="365760" y="4453128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2332"/>
                </a:solidFill>
              </a:rPr>
              <a:t>A321XLR (4,700 nm range) unlocks routes impossible for 757 or A321neo: EWR to Bari, Split, Glasgow, Santiago de Compostela — point-to-point international with narrowbody economics.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Quality: Premium &amp; Loyalty Flywheel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621792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C87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Structural shift to higher-margin revenue streams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9144000" cy="5029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" y="1078992"/>
            <a:ext cx="4114800" cy="2743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107899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Premium Cabin Performance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8600" y="1353312"/>
            <a:ext cx="4114800" cy="365760"/>
          </a:xfrm>
          <a:prstGeom prst="rect">
            <a:avLst/>
          </a:prstGeom>
          <a:solidFill>
            <a:srgbClr val="D6E4F0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38988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</a:rPr>
              <a:t>Premium cabin FY2025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926080" y="138988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E3A5F"/>
                </a:solidFill>
              </a:rPr>
              <a:t>+11% YoY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28600" y="1737360"/>
            <a:ext cx="4114800" cy="365760"/>
          </a:xfrm>
          <a:prstGeom prst="rect">
            <a:avLst/>
          </a:prstGeom>
          <a:solidFill>
            <a:srgbClr val="EDF4FB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" y="1773936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</a:rPr>
              <a:t>Basic Economy FY2025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926080" y="1773936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E3A5F"/>
                </a:solidFill>
              </a:rPr>
              <a:t>+5% YoY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28600" y="2121408"/>
            <a:ext cx="4114800" cy="365760"/>
          </a:xfrm>
          <a:prstGeom prst="rect">
            <a:avLst/>
          </a:prstGeom>
          <a:solidFill>
            <a:srgbClr val="D6E4F0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" y="2157984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</a:rPr>
              <a:t>Premium seats flown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926080" y="215798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E3A5F"/>
                </a:solidFill>
              </a:rPr>
              <a:t>27.4M (12% of seats)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28600" y="2505456"/>
            <a:ext cx="4114800" cy="365760"/>
          </a:xfrm>
          <a:prstGeom prst="rect">
            <a:avLst/>
          </a:prstGeom>
          <a:solidFill>
            <a:srgbClr val="EDF4FB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" y="254203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</a:rPr>
              <a:t>Premium seats/N.Am. dep. since 2021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926080" y="254203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E3A5F"/>
                </a:solidFill>
              </a:rPr>
              <a:t>+40%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28600" y="2889504"/>
            <a:ext cx="4114800" cy="365760"/>
          </a:xfrm>
          <a:prstGeom prst="rect">
            <a:avLst/>
          </a:prstGeom>
          <a:solidFill>
            <a:srgbClr val="D6E4F0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" y="29260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</a:rPr>
              <a:t>Narrowbodies w/ Signature Interior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926080" y="292608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E3A5F"/>
                </a:solidFill>
              </a:rPr>
              <a:t>119 (68% of fleet)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28600" y="3273552"/>
            <a:ext cx="4114800" cy="365760"/>
          </a:xfrm>
          <a:prstGeom prst="rect">
            <a:avLst/>
          </a:prstGeom>
          <a:solidFill>
            <a:srgbClr val="EDF4FB"/>
          </a:solidFill>
          <a:ln/>
        </p:spPr>
      </p:sp>
      <p:sp>
        <p:nvSpPr>
          <p:cNvPr id="24" name="Text 22"/>
          <p:cNvSpPr/>
          <p:nvPr/>
        </p:nvSpPr>
        <p:spPr>
          <a:xfrm>
            <a:off x="320040" y="331012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</a:rPr>
              <a:t>Signature Interior NPS premium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926080" y="331012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E3A5F"/>
                </a:solidFill>
              </a:rPr>
              <a:t>+10 pts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0" y="1078992"/>
            <a:ext cx="4343400" cy="274320"/>
          </a:xfrm>
          <a:prstGeom prst="rect">
            <a:avLst/>
          </a:prstGeom>
          <a:solidFill>
            <a:srgbClr val="2A4F7F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0" y="1078992"/>
            <a:ext cx="4343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MileagePlus / Loyalty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0" y="1353312"/>
            <a:ext cx="4343400" cy="365760"/>
          </a:xfrm>
          <a:prstGeom prst="rect">
            <a:avLst/>
          </a:prstGeom>
          <a:solidFill>
            <a:srgbClr val="D6E4F0"/>
          </a:solidFill>
          <a:ln/>
        </p:spPr>
      </p:sp>
      <p:sp>
        <p:nvSpPr>
          <p:cNvPr id="29" name="Text 27"/>
          <p:cNvSpPr/>
          <p:nvPr/>
        </p:nvSpPr>
        <p:spPr>
          <a:xfrm>
            <a:off x="4663440" y="138988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</a:rPr>
              <a:t>Total members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7543800" y="1389888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E3A5F"/>
                </a:solidFill>
              </a:rPr>
              <a:t>130M+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0" y="1737360"/>
            <a:ext cx="4343400" cy="365760"/>
          </a:xfrm>
          <a:prstGeom prst="rect">
            <a:avLst/>
          </a:prstGeom>
          <a:solidFill>
            <a:srgbClr val="EDF4FB"/>
          </a:solidFill>
          <a:ln/>
        </p:spPr>
      </p:sp>
      <p:sp>
        <p:nvSpPr>
          <p:cNvPr id="32" name="Text 30"/>
          <p:cNvSpPr/>
          <p:nvPr/>
        </p:nvSpPr>
        <p:spPr>
          <a:xfrm>
            <a:off x="4663440" y="1773936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</a:rPr>
              <a:t>Chase co-brand spend growth Q4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43800" y="1773936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E3A5F"/>
                </a:solidFill>
              </a:rPr>
              <a:t>+14%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0" y="2121408"/>
            <a:ext cx="4343400" cy="365760"/>
          </a:xfrm>
          <a:prstGeom prst="rect">
            <a:avLst/>
          </a:prstGeom>
          <a:solidFill>
            <a:srgbClr val="D6E4F0"/>
          </a:solidFill>
          <a:ln/>
        </p:spPr>
      </p:sp>
      <p:sp>
        <p:nvSpPr>
          <p:cNvPr id="35" name="Text 33"/>
          <p:cNvSpPr/>
          <p:nvPr/>
        </p:nvSpPr>
        <p:spPr>
          <a:xfrm>
            <a:off x="4663440" y="2157984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</a:rPr>
              <a:t>Chase co-brand spend growth FY2025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7543800" y="2157984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E3A5F"/>
                </a:solidFill>
              </a:rPr>
              <a:t>+12%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572000" y="2505456"/>
            <a:ext cx="4343400" cy="365760"/>
          </a:xfrm>
          <a:prstGeom prst="rect">
            <a:avLst/>
          </a:prstGeom>
          <a:solidFill>
            <a:srgbClr val="EDF4FB"/>
          </a:solidFill>
          <a:ln/>
        </p:spPr>
      </p:sp>
      <p:sp>
        <p:nvSpPr>
          <p:cNvPr id="38" name="Text 36"/>
          <p:cNvSpPr/>
          <p:nvPr/>
        </p:nvSpPr>
        <p:spPr>
          <a:xfrm>
            <a:off x="4663440" y="254203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</a:rPr>
              <a:t>New cards/year (3rd consecutive yr)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7543800" y="2542032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E3A5F"/>
                </a:solidFill>
              </a:rPr>
              <a:t>1M+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572000" y="2889504"/>
            <a:ext cx="4343400" cy="365760"/>
          </a:xfrm>
          <a:prstGeom prst="rect">
            <a:avLst/>
          </a:prstGeom>
          <a:solidFill>
            <a:srgbClr val="D6E4F0"/>
          </a:solidFill>
          <a:ln/>
        </p:spPr>
      </p:sp>
      <p:sp>
        <p:nvSpPr>
          <p:cNvPr id="41" name="Text 39"/>
          <p:cNvSpPr/>
          <p:nvPr/>
        </p:nvSpPr>
        <p:spPr>
          <a:xfrm>
            <a:off x="4663440" y="292608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</a:rPr>
              <a:t>Chase deal expiry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7543800" y="292608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E3A5F"/>
                </a:solidFill>
              </a:rPr>
              <a:t>2029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572000" y="3273552"/>
            <a:ext cx="4343400" cy="365760"/>
          </a:xfrm>
          <a:prstGeom prst="rect">
            <a:avLst/>
          </a:prstGeom>
          <a:solidFill>
            <a:srgbClr val="EDF4FB"/>
          </a:solidFill>
          <a:ln/>
        </p:spPr>
      </p:sp>
      <p:sp>
        <p:nvSpPr>
          <p:cNvPr id="44" name="Text 42"/>
          <p:cNvSpPr/>
          <p:nvPr/>
        </p:nvSpPr>
        <p:spPr>
          <a:xfrm>
            <a:off x="4663440" y="331012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</a:rPr>
              <a:t>CEO target: MileagePlus profit growth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7543800" y="3310128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E3A5F"/>
                </a:solidFill>
              </a:rPr>
              <a:t>2× by 2030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28600" y="3886200"/>
            <a:ext cx="8686800" cy="1097280"/>
          </a:xfrm>
          <a:prstGeom prst="rect">
            <a:avLst/>
          </a:prstGeom>
          <a:solidFill>
            <a:srgbClr val="C9A84C"/>
          </a:solidFill>
          <a:ln/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365760" y="39319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</a:rPr>
              <a:t>MileagePlus Standalone Valuation Opportunity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365760" y="4224528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</a:rPr>
              <a:t>In 2020, bankers valued MileagePlus at ~$22B as loan collateral — and the program has grown since. UAL total market cap today: ~$28B. This implies minimal standalone loyalty value is priced in — a significant re-rating opportunity vs. the Delta/AmEx model. New April 2026: primary cardholders earn 2× more miles; 10–15% discount on award redemptions.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Next Fleet Transformation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621792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C87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Largest delivery pipeline in UAL history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9144000" cy="5029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1078992"/>
            <a:ext cx="1965960" cy="73152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115568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1358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20040" y="1508760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4F0"/>
                </a:solidFill>
              </a:rPr>
              <a:t>Dec'23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96312" y="1078992"/>
            <a:ext cx="1965960" cy="73152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96312" y="1115568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1406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96312" y="1508760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4F0"/>
                </a:solidFill>
              </a:rPr>
              <a:t>Dec'24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72584" y="1078992"/>
            <a:ext cx="1965960" cy="73152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72584" y="1115568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1490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672584" y="1508760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4F0"/>
                </a:solidFill>
              </a:rPr>
              <a:t>Dec'25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848856" y="1078992"/>
            <a:ext cx="1965960" cy="731520"/>
          </a:xfrm>
          <a:prstGeom prst="rect">
            <a:avLst/>
          </a:prstGeom>
          <a:solidFill>
            <a:srgbClr val="C9A84C"/>
          </a:solidFill>
          <a:ln/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48856" y="1115568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332"/>
                </a:solidFill>
              </a:rPr>
              <a:t>1610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848856" y="1508760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332"/>
                </a:solidFill>
              </a:rPr>
              <a:t>Dec'26E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28600" y="1920240"/>
            <a:ext cx="4114800" cy="457200"/>
          </a:xfrm>
          <a:prstGeom prst="rect">
            <a:avLst/>
          </a:prstGeom>
          <a:solidFill>
            <a:srgbClr val="D6E4F0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" y="1947672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5F"/>
                </a:solidFill>
              </a:rPr>
              <a:t>2025 Deliveries: 71 narrowbody + 11 widebody = 82 aircraft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0" y="1920240"/>
            <a:ext cx="4343400" cy="457200"/>
          </a:xfrm>
          <a:prstGeom prst="rect">
            <a:avLst/>
          </a:prstGeom>
          <a:solidFill>
            <a:srgbClr val="2A4F7F"/>
          </a:solidFill>
          <a:ln/>
        </p:spPr>
      </p:sp>
      <p:sp>
        <p:nvSpPr>
          <p:cNvPr id="21" name="Text 19"/>
          <p:cNvSpPr/>
          <p:nvPr/>
        </p:nvSpPr>
        <p:spPr>
          <a:xfrm>
            <a:off x="4663440" y="1947672"/>
            <a:ext cx="4160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2026 Plan: ~100 NB + ~20 WB = ~120 aircraft (largest U.S. widebody intake since 1988)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2487168"/>
          <a:ext cx="5943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103120"/>
                <a:gridCol w="1828800"/>
              </a:tblGrid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Aircraft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Purpose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Orders Remaining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Boeing 787-9 Elevated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Long-haul premium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47+ next wave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Boeing 737 MAX 8/9/10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Domestic narrowbody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200+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Airbus A321neo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General domestic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18+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A321neo Coastliner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Domestic transcon lie-flat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50 total, 40 by Apr'28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Airbus A321XLR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New intl routes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50 total, 25+ by 2028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CRJ450 (SkyWest)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Premium regional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70 total, 50 by 2028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Total United Next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630+ by 2034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Shape 20"/>
          <p:cNvSpPr/>
          <p:nvPr/>
        </p:nvSpPr>
        <p:spPr>
          <a:xfrm>
            <a:off x="6355080" y="2487168"/>
            <a:ext cx="2560320" cy="1097280"/>
          </a:xfrm>
          <a:prstGeom prst="rect">
            <a:avLst/>
          </a:prstGeom>
          <a:solidFill>
            <a:srgbClr val="D6E4F0"/>
          </a:solidFill>
          <a:ln/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6446520" y="253288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5F"/>
                </a:solidFill>
              </a:rPr>
              <a:t>Gauge-Up Impact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446520" y="2807208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2332"/>
                </a:solidFill>
              </a:rPr>
              <a:t>Avg mainline seats/dep: 151 (2019) → 174 (2025). 50-seat RJs → 150+ seat mainline = 20% better fuel/seat, lower crew cost per passenger.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6355080" y="3685032"/>
            <a:ext cx="2560320" cy="1280160"/>
          </a:xfrm>
          <a:prstGeom prst="rect">
            <a:avLst/>
          </a:prstGeom>
          <a:solidFill>
            <a:srgbClr val="C9A84C"/>
          </a:solidFill>
          <a:ln/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6446520" y="373075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332"/>
                </a:solidFill>
              </a:rPr>
              <a:t>Boeing Risk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446520" y="4005072"/>
            <a:ext cx="237744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1A2332"/>
                </a:solidFill>
              </a:rPr>
              <a:t>FAA 38 MAX/month production cap. MAX 10 certification pending — 200 aircraft waiting. Each month delay = ~$30–40M deferred efficiency. Mitigation: A321neo/XLR Airbus orders provide operational hedge.</a:t>
            </a:r>
            <a:endParaRPr lang="en-US" sz="7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Product Architecture: 2026–2028 Launches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621792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C87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Four differentiated products entering service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9144000" cy="5029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" y="1078992"/>
            <a:ext cx="4343400" cy="201168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078992"/>
            <a:ext cx="4343400" cy="2926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" name="Text 6"/>
          <p:cNvSpPr/>
          <p:nvPr/>
        </p:nvSpPr>
        <p:spPr>
          <a:xfrm>
            <a:off x="338328" y="1106424"/>
            <a:ext cx="41239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332"/>
                </a:solidFill>
              </a:rPr>
              <a:t>787-9 Elevated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38328" y="1408176"/>
            <a:ext cx="41239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E8C872"/>
                </a:solidFill>
              </a:rPr>
              <a:t>April 2026 | SFO-Singapore, SFO-LHR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1636776"/>
            <a:ext cx="4087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•  8 Polaris Studio suites (27" 4K OLED)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65760" y="1929384"/>
            <a:ext cx="4087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•  56 United Polaris + 35 Premium Plus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65760" y="2221992"/>
            <a:ext cx="4087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•  222 total | 44.6% premium — highest among U.S. widebodies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65760" y="2514600"/>
            <a:ext cx="4087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•  Target: 30+ aircraft by end 2027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617720" y="1078992"/>
            <a:ext cx="4343400" cy="2011680"/>
          </a:xfrm>
          <a:prstGeom prst="rect">
            <a:avLst/>
          </a:prstGeom>
          <a:solidFill>
            <a:srgbClr val="2A4F7F"/>
          </a:solidFill>
          <a:ln/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17720" y="1078992"/>
            <a:ext cx="4343400" cy="2926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6" name="Text 14"/>
          <p:cNvSpPr/>
          <p:nvPr/>
        </p:nvSpPr>
        <p:spPr>
          <a:xfrm>
            <a:off x="4727448" y="1106424"/>
            <a:ext cx="41239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332"/>
                </a:solidFill>
              </a:rPr>
              <a:t>A321neo Coastliner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27448" y="1408176"/>
            <a:ext cx="41239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E8C872"/>
                </a:solidFill>
              </a:rPr>
              <a:t>Summer 2026 | SFO/LAX ↔ EWR/JFK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754880" y="1636776"/>
            <a:ext cx="4087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•  20 Polaris — FIRST lie-flat on any U.S. domestic narrowbody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754880" y="1929384"/>
            <a:ext cx="4087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•  12 Premium Plus — FIRST on domestic narrowbody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754880" y="2221992"/>
            <a:ext cx="4087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•  161 total | 50 ordered, 40 by Apr'28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754880" y="2514600"/>
            <a:ext cx="4087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•  Target: 10,000+ pax/day on these corridors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28600" y="2926080"/>
            <a:ext cx="4343400" cy="201168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28600" y="2926080"/>
            <a:ext cx="4343400" cy="2926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4" name="Text 22"/>
          <p:cNvSpPr/>
          <p:nvPr/>
        </p:nvSpPr>
        <p:spPr>
          <a:xfrm>
            <a:off x="338328" y="2953512"/>
            <a:ext cx="41239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332"/>
                </a:solidFill>
              </a:rPr>
              <a:t>A321XLR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8328" y="3255264"/>
            <a:ext cx="41239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E8C872"/>
                </a:solidFill>
              </a:rPr>
              <a:t>Summer 2026 | New European + S. American routes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65760" y="3483864"/>
            <a:ext cx="4087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•  20 Polaris (all-aisle access + privacy door)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65760" y="3776472"/>
            <a:ext cx="4087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•  12 Premium Plus | ~118 Economy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65760" y="4069080"/>
            <a:ext cx="4087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•  ~150 total | All screens 4K OLED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65760" y="4361688"/>
            <a:ext cx="4087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•  Range: 4,700 nm — Unlocks Bari, Split, Glasgow, Santiago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617720" y="2926080"/>
            <a:ext cx="4343400" cy="2011680"/>
          </a:xfrm>
          <a:prstGeom prst="rect">
            <a:avLst/>
          </a:prstGeom>
          <a:solidFill>
            <a:srgbClr val="2A4F7F"/>
          </a:solidFill>
          <a:ln/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17720" y="2926080"/>
            <a:ext cx="4343400" cy="2926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2" name="Text 30"/>
          <p:cNvSpPr/>
          <p:nvPr/>
        </p:nvSpPr>
        <p:spPr>
          <a:xfrm>
            <a:off x="4727448" y="2953512"/>
            <a:ext cx="41239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332"/>
                </a:solidFill>
              </a:rPr>
              <a:t>CRJ450 Premium Regional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727448" y="3255264"/>
            <a:ext cx="41239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E8C872"/>
                </a:solidFill>
              </a:rPr>
              <a:t>Fall 2026 | DEN + ORD hubs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754880" y="3483864"/>
            <a:ext cx="4087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•  7 United First (37" pitch) — overhead luggage closets (industry first)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754880" y="3776472"/>
            <a:ext cx="4087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•  16 Economy Plus (33-34") | 18 Economy (31")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754880" y="4069080"/>
            <a:ext cx="4087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•  Free Starlink for MileagePlus members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754880" y="4361688"/>
            <a:ext cx="4087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•  70 eventual fleet | 50 by 2028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 as a Business: Starlink + Kinective Media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621792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C87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Monetizing the world's largest captive audience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9144000" cy="5029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" y="1078992"/>
            <a:ext cx="4114800" cy="2743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107899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Starlink Rollout Timeline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8600" y="1389888"/>
            <a:ext cx="4114800" cy="402336"/>
          </a:xfrm>
          <a:prstGeom prst="rect">
            <a:avLst/>
          </a:prstGeom>
          <a:solidFill>
            <a:srgbClr val="D6E4F0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426464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3A5F"/>
                </a:solidFill>
              </a:rPr>
              <a:t>May 2025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463040" y="1426464"/>
            <a:ext cx="2788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</a:rPr>
              <a:t>First E175 regional enters service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28600" y="1828800"/>
            <a:ext cx="4114800" cy="402336"/>
          </a:xfrm>
          <a:prstGeom prst="rect">
            <a:avLst/>
          </a:prstGeom>
          <a:solidFill>
            <a:srgbClr val="EDF4FB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" y="1865376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3A5F"/>
                </a:solidFill>
              </a:rPr>
              <a:t>Oct 15, 2025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463040" y="1865376"/>
            <a:ext cx="2788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</a:rPr>
              <a:t>First mainline commercial flight (EWR)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28600" y="2267712"/>
            <a:ext cx="4114800" cy="402336"/>
          </a:xfrm>
          <a:prstGeom prst="rect">
            <a:avLst/>
          </a:prstGeom>
          <a:solidFill>
            <a:srgbClr val="D6E4F0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" y="2304288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3A5F"/>
                </a:solidFill>
              </a:rPr>
              <a:t>Feb 2026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463040" y="2304288"/>
            <a:ext cx="2788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</a:rPr>
              <a:t>300+ mainline aircraft equipped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28600" y="2706624"/>
            <a:ext cx="4114800" cy="402336"/>
          </a:xfrm>
          <a:prstGeom prst="rect">
            <a:avLst/>
          </a:prstGeom>
          <a:solidFill>
            <a:srgbClr val="EDF4FB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" y="2743200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3A5F"/>
                </a:solidFill>
              </a:rPr>
              <a:t>End 2026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463040" y="2743200"/>
            <a:ext cx="2788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</a:rPr>
              <a:t>800+ total aircraft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28600" y="3145536"/>
            <a:ext cx="4114800" cy="402336"/>
          </a:xfrm>
          <a:prstGeom prst="rect">
            <a:avLst/>
          </a:prstGeom>
          <a:solidFill>
            <a:srgbClr val="D6E4F0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" y="318211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3A5F"/>
                </a:solidFill>
              </a:rPr>
              <a:t>End 2027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463040" y="3182112"/>
            <a:ext cx="2788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</a:rPr>
              <a:t>Full fleet (~50+ installs/month)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28600" y="3584448"/>
            <a:ext cx="4114800" cy="402336"/>
          </a:xfrm>
          <a:prstGeom prst="rect">
            <a:avLst/>
          </a:prstGeom>
          <a:solidFill>
            <a:srgbClr val="EDF4FB"/>
          </a:solidFill>
          <a:ln/>
        </p:spPr>
      </p:sp>
      <p:sp>
        <p:nvSpPr>
          <p:cNvPr id="24" name="Text 22"/>
          <p:cNvSpPr/>
          <p:nvPr/>
        </p:nvSpPr>
        <p:spPr>
          <a:xfrm>
            <a:off x="320040" y="3621024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3A5F"/>
                </a:solidFill>
              </a:rPr>
              <a:t>All time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463040" y="3621024"/>
            <a:ext cx="2788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</a:rPr>
              <a:t>Free for all MileagePlus members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572000" y="1078992"/>
            <a:ext cx="4343400" cy="274320"/>
          </a:xfrm>
          <a:prstGeom prst="rect">
            <a:avLst/>
          </a:prstGeom>
          <a:solidFill>
            <a:srgbClr val="2A4F7F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0" y="1078992"/>
            <a:ext cx="4343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Kinective Media — The Real Story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663440" y="1399032"/>
            <a:ext cx="4160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5F"/>
                </a:solidFill>
              </a:rPr>
              <a:t>Three assets no competitor possesses simultaneously: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0" y="1664208"/>
            <a:ext cx="4343400" cy="438912"/>
          </a:xfrm>
          <a:prstGeom prst="rect">
            <a:avLst/>
          </a:prstGeom>
          <a:solidFill>
            <a:srgbClr val="D6E4F0"/>
          </a:solidFill>
          <a:ln/>
        </p:spPr>
      </p:sp>
      <p:sp>
        <p:nvSpPr>
          <p:cNvPr id="30" name="Text 28"/>
          <p:cNvSpPr/>
          <p:nvPr/>
        </p:nvSpPr>
        <p:spPr>
          <a:xfrm>
            <a:off x="4663440" y="1709928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227,000+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806440" y="1709928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</a:rPr>
              <a:t>seatback screens — captive audience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572000" y="2139696"/>
            <a:ext cx="4343400" cy="438912"/>
          </a:xfrm>
          <a:prstGeom prst="rect">
            <a:avLst/>
          </a:prstGeom>
          <a:solidFill>
            <a:srgbClr val="EDF4FB"/>
          </a:solidFill>
          <a:ln/>
        </p:spPr>
      </p:sp>
      <p:sp>
        <p:nvSpPr>
          <p:cNvPr id="33" name="Text 31"/>
          <p:cNvSpPr/>
          <p:nvPr/>
        </p:nvSpPr>
        <p:spPr>
          <a:xfrm>
            <a:off x="4663440" y="2185416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108M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806440" y="2185416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</a:rPr>
              <a:t>unique annual flyers with known demographics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572000" y="2615184"/>
            <a:ext cx="4343400" cy="438912"/>
          </a:xfrm>
          <a:prstGeom prst="rect">
            <a:avLst/>
          </a:prstGeom>
          <a:solidFill>
            <a:srgbClr val="D6E4F0"/>
          </a:solidFill>
          <a:ln/>
        </p:spPr>
      </p:sp>
      <p:sp>
        <p:nvSpPr>
          <p:cNvPr id="36" name="Text 34"/>
          <p:cNvSpPr/>
          <p:nvPr/>
        </p:nvSpPr>
        <p:spPr>
          <a:xfrm>
            <a:off x="4663440" y="2660904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130M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806440" y="2660904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</a:rPr>
              <a:t>MileagePlus members with first-party transaction data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572000" y="3108960"/>
            <a:ext cx="4343400" cy="96012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681728" y="3163824"/>
            <a:ext cx="41330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84C"/>
                </a:solidFill>
              </a:rPr>
              <a:t>CFO on Q4 earnings call: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681728" y="3383280"/>
            <a:ext cx="413308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FFFFFF"/>
                </a:solidFill>
              </a:rPr>
              <a:t>"Kinective will really start to accelerate in '26 and beyond." Media margins are dramatically higher than seat revenue margins. Even a few hundred million dollars of high-margin ad revenue changes the EBITDA profile in a way seat revenue cannot.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28600" y="4187952"/>
            <a:ext cx="8686800" cy="79552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2" name="Text 40"/>
          <p:cNvSpPr/>
          <p:nvPr/>
        </p:nvSpPr>
        <p:spPr>
          <a:xfrm>
            <a:off x="365760" y="4224528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</a:rPr>
              <a:t>Competitor Comparison: Delta has SkyMiles advertising. No competitor has UAL's level of integration between connectivity + behavioral data + programmatic capability. Market is currently valuing Kinective at approximately zero — a hidden asset not reflected in current multiples.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Excellence: Record Performance in 2025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621792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C87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Reliability and customer metrics at all-time highs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9144000" cy="5029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" y="1097280"/>
            <a:ext cx="2834640" cy="1261872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1887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84C"/>
                </a:solidFill>
              </a:rPr>
              <a:t>181.1M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20040" y="1664208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Passengers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(Company Record)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212140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8C872"/>
                </a:solidFill>
              </a:rPr>
              <a:t>+4.3% YoY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154680" y="1097280"/>
            <a:ext cx="2834640" cy="1261872"/>
          </a:xfrm>
          <a:prstGeom prst="rect">
            <a:avLst/>
          </a:prstGeom>
          <a:solidFill>
            <a:srgbClr val="2A4F7F"/>
          </a:solidFill>
          <a:ln/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46120" y="11887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84C"/>
                </a:solidFill>
              </a:rPr>
              <a:t>#2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246120" y="1664208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D:14 On-Time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Industry Rank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46120" y="212140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8C872"/>
                </a:solidFill>
              </a:rPr>
              <a:t>Best-ever system completion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080760" y="1097280"/>
            <a:ext cx="2834640" cy="1261872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72200" y="11887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84C"/>
                </a:solidFill>
              </a:rPr>
              <a:t>303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172200" y="1664208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Avg Daily Widebody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Departures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172200" y="212140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8C872"/>
                </a:solidFill>
              </a:rPr>
              <a:t>Company record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28600" y="2468880"/>
            <a:ext cx="2834640" cy="1261872"/>
          </a:xfrm>
          <a:prstGeom prst="rect">
            <a:avLst/>
          </a:prstGeom>
          <a:solidFill>
            <a:srgbClr val="2A4F7F"/>
          </a:solidFill>
          <a:ln/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20040" y="25603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84C"/>
                </a:solidFill>
              </a:rPr>
              <a:t>1M+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320040" y="3035808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ConnectionSaver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Rescues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0040" y="349300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8C872"/>
                </a:solidFill>
              </a:rPr>
              <a:t>+42% YoY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154680" y="2468880"/>
            <a:ext cx="2834640" cy="1261872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246120" y="25603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84C"/>
                </a:solidFill>
              </a:rPr>
              <a:t>85%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3246120" y="3035808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Digital Check-In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Rate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246120" y="349300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8C872"/>
                </a:solidFill>
              </a:rPr>
              <a:t>Q1 record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6080760" y="2468880"/>
            <a:ext cx="2834640" cy="1261872"/>
          </a:xfrm>
          <a:prstGeom prst="rect">
            <a:avLst/>
          </a:prstGeom>
          <a:solidFill>
            <a:srgbClr val="2A4F7F"/>
          </a:solidFill>
          <a:ln/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172200" y="25603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84C"/>
                </a:solidFill>
              </a:rPr>
              <a:t>Record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6172200" y="3035808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NPS Score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Q4 2025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172200" y="349300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8C872"/>
                </a:solidFill>
              </a:rPr>
              <a:t>Nov'25 highest ever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228600" y="3931920"/>
            <a:ext cx="8686800" cy="1069848"/>
          </a:xfrm>
          <a:prstGeom prst="rect">
            <a:avLst/>
          </a:prstGeom>
          <a:solidFill>
            <a:srgbClr val="C9A84C"/>
          </a:solidFill>
          <a:ln/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65760" y="398678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</a:rPr>
              <a:t>Early 2026 Demand Signals — Real-Time Leading Indicators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65760" y="4270248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</a:rPr>
              <a:t>Week of Jan 4, 2026: Highest flown revenue week in UAL history.  |  Week of Jan 11, 2026: Highest ticketing week AND highest business sales week ever recorded simultaneously.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</a:rPr>
              <a:t>Business travel leads leisure in recovery cycles — entering 2026 with record business bookings is the strongest real-time indicator that $12–$14 EPS guidance is achievable.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Sheet Normalization: Path to Investment Grade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621792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C87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Leverage declining; MileagePlus fully unencumbered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9144000" cy="50292"/>
          </a:xfrm>
          <a:prstGeom prst="rect">
            <a:avLst/>
          </a:prstGeom>
          <a:solidFill>
            <a:srgbClr val="C9A84C"/>
          </a:solidFill>
          <a:ln/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078992"/>
          <a:ext cx="566928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371600"/>
                <a:gridCol w="1371600"/>
                <a:gridCol w="914400"/>
                <a:gridCol w="91440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Period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Total Liquidity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Total Debt + Leases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Net Leverage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S&amp;P Rating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Dec 2023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$16.1B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$29.3B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2.9×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BB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Dec 2024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$17.4B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$28.7B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2.4×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BB+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Mar 2025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$18.3B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$27.7B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2.0×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BB+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Jun 2025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$18.6B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$27.1B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2.0×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BB+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Sep 2025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$16.3B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$25.4B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2.1×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BB+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Dec 2025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$15.2B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$25.0B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2.2×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BB+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Dec 2026E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&lt;2.0× target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IG target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080760" y="1078992"/>
            <a:ext cx="2834640" cy="1664208"/>
          </a:xfrm>
          <a:prstGeom prst="rect">
            <a:avLst/>
          </a:prstGeom>
          <a:solidFill>
            <a:srgbClr val="D6E4F0"/>
          </a:solidFill>
          <a:ln/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190488" y="1133856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A5F"/>
                </a:solidFill>
              </a:rPr>
              <a:t>Key Events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190488" y="1417320"/>
            <a:ext cx="263347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2332"/>
                </a:solidFill>
              </a:rPr>
              <a:t>•  Q3 2025: Prepaid final $1.5B of MileagePlus bonds — Full $6.8B COVID-era collateralized debt retired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190488" y="1810512"/>
            <a:ext cx="263347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2332"/>
                </a:solidFill>
              </a:rPr>
              <a:t>•  MileagePlus asset now fully unencumbered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190488" y="2203704"/>
            <a:ext cx="263347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2332"/>
                </a:solidFill>
              </a:rPr>
              <a:t>•  Interest expense: $1.629B (2024) → $1.373B (2025) = –15.7% — flows straight to EPS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228600" y="3794760"/>
            <a:ext cx="8686800" cy="1188720"/>
          </a:xfrm>
          <a:prstGeom prst="rect">
            <a:avLst/>
          </a:prstGeom>
          <a:solidFill>
            <a:srgbClr val="C9A84C"/>
          </a:solidFill>
          <a:ln/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65760" y="3831336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</a:rPr>
              <a:t>Three Consequences of Investment-Grade Upgrade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65760" y="4133088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</a:rPr>
              <a:t>1. Lower financing cost on $25B fleet debt → $125–190M annual interest savings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365760" y="4389120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</a:rPr>
              <a:t>2. IG mandate funds open to UAL equity — materially larger institutional buyer universe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365760" y="4645152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</a:rPr>
              <a:t>3. Multiple re-rating: COVID-risk narrative to investment-quality enterprise complete. Delta carries BBB-. UAL at 2.2× leverage and falling — probability of upgrade is high. Question: own before or after the rating action.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Allocation: CapEx Bulge → FCF Normalization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621792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C87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Fleet investment peaking; FCF trajectory improving post-2027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9144000" cy="50292"/>
          </a:xfrm>
          <a:prstGeom prst="rect">
            <a:avLst/>
          </a:prstGeom>
          <a:solidFill>
            <a:srgbClr val="C9A84C"/>
          </a:solidFill>
          <a:ln/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078992"/>
          <a:ext cx="50292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749808"/>
                <a:gridCol w="749808"/>
                <a:gridCol w="749808"/>
                <a:gridCol w="76809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9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FY2023</a:t>
                      </a:r>
                      <a:endParaRPr lang="en-US" sz="9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FY2024</a:t>
                      </a:r>
                      <a:endParaRPr lang="en-US" sz="9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FY2025</a:t>
                      </a:r>
                      <a:endParaRPr lang="en-US" sz="9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FY2026E</a:t>
                      </a:r>
                      <a:endParaRPr lang="en-US" sz="9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</a:rPr>
                        <a:t>Operating Cash Flow ($B)</a:t>
                      </a:r>
                      <a:endParaRPr lang="en-US" sz="9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</a:rPr>
                        <a:t>$6.911</a:t>
                      </a:r>
                      <a:endParaRPr lang="en-US" sz="9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</a:rPr>
                        <a:t>$9.4</a:t>
                      </a:r>
                      <a:endParaRPr lang="en-US" sz="9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</a:rPr>
                        <a:t>$8.4</a:t>
                      </a:r>
                      <a:endParaRPr lang="en-US" sz="9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</a:rPr>
                        <a:t>—</a:t>
                      </a:r>
                      <a:endParaRPr lang="en-US" sz="9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</a:rPr>
                        <a:t>Net CapEx ($B)</a:t>
                      </a:r>
                      <a:endParaRPr lang="en-US" sz="9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</a:rPr>
                        <a:t>$7.948</a:t>
                      </a:r>
                      <a:endParaRPr lang="en-US" sz="9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</a:rPr>
                        <a:t>$5.6</a:t>
                      </a:r>
                      <a:endParaRPr lang="en-US" sz="9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</a:rPr>
                        <a:t>$5.874</a:t>
                      </a:r>
                      <a:endParaRPr lang="en-US" sz="9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</a:rPr>
                        <a:t>&lt;$8.0</a:t>
                      </a:r>
                      <a:endParaRPr lang="en-US" sz="9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</a:rPr>
                        <a:t>Free Cash Flow ($B)</a:t>
                      </a:r>
                      <a:endParaRPr lang="en-US" sz="9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</a:rPr>
                        <a:t>($1.037)</a:t>
                      </a:r>
                      <a:endParaRPr lang="en-US" sz="9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</a:rPr>
                        <a:t>$3.4</a:t>
                      </a:r>
                      <a:endParaRPr lang="en-US" sz="9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</a:rPr>
                        <a:t>$2.7</a:t>
                      </a:r>
                      <a:endParaRPr lang="en-US" sz="9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</a:rPr>
                        <a:t>~$2.7</a:t>
                      </a:r>
                      <a:endParaRPr lang="en-US" sz="9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40680" y="1078992"/>
            <a:ext cx="3474720" cy="2743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" name="Text 5"/>
          <p:cNvSpPr/>
          <p:nvPr/>
        </p:nvSpPr>
        <p:spPr>
          <a:xfrm>
            <a:off x="5440680" y="107899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Capital Priority Stack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40680" y="1389888"/>
            <a:ext cx="3474720" cy="62179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0" name="Shape 7"/>
          <p:cNvSpPr/>
          <p:nvPr/>
        </p:nvSpPr>
        <p:spPr>
          <a:xfrm>
            <a:off x="5440680" y="1389888"/>
            <a:ext cx="320040" cy="62179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1" name="Text 8"/>
          <p:cNvSpPr/>
          <p:nvPr/>
        </p:nvSpPr>
        <p:spPr>
          <a:xfrm>
            <a:off x="5440680" y="1389888"/>
            <a:ext cx="320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332"/>
                </a:solidFill>
              </a:rPr>
              <a:t>1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806440" y="1435608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Fleet CapEx (Non-negotiable)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806440" y="1673352"/>
            <a:ext cx="3063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</a:rPr>
              <a:t>$5.9B in 2025, &lt;$8B guided 2026; 120 aircraft deliveries</a:t>
            </a:r>
            <a:endParaRPr lang="en-US" sz="780" dirty="0"/>
          </a:p>
        </p:txBody>
      </p:sp>
      <p:sp>
        <p:nvSpPr>
          <p:cNvPr id="14" name="Shape 11"/>
          <p:cNvSpPr/>
          <p:nvPr/>
        </p:nvSpPr>
        <p:spPr>
          <a:xfrm>
            <a:off x="5440680" y="2048256"/>
            <a:ext cx="3474720" cy="621792"/>
          </a:xfrm>
          <a:prstGeom prst="rect">
            <a:avLst/>
          </a:prstGeom>
          <a:solidFill>
            <a:srgbClr val="2A4F7F"/>
          </a:solidFill>
          <a:ln/>
        </p:spPr>
      </p:sp>
      <p:sp>
        <p:nvSpPr>
          <p:cNvPr id="15" name="Shape 12"/>
          <p:cNvSpPr/>
          <p:nvPr/>
        </p:nvSpPr>
        <p:spPr>
          <a:xfrm>
            <a:off x="5440680" y="2048256"/>
            <a:ext cx="320040" cy="62179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6" name="Text 13"/>
          <p:cNvSpPr/>
          <p:nvPr/>
        </p:nvSpPr>
        <p:spPr>
          <a:xfrm>
            <a:off x="5440680" y="2048256"/>
            <a:ext cx="320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332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806440" y="2093976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Debt Reduction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806440" y="2331720"/>
            <a:ext cx="3063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</a:rPr>
              <a:t>$3.7B total debt reduction FY2025; $3–4B/yr pace</a:t>
            </a:r>
            <a:endParaRPr lang="en-US" sz="780" dirty="0"/>
          </a:p>
        </p:txBody>
      </p:sp>
      <p:sp>
        <p:nvSpPr>
          <p:cNvPr id="19" name="Shape 16"/>
          <p:cNvSpPr/>
          <p:nvPr/>
        </p:nvSpPr>
        <p:spPr>
          <a:xfrm>
            <a:off x="5440680" y="2706624"/>
            <a:ext cx="3474720" cy="621792"/>
          </a:xfrm>
          <a:prstGeom prst="rect">
            <a:avLst/>
          </a:prstGeom>
          <a:solidFill>
            <a:srgbClr val="D6E4F0"/>
          </a:solidFill>
          <a:ln/>
        </p:spPr>
      </p:sp>
      <p:sp>
        <p:nvSpPr>
          <p:cNvPr id="20" name="Shape 17"/>
          <p:cNvSpPr/>
          <p:nvPr/>
        </p:nvSpPr>
        <p:spPr>
          <a:xfrm>
            <a:off x="5440680" y="2706624"/>
            <a:ext cx="320040" cy="62179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1" name="Text 18"/>
          <p:cNvSpPr/>
          <p:nvPr/>
        </p:nvSpPr>
        <p:spPr>
          <a:xfrm>
            <a:off x="5440680" y="2706624"/>
            <a:ext cx="320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332"/>
                </a:solidFill>
              </a:rPr>
              <a:t>3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806440" y="2752344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5F"/>
                </a:solidFill>
              </a:rPr>
              <a:t>Share Buybacks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806440" y="2990088"/>
            <a:ext cx="3063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A2332"/>
                </a:solidFill>
              </a:rPr>
              <a:t>FY2024: $81M → FY2025: $640M → expanding. $1.5B authorization outstanding. ~325M shares 2026E.</a:t>
            </a:r>
            <a:endParaRPr lang="en-US" sz="780" dirty="0"/>
          </a:p>
        </p:txBody>
      </p:sp>
      <p:sp>
        <p:nvSpPr>
          <p:cNvPr id="24" name="Shape 21"/>
          <p:cNvSpPr/>
          <p:nvPr/>
        </p:nvSpPr>
        <p:spPr>
          <a:xfrm>
            <a:off x="5440680" y="3364992"/>
            <a:ext cx="3474720" cy="621792"/>
          </a:xfrm>
          <a:prstGeom prst="rect">
            <a:avLst/>
          </a:prstGeom>
          <a:solidFill>
            <a:srgbClr val="EDF4FB"/>
          </a:solidFill>
          <a:ln/>
        </p:spPr>
      </p:sp>
      <p:sp>
        <p:nvSpPr>
          <p:cNvPr id="25" name="Shape 22"/>
          <p:cNvSpPr/>
          <p:nvPr/>
        </p:nvSpPr>
        <p:spPr>
          <a:xfrm>
            <a:off x="5440680" y="3364992"/>
            <a:ext cx="320040" cy="62179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6" name="Text 23"/>
          <p:cNvSpPr/>
          <p:nvPr/>
        </p:nvSpPr>
        <p:spPr>
          <a:xfrm>
            <a:off x="5440680" y="3364992"/>
            <a:ext cx="320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332"/>
                </a:solidFill>
              </a:rPr>
              <a:t>4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806440" y="3410712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5F"/>
                </a:solidFill>
              </a:rPr>
              <a:t>No Dividend (near-term)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5806440" y="3648456"/>
            <a:ext cx="3063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A2332"/>
                </a:solidFill>
              </a:rPr>
              <a:t>Free cash flow directed to fleet + delevering</a:t>
            </a:r>
            <a:endParaRPr lang="en-US" sz="780" dirty="0"/>
          </a:p>
        </p:txBody>
      </p:sp>
      <p:sp>
        <p:nvSpPr>
          <p:cNvPr id="29" name="Shape 26"/>
          <p:cNvSpPr/>
          <p:nvPr/>
        </p:nvSpPr>
        <p:spPr>
          <a:xfrm>
            <a:off x="228600" y="3858768"/>
            <a:ext cx="5029200" cy="1097280"/>
          </a:xfrm>
          <a:prstGeom prst="rect">
            <a:avLst/>
          </a:prstGeom>
          <a:solidFill>
            <a:srgbClr val="C9A84C"/>
          </a:solidFill>
          <a:ln/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365760" y="390448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332"/>
                </a:solidFill>
              </a:rPr>
              <a:t>Post-2027 FCF Normalization Thesis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365760" y="4197096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2332"/>
                </a:solidFill>
              </a:rPr>
              <a:t>CapEx bulge persists through 2027. Post-2028 steady-state: $5–6B CapEx on $8–9B operating CF = $3–4B sustained FCF. At 320M shares = ~$10–12/share FCF. Airlines historically trade at 5–8× FCF. At normalized FCF, current share price implies significant upside for investors who can look through the delivery cycle.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Sustainability: Honest Assessment &amp; Long-Term Commitments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621792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C87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Science-based targets; no greenwashing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9144000" cy="5029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" y="1078992"/>
            <a:ext cx="4114800" cy="2743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107899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Commitments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8600" y="1389888"/>
            <a:ext cx="4114800" cy="347472"/>
          </a:xfrm>
          <a:prstGeom prst="rect">
            <a:avLst/>
          </a:prstGeom>
          <a:solidFill>
            <a:srgbClr val="D6E4F0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41732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</a:rPr>
              <a:t>•  Net zero GHG by 2050 — first global airline without traditional offsets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28600" y="1773936"/>
            <a:ext cx="4114800" cy="347472"/>
          </a:xfrm>
          <a:prstGeom prst="rect">
            <a:avLst/>
          </a:prstGeom>
          <a:solidFill>
            <a:srgbClr val="EDF4FB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180136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</a:rPr>
              <a:t>•  50% emissions intensity reduction by 2035 vs. 2019 (SBTi-validated May 2023)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28600" y="2157984"/>
            <a:ext cx="4114800" cy="347472"/>
          </a:xfrm>
          <a:prstGeom prst="rect">
            <a:avLst/>
          </a:prstGeom>
          <a:solidFill>
            <a:srgbClr val="D6E4F0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" y="218541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</a:rPr>
              <a:t>•  CDP Climate Disclosure: A-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28600" y="2578608"/>
            <a:ext cx="4114800" cy="256032"/>
          </a:xfrm>
          <a:prstGeom prst="rect">
            <a:avLst/>
          </a:prstGeom>
          <a:solidFill>
            <a:srgbClr val="2A4F7F"/>
          </a:solidFill>
          <a:ln/>
        </p:spPr>
      </p:sp>
      <p:sp>
        <p:nvSpPr>
          <p:cNvPr id="15" name="Text 13"/>
          <p:cNvSpPr/>
          <p:nvPr/>
        </p:nvSpPr>
        <p:spPr>
          <a:xfrm>
            <a:off x="228600" y="257860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Emissions Intensity (per M ASMs)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 rot="16200000">
            <a:off x="45720" y="2880360"/>
            <a:ext cx="868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74151"/>
                </a:solidFill>
              </a:rPr>
              <a:t>CO2e / M ASM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14400" y="3931920"/>
            <a:ext cx="3429000" cy="0"/>
          </a:xfrm>
          <a:prstGeom prst="line">
            <a:avLst/>
          </a:prstGeom>
          <a:noFill/>
          <a:ln w="6350">
            <a:solidFill>
              <a:srgbClr val="D0DC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384048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74151"/>
                </a:solidFill>
              </a:rPr>
              <a:t>0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914400" y="3669030"/>
            <a:ext cx="3429000" cy="0"/>
          </a:xfrm>
          <a:prstGeom prst="line">
            <a:avLst/>
          </a:prstGeom>
          <a:noFill/>
          <a:ln w="6350">
            <a:solidFill>
              <a:srgbClr val="D0DC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357759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74151"/>
                </a:solidFill>
              </a:rPr>
              <a:t>50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14400" y="3406140"/>
            <a:ext cx="3429000" cy="0"/>
          </a:xfrm>
          <a:prstGeom prst="line">
            <a:avLst/>
          </a:prstGeom>
          <a:noFill/>
          <a:ln w="6350">
            <a:solidFill>
              <a:srgbClr val="D0DC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331470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74151"/>
                </a:solidFill>
              </a:rPr>
              <a:t>100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914400" y="3143250"/>
            <a:ext cx="3429000" cy="0"/>
          </a:xfrm>
          <a:prstGeom prst="line">
            <a:avLst/>
          </a:prstGeom>
          <a:noFill/>
          <a:ln w="6350">
            <a:solidFill>
              <a:srgbClr val="D0DC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" y="305181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74151"/>
                </a:solidFill>
              </a:rPr>
              <a:t>150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914400" y="2880360"/>
            <a:ext cx="3429000" cy="0"/>
          </a:xfrm>
          <a:prstGeom prst="line">
            <a:avLst/>
          </a:prstGeom>
          <a:noFill/>
          <a:ln w="6350">
            <a:solidFill>
              <a:srgbClr val="D0DC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0352" y="27889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74151"/>
                </a:solidFill>
              </a:rPr>
              <a:t>200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1005840" y="2946083"/>
            <a:ext cx="742950" cy="985838"/>
          </a:xfrm>
          <a:prstGeom prst="rect">
            <a:avLst/>
          </a:prstGeom>
          <a:solidFill>
            <a:srgbClr val="D6E4F0"/>
          </a:solidFill>
          <a:ln/>
        </p:spPr>
      </p:sp>
      <p:sp>
        <p:nvSpPr>
          <p:cNvPr id="28" name="Text 26"/>
          <p:cNvSpPr/>
          <p:nvPr/>
        </p:nvSpPr>
        <p:spPr>
          <a:xfrm>
            <a:off x="1005840" y="2744914"/>
            <a:ext cx="74295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A4F7F"/>
                </a:solidFill>
              </a:rPr>
              <a:t>187.5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05840" y="2982659"/>
            <a:ext cx="74295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3A5F"/>
                </a:solidFill>
              </a:rPr>
              <a:t>187.5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005840" y="3959352"/>
            <a:ext cx="74295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2021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840230" y="3005496"/>
            <a:ext cx="742950" cy="926424"/>
          </a:xfrm>
          <a:prstGeom prst="rect">
            <a:avLst/>
          </a:prstGeom>
          <a:solidFill>
            <a:srgbClr val="D6E4F0"/>
          </a:solidFill>
          <a:ln/>
        </p:spPr>
      </p:sp>
      <p:sp>
        <p:nvSpPr>
          <p:cNvPr id="32" name="Text 30"/>
          <p:cNvSpPr/>
          <p:nvPr/>
        </p:nvSpPr>
        <p:spPr>
          <a:xfrm>
            <a:off x="1840230" y="2804328"/>
            <a:ext cx="74295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A4F7F"/>
                </a:solidFill>
              </a:rPr>
              <a:t>176.2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840230" y="3042072"/>
            <a:ext cx="74295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3A5F"/>
                </a:solidFill>
              </a:rPr>
              <a:t>176.2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840230" y="3959352"/>
            <a:ext cx="74295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2022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674620" y="3043352"/>
            <a:ext cx="742950" cy="888568"/>
          </a:xfrm>
          <a:prstGeom prst="rect">
            <a:avLst/>
          </a:prstGeom>
          <a:solidFill>
            <a:srgbClr val="D6E4F0"/>
          </a:solidFill>
          <a:ln/>
        </p:spPr>
      </p:sp>
      <p:sp>
        <p:nvSpPr>
          <p:cNvPr id="36" name="Text 34"/>
          <p:cNvSpPr/>
          <p:nvPr/>
        </p:nvSpPr>
        <p:spPr>
          <a:xfrm>
            <a:off x="2674620" y="2842184"/>
            <a:ext cx="74295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A4F7F"/>
                </a:solidFill>
              </a:rPr>
              <a:t>169.0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674620" y="3079928"/>
            <a:ext cx="74295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3A5F"/>
                </a:solidFill>
              </a:rPr>
              <a:t>169.0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2674620" y="3959352"/>
            <a:ext cx="74295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2023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509010" y="3052290"/>
            <a:ext cx="742950" cy="87963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0" name="Text 38"/>
          <p:cNvSpPr/>
          <p:nvPr/>
        </p:nvSpPr>
        <p:spPr>
          <a:xfrm>
            <a:off x="3509010" y="2851122"/>
            <a:ext cx="74295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5F"/>
                </a:solidFill>
              </a:rPr>
              <a:t>167.3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509010" y="3088866"/>
            <a:ext cx="74295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167.3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509010" y="3959352"/>
            <a:ext cx="74295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2024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228600" y="4133088"/>
            <a:ext cx="164592" cy="109728"/>
          </a:xfrm>
          <a:prstGeom prst="rect">
            <a:avLst/>
          </a:prstGeom>
          <a:solidFill>
            <a:srgbClr val="D6E4F0"/>
          </a:solidFill>
          <a:ln/>
        </p:spPr>
      </p:sp>
      <p:sp>
        <p:nvSpPr>
          <p:cNvPr id="44" name="Text 42"/>
          <p:cNvSpPr/>
          <p:nvPr/>
        </p:nvSpPr>
        <p:spPr>
          <a:xfrm>
            <a:off x="420624" y="4123944"/>
            <a:ext cx="10058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2021–2023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1508760" y="4133088"/>
            <a:ext cx="164592" cy="10972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6" name="Text 44"/>
          <p:cNvSpPr/>
          <p:nvPr/>
        </p:nvSpPr>
        <p:spPr>
          <a:xfrm>
            <a:off x="1700784" y="4123944"/>
            <a:ext cx="10058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2024 (latest)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228600" y="4297680"/>
            <a:ext cx="4114800" cy="2286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8" name="Text 46"/>
          <p:cNvSpPr/>
          <p:nvPr/>
        </p:nvSpPr>
        <p:spPr>
          <a:xfrm>
            <a:off x="228600" y="429768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SAF Progress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4526280"/>
          <a:ext cx="41148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600200"/>
                <a:gridCol w="1600200"/>
              </a:tblGrid>
              <a:tr h="1645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Year</a:t>
                      </a:r>
                      <a:endParaRPr lang="en-US" sz="7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F7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SAF Gallons</a:t>
                      </a:r>
                      <a:endParaRPr lang="en-US" sz="7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F7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CO2e Avoided</a:t>
                      </a:r>
                      <a:endParaRPr lang="en-US" sz="7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F7F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332"/>
                          </a:solidFill>
                        </a:rPr>
                        <a:t>2021</a:t>
                      </a:r>
                      <a:endParaRPr lang="en-US" sz="7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2332"/>
                          </a:solidFill>
                        </a:rPr>
                        <a:t>0.6M</a:t>
                      </a:r>
                      <a:endParaRPr lang="en-US" sz="7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2332"/>
                          </a:solidFill>
                        </a:rPr>
                        <a:t>5,953 MT</a:t>
                      </a:r>
                      <a:endParaRPr lang="en-US" sz="7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332"/>
                          </a:solidFill>
                        </a:rPr>
                        <a:t>2022</a:t>
                      </a:r>
                      <a:endParaRPr lang="en-US" sz="7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2332"/>
                          </a:solidFill>
                        </a:rPr>
                        <a:t>2.9M</a:t>
                      </a:r>
                      <a:endParaRPr lang="en-US" sz="7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2332"/>
                          </a:solidFill>
                        </a:rPr>
                        <a:t>29,362 MT</a:t>
                      </a:r>
                      <a:endParaRPr lang="en-US" sz="7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332"/>
                          </a:solidFill>
                        </a:rPr>
                        <a:t>2023</a:t>
                      </a:r>
                      <a:endParaRPr lang="en-US" sz="7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2332"/>
                          </a:solidFill>
                        </a:rPr>
                        <a:t>7.3M</a:t>
                      </a:r>
                      <a:endParaRPr lang="en-US" sz="7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2332"/>
                          </a:solidFill>
                        </a:rPr>
                        <a:t>68,370 MT</a:t>
                      </a:r>
                      <a:endParaRPr lang="en-US" sz="7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332"/>
                          </a:solidFill>
                        </a:rPr>
                        <a:t>2024</a:t>
                      </a:r>
                      <a:endParaRPr lang="en-US" sz="7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2332"/>
                          </a:solidFill>
                        </a:rPr>
                        <a:t>13.6M</a:t>
                      </a:r>
                      <a:endParaRPr lang="en-US" sz="7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2332"/>
                          </a:solidFill>
                        </a:rPr>
                        <a:t>126,174 MT</a:t>
                      </a:r>
                      <a:endParaRPr lang="en-US" sz="7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</a:tr>
            </a:tbl>
          </a:graphicData>
        </a:graphic>
      </p:graphicFrame>
      <p:sp>
        <p:nvSpPr>
          <p:cNvPr id="50" name="Shape 47"/>
          <p:cNvSpPr/>
          <p:nvPr/>
        </p:nvSpPr>
        <p:spPr>
          <a:xfrm>
            <a:off x="4572000" y="1078992"/>
            <a:ext cx="4343400" cy="1920240"/>
          </a:xfrm>
          <a:prstGeom prst="rect">
            <a:avLst/>
          </a:prstGeom>
          <a:solidFill>
            <a:srgbClr val="C9A84C"/>
          </a:solidFill>
          <a:ln/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sp>
      <p:sp>
        <p:nvSpPr>
          <p:cNvPr id="51" name="Text 48"/>
          <p:cNvSpPr/>
          <p:nvPr/>
        </p:nvSpPr>
        <p:spPr>
          <a:xfrm>
            <a:off x="4681728" y="1124712"/>
            <a:ext cx="4133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332"/>
                </a:solidFill>
              </a:rPr>
              <a:t>Honest Assessment for Institutional Investors</a:t>
            </a:r>
            <a:endParaRPr lang="en-US" sz="1000" dirty="0"/>
          </a:p>
        </p:txBody>
      </p:sp>
      <p:sp>
        <p:nvSpPr>
          <p:cNvPr id="52" name="Text 49"/>
          <p:cNvSpPr/>
          <p:nvPr/>
        </p:nvSpPr>
        <p:spPr>
          <a:xfrm>
            <a:off x="4681728" y="1435608"/>
            <a:ext cx="4133088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</a:rPr>
              <a:t>Absolute emissions rising with capacity growth (Scope 1: +5.3% in 2024). 13.6M SAF gallons vs. 4.2B+ total consumed = &lt;0.35%. The 2050 net zero target depends on technologies not yet at commercial scale (green hydrogen, next-gen SAF, carbon removal). The 2035 intensity target is achievable with newer aircraft. Do not model material near-term emissions reductions into the financial case.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4572000" y="3127248"/>
            <a:ext cx="4343400" cy="1828800"/>
          </a:xfrm>
          <a:prstGeom prst="rect">
            <a:avLst/>
          </a:prstGeom>
          <a:solidFill>
            <a:srgbClr val="D6E4F0"/>
          </a:solidFill>
          <a:ln/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sp>
      <p:sp>
        <p:nvSpPr>
          <p:cNvPr id="54" name="Text 51"/>
          <p:cNvSpPr/>
          <p:nvPr/>
        </p:nvSpPr>
        <p:spPr>
          <a:xfrm>
            <a:off x="4681728" y="3172968"/>
            <a:ext cx="4133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A5F"/>
                </a:solidFill>
              </a:rPr>
              <a:t>UAL SAF Ventures Portfolio ($200M+)</a:t>
            </a:r>
            <a:endParaRPr lang="en-US" sz="950" dirty="0"/>
          </a:p>
        </p:txBody>
      </p:sp>
      <p:sp>
        <p:nvSpPr>
          <p:cNvPr id="55" name="Text 52"/>
          <p:cNvSpPr/>
          <p:nvPr/>
        </p:nvSpPr>
        <p:spPr>
          <a:xfrm>
            <a:off x="4681728" y="3456432"/>
            <a:ext cx="413308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</a:rPr>
              <a:t>•  Twelve (CO2-to-SAF) — direct air capture pathway</a:t>
            </a:r>
            <a:endParaRPr lang="en-US" sz="850" dirty="0"/>
          </a:p>
        </p:txBody>
      </p:sp>
      <p:sp>
        <p:nvSpPr>
          <p:cNvPr id="56" name="Text 53"/>
          <p:cNvSpPr/>
          <p:nvPr/>
        </p:nvSpPr>
        <p:spPr>
          <a:xfrm>
            <a:off x="4681728" y="3822192"/>
            <a:ext cx="413308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</a:rPr>
              <a:t>•  ZeroAvia (hydrogen-electric) — regional aviation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4681728" y="4187952"/>
            <a:ext cx="413308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</a:rPr>
              <a:t>•  Dimensional Energy, Cemvita, Svante (carbon capture)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4681728" y="4553712"/>
            <a:ext cx="413308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</a:rPr>
              <a:t>•  Eco-Skies Alliance: 50+ corporate partners co-investing in SAF supply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Guidance &amp; Risk/Reward Framework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621792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C87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EPS inflection supported by multiple convergent tailwinds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9144000" cy="50292"/>
          </a:xfrm>
          <a:prstGeom prst="rect">
            <a:avLst/>
          </a:prstGeom>
          <a:solidFill>
            <a:srgbClr val="C9A84C"/>
          </a:solidFill>
          <a:ln/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078992"/>
          <a:ext cx="50292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05840"/>
                <a:gridCol w="1005840"/>
                <a:gridCol w="100584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Q1 2026E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FY2026E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vs. FY2025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Adj. EPS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$1.00–$1.50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$12.00–$14.00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+13% to +32%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EPS midpoint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$1.25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$13.00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+22%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Adj. Pre-Tax Margin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~10%+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+220+ bps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Free Cash Flow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~$2.7B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flat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Net CapEx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&lt;$8.0B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Net Leverage (target)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&lt;2.0×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28600" y="3703320"/>
            <a:ext cx="5029200" cy="1234440"/>
          </a:xfrm>
          <a:prstGeom prst="rect">
            <a:avLst/>
          </a:prstGeom>
          <a:solidFill>
            <a:srgbClr val="C9A84C"/>
          </a:solidFill>
          <a:ln/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365760" y="374904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332"/>
                </a:solidFill>
              </a:rPr>
              <a:t>Bull Case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65760" y="402336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</a:rPr>
              <a:t>If TRASM inflects positive in Q1–Q2 2026 as industry capacity tightens → tracking toward $14+ EPS → at current multiple = significant equity upside. 2019 EPS peak: $12.05. $14 would be first material all-time high.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486400" y="1078992"/>
            <a:ext cx="3429000" cy="2743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0" y="107899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Risk Matrix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486400" y="1389888"/>
            <a:ext cx="3429000" cy="457200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13" name="Text 10"/>
          <p:cNvSpPr/>
          <p:nvPr/>
        </p:nvSpPr>
        <p:spPr>
          <a:xfrm>
            <a:off x="5577840" y="1417320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3A5F"/>
                </a:solidFill>
              </a:rPr>
              <a:t>GDP Recession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5577840" y="1618488"/>
            <a:ext cx="1051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</a:rPr>
              <a:t>–1.5–2.0% rev/–1% GDP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6656832" y="1463040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2332"/>
                </a:solidFill>
              </a:rPr>
              <a:t>Premium/intl mix; loyalty contract-based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5486400" y="1883664"/>
            <a:ext cx="3429000" cy="457200"/>
          </a:xfrm>
          <a:prstGeom prst="rect">
            <a:avLst/>
          </a:prstGeom>
          <a:solidFill>
            <a:srgbClr val="D6E4F0"/>
          </a:solidFill>
          <a:ln/>
        </p:spPr>
      </p:sp>
      <p:sp>
        <p:nvSpPr>
          <p:cNvPr id="17" name="Text 14"/>
          <p:cNvSpPr/>
          <p:nvPr/>
        </p:nvSpPr>
        <p:spPr>
          <a:xfrm>
            <a:off x="5577840" y="1911096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3A5F"/>
                </a:solidFill>
              </a:rPr>
              <a:t>Fuel Spike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5577840" y="2112264"/>
            <a:ext cx="1051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</a:rPr>
              <a:t>$0.10/gal = ~$466M; unhedged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6656832" y="1956816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2332"/>
                </a:solidFill>
              </a:rPr>
              <a:t>New aircraft –20% fuel/seat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5486400" y="2377440"/>
            <a:ext cx="3429000" cy="457200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1" name="Text 18"/>
          <p:cNvSpPr/>
          <p:nvPr/>
        </p:nvSpPr>
        <p:spPr>
          <a:xfrm>
            <a:off x="5577840" y="2404872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3A5F"/>
                </a:solidFill>
              </a:rPr>
              <a:t>Boeing MAX Delays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5577840" y="2606040"/>
            <a:ext cx="1051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</a:rPr>
              <a:t>~$30–40M/month deferred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6656832" y="2450592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2332"/>
                </a:solidFill>
              </a:rPr>
              <a:t>A321neo/XLR Airbus hedge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5486400" y="2871216"/>
            <a:ext cx="3429000" cy="457200"/>
          </a:xfrm>
          <a:prstGeom prst="rect">
            <a:avLst/>
          </a:prstGeom>
          <a:solidFill>
            <a:srgbClr val="D6E4F0"/>
          </a:solidFill>
          <a:ln/>
        </p:spPr>
      </p:sp>
      <p:sp>
        <p:nvSpPr>
          <p:cNvPr id="25" name="Text 22"/>
          <p:cNvSpPr/>
          <p:nvPr/>
        </p:nvSpPr>
        <p:spPr>
          <a:xfrm>
            <a:off x="5577840" y="2898648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3A5F"/>
                </a:solidFill>
              </a:rPr>
              <a:t>Domestic PRASM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5577840" y="3099816"/>
            <a:ext cx="1051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</a:rPr>
              <a:t>Margin expansion stalls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6656832" y="29443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2332"/>
                </a:solidFill>
              </a:rPr>
              <a:t>Mid-year capacity cuts demonstrated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5486400" y="3364992"/>
            <a:ext cx="3429000" cy="457200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9" name="Text 26"/>
          <p:cNvSpPr/>
          <p:nvPr/>
        </p:nvSpPr>
        <p:spPr>
          <a:xfrm>
            <a:off x="5577840" y="3392424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3A5F"/>
                </a:solidFill>
              </a:rPr>
              <a:t>MAX 10 Cert Slip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5577840" y="3593592"/>
            <a:ext cx="1051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</a:rPr>
              <a:t>200 aircraft waiting</a:t>
            </a:r>
            <a:endParaRPr lang="en-US" sz="700" dirty="0"/>
          </a:p>
        </p:txBody>
      </p:sp>
      <p:sp>
        <p:nvSpPr>
          <p:cNvPr id="31" name="Text 28"/>
          <p:cNvSpPr/>
          <p:nvPr/>
        </p:nvSpPr>
        <p:spPr>
          <a:xfrm>
            <a:off x="6656832" y="3438144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2332"/>
                </a:solidFill>
              </a:rPr>
              <a:t>Can defer CapEx if needed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5486400" y="3858768"/>
            <a:ext cx="3429000" cy="457200"/>
          </a:xfrm>
          <a:prstGeom prst="rect">
            <a:avLst/>
          </a:prstGeom>
          <a:solidFill>
            <a:srgbClr val="D6E4F0"/>
          </a:solidFill>
          <a:ln/>
        </p:spPr>
      </p:sp>
      <p:sp>
        <p:nvSpPr>
          <p:cNvPr id="33" name="Text 30"/>
          <p:cNvSpPr/>
          <p:nvPr/>
        </p:nvSpPr>
        <p:spPr>
          <a:xfrm>
            <a:off x="5577840" y="3886200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3A5F"/>
                </a:solidFill>
              </a:rPr>
              <a:t>Chase Re-contract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5577840" y="4087368"/>
            <a:ext cx="1051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</a:rPr>
              <a:t>2029 — terms uncertain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6656832" y="3931920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2332"/>
                </a:solidFill>
              </a:rPr>
              <a:t>Delta/AmEx parity gives leverage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Appendix: Multi-Year Income Statement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54864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8C872"/>
                </a:solidFill>
              </a:rPr>
              <a:t>FY2023–FY2025 | Figures in billions unless noted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C9A84C"/>
          </a:solidFill>
          <a:ln/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886968"/>
          <a:ext cx="86868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828800"/>
                <a:gridCol w="1828800"/>
                <a:gridCol w="1828800"/>
              </a:tblGrid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</a:rPr>
                        <a:t>Line Item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</a:rPr>
                        <a:t>FY2023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</a:rPr>
                        <a:t>FY2024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</a:rPr>
                        <a:t>FY2025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Passenger Revenue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—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$51.829B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$53.436B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Cargo Revenue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—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$1.743B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$1.779B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Other Revenue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—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$3.491B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$3.853B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Total Revenue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$53.717B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$57.063B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$59.068B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Salaries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$14.787B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$16.678B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$17.647B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Fuel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$12.651B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$11.756B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$11.396B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Landing Fees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—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$3.437B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$3.849B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Maintenance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$2.736B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$3.063B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$3.294B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D&amp;A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$2.671B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$2.928B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$2.939B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Regional Capacity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—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$2.516B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$2.693B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Distribution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—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$2.231B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$2.109B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Other OpEx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—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$9.053B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$9.919B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Total OpEx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$49.506B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$51.967B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$54.356B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Operating Income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$4.211B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$5.096B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$4.713B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Net Income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$2.618B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$3.149B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$3.400B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Adj. Diluted EPS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$10.05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$10.61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$10.62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Adj. Pre-Tax Margin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8.0%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8.1%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7.8%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Adj. EBITDA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$7.938B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$8.211B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$8.076B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Adj. EBITDA Margin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14.8%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14.4%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13.7%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Operating CF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$6.911B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$9.4B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$8.4B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Net CapEx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$7.948B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$5.6B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$5.874B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Free Cash Flow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($1.037B)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$3.4B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$2.7B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Appendix: Unit Economics &amp; Fleet Reference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54864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C872"/>
                </a:solidFill>
              </a:rPr>
              <a:t>Annual + Quarterly Unit Economics | Fleet &amp; Workforce | CASM-ex Reconciliation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" y="868680"/>
            <a:ext cx="2743200" cy="201168"/>
          </a:xfrm>
          <a:prstGeom prst="rect">
            <a:avLst/>
          </a:prstGeom>
          <a:solidFill>
            <a:srgbClr val="2A4F7F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86868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Annual</a:t>
            </a:r>
            <a:endParaRPr lang="en-US" sz="8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069848"/>
          <a:ext cx="86868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914400"/>
                <a:gridCol w="914400"/>
                <a:gridCol w="914400"/>
                <a:gridCol w="1005840"/>
                <a:gridCol w="1005840"/>
                <a:gridCol w="210312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</a:rPr>
                        <a:t>Year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</a:rPr>
                        <a:t>TRASM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</a:rPr>
                        <a:t>PRASM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</a:rPr>
                        <a:t>Yield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</a:rPr>
                        <a:t>CASM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</a:rPr>
                        <a:t>CASM-ex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</a:rPr>
                        <a:t>Fuel/Gal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</a:rPr>
                        <a:t>Load Factor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FY2023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18.44¢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—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20.07¢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16.99¢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12.03¢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$3.01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83.9%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FY2024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18.34¢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16.66¢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20.05¢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16.70¢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12.58¢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$2.65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83.1%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FY2025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17.88¢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16.18¢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19.67¢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16.46¢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12.64¢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$2.44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82.2%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228600" y="2194560"/>
            <a:ext cx="2743200" cy="201168"/>
          </a:xfrm>
          <a:prstGeom prst="rect">
            <a:avLst/>
          </a:prstGeom>
          <a:solidFill>
            <a:srgbClr val="2A4F7F"/>
          </a:solidFill>
          <a:ln/>
        </p:spPr>
      </p:sp>
      <p:sp>
        <p:nvSpPr>
          <p:cNvPr id="10" name="Text 7"/>
          <p:cNvSpPr/>
          <p:nvPr/>
        </p:nvSpPr>
        <p:spPr>
          <a:xfrm>
            <a:off x="228600" y="219456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2025 Quarterly</a:t>
            </a:r>
            <a:endParaRPr lang="en-US" sz="850" dirty="0"/>
          </a:p>
        </p:txBody>
      </p:sp>
      <p:graphicFrame>
        <p:nvGraphicFramePr>
          <p:cNvPr id="3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2395728"/>
          <a:ext cx="86868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914400"/>
                <a:gridCol w="914400"/>
                <a:gridCol w="914400"/>
                <a:gridCol w="1005840"/>
                <a:gridCol w="1005840"/>
                <a:gridCol w="2103120"/>
              </a:tblGrid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</a:rPr>
                        <a:t>Quarter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F7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</a:rPr>
                        <a:t>TRASM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F7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</a:rPr>
                        <a:t>PRASM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F7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</a:rPr>
                        <a:t>Yield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F7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</a:rPr>
                        <a:t>CASM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F7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</a:rPr>
                        <a:t>CASM-ex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F7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</a:rPr>
                        <a:t>Fuel/Gal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F7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</a:rPr>
                        <a:t>Load Factor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F7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Q1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17.58¢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15.78¢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19.93¢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16.77¢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13.17¢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$2.53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79.2%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Q2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18.06¢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16.40¢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19.74¢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16.49¢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12.36¢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$2.34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83.1%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Q3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17.42¢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15.80¢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18.73¢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15.82¢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12.15¢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$2.43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84.4%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Q4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18.47¢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16.71¢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20.41¢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16.81¢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12.94¢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$2.49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81.9%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228600" y="3602736"/>
            <a:ext cx="4114800" cy="20116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3" name="Text 9"/>
          <p:cNvSpPr/>
          <p:nvPr/>
        </p:nvSpPr>
        <p:spPr>
          <a:xfrm>
            <a:off x="228600" y="3602736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Fleet &amp; Workforce</a:t>
            </a:r>
            <a:endParaRPr lang="en-US" sz="850" dirty="0"/>
          </a:p>
        </p:txBody>
      </p:sp>
      <p:graphicFrame>
        <p:nvGraphicFramePr>
          <p:cNvPr id="5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3803904"/>
          <a:ext cx="41148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31520"/>
                <a:gridCol w="1188720"/>
                <a:gridCol w="1463040"/>
              </a:tblGrid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</a:rPr>
                        <a:t>Year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</a:rPr>
                        <a:t>Fleet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</a:rPr>
                        <a:t>Employees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</a:rPr>
                        <a:t>Salaries ($B)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2021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—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~75,000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—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2022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~1,300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~92,000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—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2023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1,358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103,300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$14.787B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2024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1,406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107,300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$16.678B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2025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1,490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113,200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$17.647B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Shape 10"/>
          <p:cNvSpPr/>
          <p:nvPr/>
        </p:nvSpPr>
        <p:spPr>
          <a:xfrm>
            <a:off x="4572000" y="3602736"/>
            <a:ext cx="4343400" cy="1444752"/>
          </a:xfrm>
          <a:prstGeom prst="rect">
            <a:avLst/>
          </a:prstGeom>
          <a:solidFill>
            <a:srgbClr val="D6E4F0"/>
          </a:solidFill>
          <a:ln/>
        </p:spPr>
      </p:sp>
      <p:sp>
        <p:nvSpPr>
          <p:cNvPr id="16" name="Text 11"/>
          <p:cNvSpPr/>
          <p:nvPr/>
        </p:nvSpPr>
        <p:spPr>
          <a:xfrm>
            <a:off x="4681728" y="3648456"/>
            <a:ext cx="41330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5F"/>
                </a:solidFill>
              </a:rPr>
              <a:t>CASM-ex Reconciliation (Q1 2025 example)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4681728" y="3895344"/>
            <a:ext cx="41330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5F"/>
                </a:solidFill>
              </a:rPr>
              <a:t>CASM: 16.77¢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4681728" y="4078224"/>
            <a:ext cx="41330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</a:rPr>
              <a:t>Less fuel: (3.59)¢</a:t>
            </a:r>
            <a:endParaRPr lang="en-US" sz="850" dirty="0"/>
          </a:p>
        </p:txBody>
      </p:sp>
      <p:sp>
        <p:nvSpPr>
          <p:cNvPr id="19" name="Text 14"/>
          <p:cNvSpPr/>
          <p:nvPr/>
        </p:nvSpPr>
        <p:spPr>
          <a:xfrm>
            <a:off x="4681728" y="4261104"/>
            <a:ext cx="41330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</a:rPr>
              <a:t>Less profit sharing: (0.06)¢</a:t>
            </a:r>
            <a:endParaRPr lang="en-US" sz="850" dirty="0"/>
          </a:p>
        </p:txBody>
      </p:sp>
      <p:sp>
        <p:nvSpPr>
          <p:cNvPr id="20" name="Text 15"/>
          <p:cNvSpPr/>
          <p:nvPr/>
        </p:nvSpPr>
        <p:spPr>
          <a:xfrm>
            <a:off x="4681728" y="4443984"/>
            <a:ext cx="41330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</a:rPr>
              <a:t>Less third-party: (0.09)¢</a:t>
            </a:r>
            <a:endParaRPr lang="en-US" sz="850" dirty="0"/>
          </a:p>
        </p:txBody>
      </p:sp>
      <p:sp>
        <p:nvSpPr>
          <p:cNvPr id="21" name="Text 16"/>
          <p:cNvSpPr/>
          <p:nvPr/>
        </p:nvSpPr>
        <p:spPr>
          <a:xfrm>
            <a:off x="4681728" y="4626864"/>
            <a:ext cx="41330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</a:rPr>
              <a:t>Add back special charges: +0.14¢</a:t>
            </a:r>
            <a:endParaRPr lang="en-US" sz="850" dirty="0"/>
          </a:p>
        </p:txBody>
      </p:sp>
      <p:sp>
        <p:nvSpPr>
          <p:cNvPr id="22" name="Text 17"/>
          <p:cNvSpPr/>
          <p:nvPr/>
        </p:nvSpPr>
        <p:spPr>
          <a:xfrm>
            <a:off x="4681728" y="4809744"/>
            <a:ext cx="41330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5F"/>
                </a:solidFill>
              </a:rPr>
              <a:t>CASM-ex: 13.17¢</a:t>
            </a:r>
            <a:endParaRPr lang="en-US" sz="850" dirty="0"/>
          </a:p>
        </p:txBody>
      </p:sp>
      <p:sp>
        <p:nvSpPr>
          <p:cNvPr id="23" name="Text 18"/>
          <p:cNvSpPr/>
          <p:nvPr/>
        </p:nvSpPr>
        <p:spPr>
          <a:xfrm>
            <a:off x="4681728" y="4956048"/>
            <a:ext cx="41330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280"/>
                </a:solidFill>
              </a:rPr>
              <a:t>Fuel consumption: 4.663B gallons in 2025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2026-03-31T19:55:35Z</dcterms:created>
  <dcterms:modified xsi:type="dcterms:W3CDTF">2026-03-31T19:55:35Z</dcterms:modified>
</cp:coreProperties>
</file>