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1028700"/>
            <a:ext cx="9144000" cy="7315"/>
          </a:xfrm>
          <a:prstGeom prst="rect">
            <a:avLst/>
          </a:prstGeom>
          <a:solidFill>
            <a:srgbClr val="1A3550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2057400"/>
            <a:ext cx="9144000" cy="7315"/>
          </a:xfrm>
          <a:prstGeom prst="rect">
            <a:avLst/>
          </a:prstGeom>
          <a:solidFill>
            <a:srgbClr val="1A3550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086100"/>
            <a:ext cx="9144000" cy="7315"/>
          </a:xfrm>
          <a:prstGeom prst="rect">
            <a:avLst/>
          </a:prstGeom>
          <a:solidFill>
            <a:srgbClr val="1A3550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" y="4114800"/>
            <a:ext cx="9144000" cy="7315"/>
          </a:xfrm>
          <a:prstGeom prst="rect">
            <a:avLst/>
          </a:prstGeom>
          <a:solidFill>
            <a:srgbClr val="1A355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566928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Chimera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411480" y="1609344"/>
            <a:ext cx="347472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73736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Monolith Decomposition Plan — VP Engineering Review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11480" y="2788920"/>
            <a:ext cx="2331720" cy="1078992"/>
          </a:xfrm>
          <a:prstGeom prst="rect">
            <a:avLst/>
          </a:prstGeom>
          <a:solidFill>
            <a:srgbClr val="112233"/>
          </a:solidFill>
          <a:ln w="12700">
            <a:solidFill>
              <a:srgbClr val="1C4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788920"/>
            <a:ext cx="23317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8620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340K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02920" y="34472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(monolith surface area)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0" y="2788920"/>
            <a:ext cx="2331720" cy="1078992"/>
          </a:xfrm>
          <a:prstGeom prst="rect">
            <a:avLst/>
          </a:prstGeom>
          <a:solidFill>
            <a:srgbClr val="112233"/>
          </a:solidFill>
          <a:ln w="12700">
            <a:solidFill>
              <a:srgbClr val="1C4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2788920"/>
            <a:ext cx="23317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0" y="28620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3017520" y="34472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on single codebase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2788920"/>
            <a:ext cx="2331720" cy="1078992"/>
          </a:xfrm>
          <a:prstGeom prst="rect">
            <a:avLst/>
          </a:prstGeom>
          <a:solidFill>
            <a:srgbClr val="112233"/>
          </a:solidFill>
          <a:ln w="12700">
            <a:solidFill>
              <a:srgbClr val="1C4A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2788920"/>
            <a:ext cx="23317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5440680" y="28620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$133K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5532120" y="34472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Quarter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CI/deploy friction cost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91524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4887468"/>
            <a:ext cx="2286000" cy="2560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256032" y="48874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Strangler Fig Pattern  ·  Phase 1–3  ·  M1–M6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046720" y="48508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148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4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CHIMERA  |  VP ENGINEERING REVIEW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8229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State &amp; Pain Points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42062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metrics reveal systemic delivery constraints — Q1 2026 benchmark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046720" y="48508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CHIMERA  |  VP ENGINEERING REVIEW  |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0E4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METRICS — Q1 2026 BENCHMARK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" y="868680"/>
            <a:ext cx="64008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106424"/>
            <a:ext cx="4572000" cy="237744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1064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57400" y="1106424"/>
            <a:ext cx="960120" cy="237744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017520" y="1106424"/>
            <a:ext cx="960120" cy="237744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 P50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977640" y="1106424"/>
            <a:ext cx="804672" cy="237744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1344168"/>
            <a:ext cx="45720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3441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Frequency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57400" y="134416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1.8/wk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17520" y="134416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1/day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23360" y="1408176"/>
            <a:ext cx="713232" cy="1645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140817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LAGGING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1636776"/>
            <a:ext cx="4572000" cy="292608"/>
          </a:xfrm>
          <a:prstGeom prst="rect">
            <a:avLst/>
          </a:prstGeom>
          <a:solidFill>
            <a:srgbClr val="ED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6367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for Change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57400" y="163677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 days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017520" y="163677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1–7 days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23360" y="1700784"/>
            <a:ext cx="713232" cy="1645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6" name="Text 24"/>
          <p:cNvSpPr/>
          <p:nvPr/>
        </p:nvSpPr>
        <p:spPr>
          <a:xfrm>
            <a:off x="4023360" y="170078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LAGGING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02920" y="1929384"/>
            <a:ext cx="45720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19293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Failure Rate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57400" y="192938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17520" y="192938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&lt;15%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23360" y="1993392"/>
            <a:ext cx="713232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4023360" y="199339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FAILING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02920" y="2221992"/>
            <a:ext cx="4572000" cy="292608"/>
          </a:xfrm>
          <a:prstGeom prst="rect">
            <a:avLst/>
          </a:prstGeom>
          <a:solidFill>
            <a:srgbClr val="ED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22219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Recover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222199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hrs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17520" y="222199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hr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023360" y="2286000"/>
            <a:ext cx="713232" cy="1645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8" name="Text 36"/>
          <p:cNvSpPr/>
          <p:nvPr/>
        </p:nvSpPr>
        <p:spPr>
          <a:xfrm>
            <a:off x="4023360" y="228600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LAGGING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02920" y="2514600"/>
            <a:ext cx="45720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2514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 (CI)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057400" y="25146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min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017520" y="25146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&lt;15 min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023360" y="2578608"/>
            <a:ext cx="713232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4" name="Text 42"/>
          <p:cNvSpPr/>
          <p:nvPr/>
        </p:nvSpPr>
        <p:spPr>
          <a:xfrm>
            <a:off x="4023360" y="257860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FAILING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11480" y="2916936"/>
            <a:ext cx="64008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Shape 44"/>
          <p:cNvSpPr/>
          <p:nvPr/>
        </p:nvSpPr>
        <p:spPr>
          <a:xfrm>
            <a:off x="502920" y="2916936"/>
            <a:ext cx="4572000" cy="475488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" y="2953512"/>
            <a:ext cx="4370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 CI flakiness = 'retry and pray' culture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spend 9 min avg per failed pipeline waiting for reruns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03520" y="86868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0E4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IMPACT ANALYSIS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212080" y="868680"/>
            <a:ext cx="64008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0" name="Shape 48"/>
          <p:cNvSpPr/>
          <p:nvPr/>
        </p:nvSpPr>
        <p:spPr>
          <a:xfrm>
            <a:off x="5303520" y="1106424"/>
            <a:ext cx="3520440" cy="91440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51" name="Shape 49"/>
          <p:cNvSpPr/>
          <p:nvPr/>
        </p:nvSpPr>
        <p:spPr>
          <a:xfrm>
            <a:off x="5303520" y="1106424"/>
            <a:ext cx="6400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2" name="Text 50"/>
          <p:cNvSpPr/>
          <p:nvPr/>
        </p:nvSpPr>
        <p:spPr>
          <a:xfrm>
            <a:off x="5394960" y="1143000"/>
            <a:ext cx="3410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$133K</a:t>
            </a:r>
            <a:endParaRPr lang="en-US" sz="4600" dirty="0"/>
          </a:p>
        </p:txBody>
      </p:sp>
      <p:sp>
        <p:nvSpPr>
          <p:cNvPr id="53" name="Text 51"/>
          <p:cNvSpPr/>
          <p:nvPr/>
        </p:nvSpPr>
        <p:spPr>
          <a:xfrm>
            <a:off x="5394960" y="1636776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Engineering Waste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303520" y="2112264"/>
            <a:ext cx="35204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94960" y="2112264"/>
            <a:ext cx="3246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 eng-hrs / qtr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303520" y="2386584"/>
            <a:ext cx="3520440" cy="265176"/>
          </a:xfrm>
          <a:prstGeom prst="rect">
            <a:avLst/>
          </a:prstGeom>
          <a:solidFill>
            <a:srgbClr val="ED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94960" y="2386584"/>
            <a:ext cx="3246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$95 / hr (blended rate)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303520" y="2660904"/>
            <a:ext cx="35204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94960" y="2660904"/>
            <a:ext cx="3246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$133,000 quarterly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303520" y="2660904"/>
            <a:ext cx="3429000" cy="265176"/>
          </a:xfrm>
          <a:prstGeom prst="rect">
            <a:avLst/>
          </a:prstGeom>
          <a:noFill/>
          <a:ln/>
        </p:spPr>
        <p:txBody>
          <a:bodyPr wrap="square" lIns="0" tIns="0" rIns="6350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cost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03520" y="2935224"/>
            <a:ext cx="3520440" cy="265176"/>
          </a:xfrm>
          <a:prstGeom prst="rect">
            <a:avLst/>
          </a:prstGeom>
          <a:solidFill>
            <a:srgbClr val="ED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4960" y="2935224"/>
            <a:ext cx="3246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$532,000 annualized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303520" y="2935224"/>
            <a:ext cx="3429000" cy="265176"/>
          </a:xfrm>
          <a:prstGeom prst="rect">
            <a:avLst/>
          </a:prstGeom>
          <a:noFill/>
          <a:ln/>
        </p:spPr>
        <p:txBody>
          <a:bodyPr wrap="square" lIns="0" tIns="0" rIns="6350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cost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303520" y="328269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Engineering time-tracking Q4 2025, 22-engineer base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8229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Target Architecture &amp; Service Boundaries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42062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bounded-context services — Strangler Fig extraction sequence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046720" y="48508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CHIMERA  |  VP ENGINEERING REVIEW  |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" y="8412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0E4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BOUNDARY DEFINITIONS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" y="841248"/>
            <a:ext cx="64008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078992"/>
            <a:ext cx="8229600" cy="237744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078992"/>
            <a:ext cx="1508760" cy="237744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11680" y="10789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83280" y="10789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0" y="10789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STYLE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72200" y="1078992"/>
            <a:ext cx="822960" cy="237744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1316736"/>
            <a:ext cx="8229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316736"/>
            <a:ext cx="1508760" cy="2743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Service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11680" y="13167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13167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131673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gRPC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81928" y="1380744"/>
            <a:ext cx="603504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6281928" y="1380744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" y="1591056"/>
            <a:ext cx="8229600" cy="274320"/>
          </a:xfrm>
          <a:prstGeom prst="rect">
            <a:avLst/>
          </a:prstGeom>
          <a:solidFill>
            <a:srgbClr val="ED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15910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011680" y="1591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1591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15910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81928" y="1655064"/>
            <a:ext cx="603504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6281928" y="1655064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" y="1865376"/>
            <a:ext cx="8229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18653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Service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011680" y="1865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83280" y="18653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18653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Events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81928" y="1929384"/>
            <a:ext cx="603504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6281928" y="1929384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2920" y="2139696"/>
            <a:ext cx="8229600" cy="274320"/>
          </a:xfrm>
          <a:prstGeom prst="rect">
            <a:avLst/>
          </a:prstGeom>
          <a:solidFill>
            <a:srgbClr val="ED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21396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Service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011680" y="2139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83280" y="21396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21396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81928" y="2203704"/>
            <a:ext cx="603504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Text 41"/>
          <p:cNvSpPr/>
          <p:nvPr/>
        </p:nvSpPr>
        <p:spPr>
          <a:xfrm>
            <a:off x="6281928" y="2203704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02920" y="2414016"/>
            <a:ext cx="8229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24140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Svc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011680" y="24140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383280" y="24140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PG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46320" y="24140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81928" y="2478024"/>
            <a:ext cx="603504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0" name="Text 48"/>
          <p:cNvSpPr/>
          <p:nvPr/>
        </p:nvSpPr>
        <p:spPr>
          <a:xfrm>
            <a:off x="6281928" y="2478024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02920" y="2688336"/>
            <a:ext cx="8229600" cy="274320"/>
          </a:xfrm>
          <a:prstGeom prst="rect">
            <a:avLst/>
          </a:prstGeom>
          <a:solidFill>
            <a:srgbClr val="ED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2688336"/>
            <a:ext cx="1508760" cy="2743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Service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011680" y="2688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383280" y="26883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46320" y="268833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81928" y="2752344"/>
            <a:ext cx="603504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7" name="Text 55"/>
          <p:cNvSpPr/>
          <p:nvPr/>
        </p:nvSpPr>
        <p:spPr>
          <a:xfrm>
            <a:off x="6281928" y="2752344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11480" y="3090672"/>
            <a:ext cx="64008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9" name="Shape 57"/>
          <p:cNvSpPr/>
          <p:nvPr/>
        </p:nvSpPr>
        <p:spPr>
          <a:xfrm>
            <a:off x="502920" y="3090672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2648" y="3145536"/>
            <a:ext cx="8028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0E4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ARCHITECTURAL DECISIONS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12648" y="3328416"/>
            <a:ext cx="80284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API Gateway: Kong (rate limiting, auth offload, canary routing)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12648" y="3433572"/>
            <a:ext cx="80284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Service Mesh: Istio (mTLS, circuit breakers, traffic shaping, observability)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12648" y="3538728"/>
            <a:ext cx="80284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Event Bus: Kafka 3-broker cluster (ordered delivery, at-least-once, compacted topics per service)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12648" y="3643884"/>
            <a:ext cx="80284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Data Isolation: Each service owns its schema — no cross-service DB joins; CDC via Debezium for sync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56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 RECORD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Strangler Fig?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321040" cy="27432"/>
          </a:xfrm>
          <a:prstGeom prst="rect">
            <a:avLst/>
          </a:prstGeom>
          <a:solidFill>
            <a:srgbClr val="1C3A5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97280"/>
            <a:ext cx="2697480" cy="3246120"/>
          </a:xfrm>
          <a:prstGeom prst="rect">
            <a:avLst/>
          </a:prstGeom>
          <a:solidFill>
            <a:srgbClr val="0A1624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2697480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0972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REJECTED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444752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Rewrite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4048" y="1810512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14–18 months estimated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048256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Dedicated team of 8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2286000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Feature freeze required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2523744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Zero revenue delivery during migration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52928"/>
            <a:ext cx="2514600" cy="685800"/>
          </a:xfrm>
          <a:prstGeom prst="rect">
            <a:avLst/>
          </a:prstGeom>
          <a:solidFill>
            <a:srgbClr val="0F203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907792"/>
            <a:ext cx="23682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"Netscape, Basecamp: 2–3× longer than estimated. Risk of losing product-market fit mid-rewrite."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81528" y="1097280"/>
            <a:ext cx="2697480" cy="3246120"/>
          </a:xfrm>
          <a:prstGeom prst="rect">
            <a:avLst/>
          </a:prstGeom>
          <a:solidFill>
            <a:srgbClr val="0A1624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81528" y="1097280"/>
            <a:ext cx="2697480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3081528" y="10972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 INSUFFICIENT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91256" y="1444752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Modularize Monolith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91256" y="1810512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Enforced module boundaries only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191256" y="2048256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Atlas Modular Q4 2025: -30% conflicts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191256" y="2286000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Deploy frequency: unchanged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191256" y="2523744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DB coupling problem persists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72968" y="2852928"/>
            <a:ext cx="2514600" cy="685800"/>
          </a:xfrm>
          <a:prstGeom prst="rect">
            <a:avLst/>
          </a:prstGeom>
          <a:solidFill>
            <a:srgbClr val="0F203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2907792"/>
            <a:ext cx="23682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"Boundary violations drop but deployment bottleneck remains. One bad migration still blocks all teams."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888736" y="1097280"/>
            <a:ext cx="2697480" cy="3246120"/>
          </a:xfrm>
          <a:prstGeom prst="rect">
            <a:avLst/>
          </a:prstGeom>
          <a:solidFill>
            <a:srgbClr val="0A162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88736" y="1097280"/>
            <a:ext cx="2697480" cy="2926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5888736" y="10972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SELECTED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98464" y="1444752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Strangler Fig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998464" y="1810512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Incremental, bounded-risk extraction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98464" y="2048256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Revenue delivery continues throughout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98464" y="2286000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Proven: User Service Q1 2026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98464" y="2523744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3 weeks, zero incidents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80176" y="2852928"/>
            <a:ext cx="2514600" cy="685800"/>
          </a:xfrm>
          <a:prstGeom prst="rect">
            <a:avLst/>
          </a:prstGeom>
          <a:solidFill>
            <a:srgbClr val="0F203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53328" y="2907792"/>
            <a:ext cx="23682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"Validated internal proof-of-concept. Monolith stays runnable as safety net throughout migration."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4485132"/>
            <a:ext cx="8321040" cy="36576"/>
          </a:xfrm>
          <a:prstGeom prst="rect">
            <a:avLst/>
          </a:prstGeom>
          <a:solidFill>
            <a:srgbClr val="1C3A52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55828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Reporting + Admin modules remain in monolith. Goal is deployment velocity — not zero-monolith.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474116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confidence: 65% Phase 1–2  ·  40% Phase 3 (ClickHouse learning curve factored in)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046720" y="48508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1148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4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CHIMERA  |  VP ENGINEERING REVIEW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8229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Migration Roadmap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42062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Strangler Fig extraction — M1–M6 2026 · Three-phase delivery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046720" y="48508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CHIMERA  |  VP ENGINEERING REVIEW  |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11480" y="804672"/>
            <a:ext cx="2743200" cy="402336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04672"/>
            <a:ext cx="64008" cy="40233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8412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Foundation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02412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1–2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91256" y="804672"/>
            <a:ext cx="2743200" cy="40233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236976" y="8412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Commerce Core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36976" y="102412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3–4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71032" y="804672"/>
            <a:ext cx="2743200" cy="402336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6016752" y="8412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Platform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16752" y="102412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5–6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2743200" cy="219456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1280160"/>
            <a:ext cx="1417320" cy="21945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828800" y="1280160"/>
            <a:ext cx="658368" cy="21945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487168" y="1280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11480" y="1499616"/>
            <a:ext cx="2743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14996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(Kong)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828800" y="14996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14600" y="1563624"/>
            <a:ext cx="475488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2514600" y="156362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411480" y="1773936"/>
            <a:ext cx="2743200" cy="274320"/>
          </a:xfrm>
          <a:prstGeom prst="rect">
            <a:avLst/>
          </a:prstGeom>
          <a:solidFill>
            <a:srgbClr val="ED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17739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Instrumentation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828800" y="17739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14600" y="1837944"/>
            <a:ext cx="475488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2514600" y="183794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411480" y="2048256"/>
            <a:ext cx="2743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0482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 Extract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828800" y="20482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514600" y="2112264"/>
            <a:ext cx="475488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2514600" y="211226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411480" y="2322576"/>
            <a:ext cx="2743200" cy="274320"/>
          </a:xfrm>
          <a:prstGeom prst="rect">
            <a:avLst/>
          </a:prstGeom>
          <a:solidFill>
            <a:srgbClr val="ED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23225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Cluster Provision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828800" y="23225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514600" y="2386584"/>
            <a:ext cx="475488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1" name="Text 39"/>
          <p:cNvSpPr/>
          <p:nvPr/>
        </p:nvSpPr>
        <p:spPr>
          <a:xfrm>
            <a:off x="2514600" y="23865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411480" y="2596896"/>
            <a:ext cx="2743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25968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Migration Tooling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828800" y="259689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Flyway+CDC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514600" y="2660904"/>
            <a:ext cx="475488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6" name="Text 44"/>
          <p:cNvSpPr/>
          <p:nvPr/>
        </p:nvSpPr>
        <p:spPr>
          <a:xfrm>
            <a:off x="2514600" y="266090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3191256" y="1280160"/>
            <a:ext cx="2743200" cy="2194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8" name="Text 46"/>
          <p:cNvSpPr/>
          <p:nvPr/>
        </p:nvSpPr>
        <p:spPr>
          <a:xfrm>
            <a:off x="3191256" y="1280160"/>
            <a:ext cx="1417320" cy="21945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608576" y="1280160"/>
            <a:ext cx="658368" cy="21945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266944" y="1280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191256" y="1499616"/>
            <a:ext cx="2743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91256" y="14996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Service Extract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608576" y="14996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P1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294376" y="1563624"/>
            <a:ext cx="475488" cy="14630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5" name="Text 53"/>
          <p:cNvSpPr/>
          <p:nvPr/>
        </p:nvSpPr>
        <p:spPr>
          <a:xfrm>
            <a:off x="5294376" y="156362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3191256" y="1773936"/>
            <a:ext cx="2743200" cy="274320"/>
          </a:xfrm>
          <a:prstGeom prst="rect">
            <a:avLst/>
          </a:prstGeom>
          <a:solidFill>
            <a:srgbClr val="ED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91256" y="17739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Service Extract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608576" y="17739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P0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294376" y="1837944"/>
            <a:ext cx="475488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0" name="Text 58"/>
          <p:cNvSpPr/>
          <p:nvPr/>
        </p:nvSpPr>
        <p:spPr>
          <a:xfrm>
            <a:off x="5294376" y="183794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3191256" y="2048256"/>
            <a:ext cx="2743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91256" y="20482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Saga Pattern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608576" y="20482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294376" y="2112264"/>
            <a:ext cx="475488" cy="14630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5" name="Text 63"/>
          <p:cNvSpPr/>
          <p:nvPr/>
        </p:nvSpPr>
        <p:spPr>
          <a:xfrm>
            <a:off x="5294376" y="211226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3191256" y="2322576"/>
            <a:ext cx="2743200" cy="274320"/>
          </a:xfrm>
          <a:prstGeom prst="rect">
            <a:avLst/>
          </a:prstGeom>
          <a:solidFill>
            <a:srgbClr val="ED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191256" y="23225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Extraction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4608576" y="23225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P1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294376" y="2386584"/>
            <a:ext cx="475488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0" name="Text 68"/>
          <p:cNvSpPr/>
          <p:nvPr/>
        </p:nvSpPr>
        <p:spPr>
          <a:xfrm>
            <a:off x="5294376" y="23865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5971032" y="1280160"/>
            <a:ext cx="2743200" cy="219456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2" name="Text 70"/>
          <p:cNvSpPr/>
          <p:nvPr/>
        </p:nvSpPr>
        <p:spPr>
          <a:xfrm>
            <a:off x="5971032" y="1280160"/>
            <a:ext cx="1417320" cy="21945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7388352" y="1280160"/>
            <a:ext cx="658368" cy="21945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8046720" y="1280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971032" y="1499616"/>
            <a:ext cx="2743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71032" y="14996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7388352" y="14996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P2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8074152" y="1563624"/>
            <a:ext cx="475488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9" name="Text 77"/>
          <p:cNvSpPr/>
          <p:nvPr/>
        </p:nvSpPr>
        <p:spPr>
          <a:xfrm>
            <a:off x="8074152" y="156362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5971032" y="1773936"/>
            <a:ext cx="2743200" cy="274320"/>
          </a:xfrm>
          <a:prstGeom prst="rect">
            <a:avLst/>
          </a:prstGeom>
          <a:solidFill>
            <a:srgbClr val="ED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971032" y="17739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(ClickHouse)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7388352" y="17739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P2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8074152" y="1837944"/>
            <a:ext cx="475488" cy="14630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84" name="Text 82"/>
          <p:cNvSpPr/>
          <p:nvPr/>
        </p:nvSpPr>
        <p:spPr>
          <a:xfrm>
            <a:off x="8074152" y="183794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5971032" y="2048256"/>
            <a:ext cx="2743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971032" y="20482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 Decommission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7388352" y="20482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8074152" y="2112264"/>
            <a:ext cx="475488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9" name="Text 87"/>
          <p:cNvSpPr/>
          <p:nvPr/>
        </p:nvSpPr>
        <p:spPr>
          <a:xfrm>
            <a:off x="8074152" y="211226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5971032" y="2322576"/>
            <a:ext cx="2743200" cy="274320"/>
          </a:xfrm>
          <a:prstGeom prst="rect">
            <a:avLst/>
          </a:prstGeom>
          <a:solidFill>
            <a:srgbClr val="ED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971032" y="23225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Engineering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7388352" y="23225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8074152" y="2386584"/>
            <a:ext cx="475488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4" name="Text 92"/>
          <p:cNvSpPr/>
          <p:nvPr/>
        </p:nvSpPr>
        <p:spPr>
          <a:xfrm>
            <a:off x="8074152" y="23865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411480" y="2962656"/>
            <a:ext cx="64008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6" name="Shape 94"/>
          <p:cNvSpPr/>
          <p:nvPr/>
        </p:nvSpPr>
        <p:spPr>
          <a:xfrm>
            <a:off x="502920" y="2962656"/>
            <a:ext cx="82296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12648" y="2999232"/>
            <a:ext cx="8028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E4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criteria: Each phase requires &gt;95% test coverage on extracted service, P95 latency &lt;150ms, and zero SEV-1 incidents for 5 business days before proceeding.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8229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Matrix &amp; Success Metrics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42062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identified risks · Eight before/after delivery targets at 12 months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046720" y="48508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48508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CHIMERA  |  VP ENGINEERING REVIEW  |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" y="8412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0E4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" y="841248"/>
            <a:ext cx="64008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078992"/>
            <a:ext cx="4114800" cy="237744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078992"/>
            <a:ext cx="1389888" cy="237744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92808" y="1078992"/>
            <a:ext cx="585216" cy="237744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78024" y="1078992"/>
            <a:ext cx="2084832" cy="237744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1316736"/>
            <a:ext cx="4114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316736"/>
            <a:ext cx="1389888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transaction failures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20240" y="1389888"/>
            <a:ext cx="530352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1920240" y="138988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478024" y="1316736"/>
            <a:ext cx="2084832" cy="31089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logic + monolith fallback flag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1627632"/>
            <a:ext cx="4114800" cy="310896"/>
          </a:xfrm>
          <a:prstGeom prst="rect">
            <a:avLst/>
          </a:prstGeom>
          <a:solidFill>
            <a:srgbClr val="ED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627632"/>
            <a:ext cx="1389888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instability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20240" y="1700784"/>
            <a:ext cx="530352" cy="1645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1920240" y="170078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478024" y="1627632"/>
            <a:ext cx="2084832" cy="31089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Cloud managed + specialist hire Q1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1938528"/>
            <a:ext cx="4114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1938528"/>
            <a:ext cx="1389888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inconsistency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20240" y="2011680"/>
            <a:ext cx="530352" cy="1645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7" name="Text 25"/>
          <p:cNvSpPr/>
          <p:nvPr/>
        </p:nvSpPr>
        <p:spPr>
          <a:xfrm>
            <a:off x="1920240" y="201168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478024" y="1938528"/>
            <a:ext cx="2084832" cy="31089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Debezium + nightly reconciliation jobs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2249424"/>
            <a:ext cx="4114800" cy="310896"/>
          </a:xfrm>
          <a:prstGeom prst="rect">
            <a:avLst/>
          </a:prstGeom>
          <a:solidFill>
            <a:srgbClr val="ED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249424"/>
            <a:ext cx="1389888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latency increase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920240" y="2322576"/>
            <a:ext cx="530352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1920240" y="232257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478024" y="2249424"/>
            <a:ext cx="2084832" cy="31089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200ms budget enforcement, Istio circuit breakers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" y="2560320"/>
            <a:ext cx="4114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2560320"/>
            <a:ext cx="1389888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cognitive load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920240" y="2633472"/>
            <a:ext cx="530352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1920240" y="26334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478024" y="2560320"/>
            <a:ext cx="2084832" cy="31089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tooling adoption, inner-source docs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02920" y="2871216"/>
            <a:ext cx="4114800" cy="310896"/>
          </a:xfrm>
          <a:prstGeom prst="rect">
            <a:avLst/>
          </a:prstGeom>
          <a:solidFill>
            <a:srgbClr val="ED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2871216"/>
            <a:ext cx="1389888" cy="31089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compliance scope creep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920240" y="2944368"/>
            <a:ext cx="530352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1920240" y="294436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478024" y="2871216"/>
            <a:ext cx="2084832" cy="31089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M2; Stripe hosted checkout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46320" y="8412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0E4D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TARGETS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54880" y="841248"/>
            <a:ext cx="64008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6" name="Shape 44"/>
          <p:cNvSpPr/>
          <p:nvPr/>
        </p:nvSpPr>
        <p:spPr>
          <a:xfrm>
            <a:off x="4846320" y="1078992"/>
            <a:ext cx="3886200" cy="237744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1078992"/>
            <a:ext cx="1389888" cy="237744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236208" y="1078992"/>
            <a:ext cx="640080" cy="237744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76288" y="1078992"/>
            <a:ext cx="859536" cy="237744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846320" y="1316736"/>
            <a:ext cx="38862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1316736"/>
            <a:ext cx="1389888" cy="26517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Frequency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36208" y="1316736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1.8/wk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876288" y="1316736"/>
            <a:ext cx="859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1+/day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46320" y="1581912"/>
            <a:ext cx="3886200" cy="265176"/>
          </a:xfrm>
          <a:prstGeom prst="rect">
            <a:avLst/>
          </a:prstGeom>
          <a:solidFill>
            <a:srgbClr val="ED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0" y="1581912"/>
            <a:ext cx="1389888" cy="26517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36208" y="1581912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12.3d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876288" y="1581912"/>
            <a:ext cx="859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846320" y="1847088"/>
            <a:ext cx="38862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0" y="1847088"/>
            <a:ext cx="1389888" cy="26517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Failure Rate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236208" y="1847088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18.2%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876288" y="1847088"/>
            <a:ext cx="859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&lt;8%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846320" y="2112264"/>
            <a:ext cx="3886200" cy="265176"/>
          </a:xfrm>
          <a:prstGeom prst="rect">
            <a:avLst/>
          </a:prstGeom>
          <a:solidFill>
            <a:srgbClr val="ED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46320" y="2112264"/>
            <a:ext cx="1389888" cy="26517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236208" y="2112264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hrs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876288" y="2112264"/>
            <a:ext cx="859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&lt;30 min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846320" y="2377440"/>
            <a:ext cx="38862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46320" y="2377440"/>
            <a:ext cx="1389888" cy="26517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API Latency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236208" y="2377440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820ms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876288" y="2377440"/>
            <a:ext cx="859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&lt;200ms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846320" y="2642616"/>
            <a:ext cx="3886200" cy="265176"/>
          </a:xfrm>
          <a:prstGeom prst="rect">
            <a:avLst/>
          </a:prstGeom>
          <a:solidFill>
            <a:srgbClr val="ED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46320" y="2642616"/>
            <a:ext cx="1389888" cy="26517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 (CI)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236208" y="2642616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min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876288" y="2642616"/>
            <a:ext cx="859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&lt;8 min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846320" y="2907792"/>
            <a:ext cx="38862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46320" y="2907792"/>
            <a:ext cx="1389888" cy="26517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Flakiness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236208" y="2907792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876288" y="2907792"/>
            <a:ext cx="859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846320" y="3172968"/>
            <a:ext cx="3886200" cy="265176"/>
          </a:xfrm>
          <a:prstGeom prst="rect">
            <a:avLst/>
          </a:prstGeom>
          <a:solidFill>
            <a:srgbClr val="ED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46320" y="3172968"/>
            <a:ext cx="1389888" cy="265176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Satisfaction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236208" y="3172968"/>
            <a:ext cx="640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5.8/10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876288" y="3172968"/>
            <a:ext cx="859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8.0/10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Chimera — Monolith Decomposition Plan</dc:title>
  <dc:subject>PptxGenJS Presentation</dc:subject>
  <dc:creator>Engineering Architecture</dc:creator>
  <cp:lastModifiedBy>Engineering Architecture</cp:lastModifiedBy>
  <cp:revision>1</cp:revision>
  <dcterms:created xsi:type="dcterms:W3CDTF">2026-03-30T21:36:42Z</dcterms:created>
  <dcterms:modified xsi:type="dcterms:W3CDTF">2026-03-30T21:36:42Z</dcterms:modified>
</cp:coreProperties>
</file>