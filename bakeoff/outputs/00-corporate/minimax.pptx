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($B)</c:v>
                </c:pt>
              </c:strCache>
            </c:strRef>
          </c:tx>
          <c:spPr>
            <a:solidFill>
              <a:srgbClr val="0033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22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43.3</c:v>
                </c:pt>
                <c:pt idx="1">
                  <c:v>15.4</c:v>
                </c:pt>
                <c:pt idx="2">
                  <c:v>24.6</c:v>
                </c:pt>
                <c:pt idx="3">
                  <c:v>44.9</c:v>
                </c:pt>
                <c:pt idx="4">
                  <c:v>53.7</c:v>
                </c:pt>
                <c:pt idx="5">
                  <c:v>57.4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22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Adj. EPS</c:v>
                </c:pt>
              </c:strCache>
            </c:strRef>
          </c:tx>
          <c:spPr>
            <a:solidFill>
              <a:srgbClr val="00B2E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22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0.76</c:v>
                </c:pt>
                <c:pt idx="1">
                  <c:v>4.43</c:v>
                </c:pt>
                <c:pt idx="2">
                  <c:v>3.51</c:v>
                </c:pt>
                <c:pt idx="3">
                  <c:v>2.74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22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2244"/>
              </a:solidFill>
              <a:effectLst/>
            </c:spPr>
          </c:dPt>
          <c:dPt>
            <c:idx val="1"/>
            <c:bubble3D val="0"/>
            <c:spPr>
              <a:solidFill>
                <a:srgbClr val="0033A0"/>
              </a:solidFill>
              <a:effectLst/>
            </c:spPr>
          </c:dPt>
          <c:dPt>
            <c:idx val="2"/>
            <c:bubble3D val="0"/>
            <c:spPr>
              <a:solidFill>
                <a:srgbClr val="00B2E2"/>
              </a:solidFill>
              <a:effectLst/>
            </c:spPr>
          </c:dPt>
          <c:dPt>
            <c:idx val="3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bubble3D val="0"/>
            <c:spPr>
              <a:solidFill>
                <a:srgbClr val="8E8E93"/>
              </a:solidFill>
              <a:effectLst/>
            </c:spPr>
          </c:dPt>
          <c:dPt>
            <c:idx val="5"/>
            <c:bubble3D val="0"/>
            <c:spPr>
              <a:solidFill>
                <a:srgbClr val="5AC8F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Domestic</c:v>
                </c:pt>
                <c:pt idx="1">
                  <c:v>Atlantic</c:v>
                </c:pt>
                <c:pt idx="2">
                  <c:v>Pacific</c:v>
                </c:pt>
                <c:pt idx="3">
                  <c:v>Latin</c:v>
                </c:pt>
                <c:pt idx="4">
                  <c:v>Cargo</c:v>
                </c:pt>
                <c:pt idx="5">
                  <c:v>MileagePlus/Other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31.2</c:v>
                </c:pt>
                <c:pt idx="1">
                  <c:v>10.8</c:v>
                </c:pt>
                <c:pt idx="2">
                  <c:v>5.1</c:v>
                </c:pt>
                <c:pt idx="3">
                  <c:v>4.3</c:v>
                </c:pt>
                <c:pt idx="4">
                  <c:v>1.8</c:v>
                </c:pt>
                <c:pt idx="5">
                  <c:v>4.2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vs. FY2019</c:v>
                </c:pt>
              </c:strCache>
            </c:strRef>
          </c:tx>
          <c:spPr>
            <a:solidFill>
              <a:srgbClr val="00B2E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Polaris</c:v>
                  </c:pt>
                  <c:pt idx="1">
                    <c:v>Premium Plus</c:v>
                  </c:pt>
                  <c:pt idx="2">
                    <c:v>Dom. First</c:v>
                  </c:pt>
                  <c:pt idx="3">
                    <c:v>Econ Plus</c:v>
                  </c:pt>
                  <c:pt idx="4">
                    <c:v>Basic Econ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210</c:v>
                </c:pt>
                <c:pt idx="2">
                  <c:v>25</c:v>
                </c:pt>
                <c:pt idx="3">
                  <c:v>45</c:v>
                </c:pt>
                <c:pt idx="4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vs. FY2023</c:v>
                </c:pt>
              </c:strCache>
            </c:strRef>
          </c:tx>
          <c:spPr>
            <a:solidFill>
              <a:srgbClr val="D4A8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Polaris</c:v>
                  </c:pt>
                  <c:pt idx="1">
                    <c:v>Premium Plus</c:v>
                  </c:pt>
                  <c:pt idx="2">
                    <c:v>Dom. First</c:v>
                  </c:pt>
                  <c:pt idx="3">
                    <c:v>Econ Plus</c:v>
                  </c:pt>
                  <c:pt idx="4">
                    <c:v>Basic Econ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22</c:v>
                </c:pt>
                <c:pt idx="2">
                  <c:v>8</c:v>
                </c:pt>
                <c:pt idx="3">
                  <c:v>11</c:v>
                </c:pt>
                <c:pt idx="4">
                  <c:v>-3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FFFFF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YoY Growth %</c:v>
                </c:pt>
              </c:strCache>
            </c:strRef>
          </c:tx>
          <c:spPr>
            <a:solidFill>
              <a:srgbClr val="00B2E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22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Domestic</c:v>
                  </c:pt>
                  <c:pt idx="1">
                    <c:v>Atlantic</c:v>
                  </c:pt>
                  <c:pt idx="2">
                    <c:v>Pacific</c:v>
                  </c:pt>
                  <c:pt idx="3">
                    <c:v>Latin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4.2</c:v>
                </c:pt>
                <c:pt idx="1">
                  <c:v>9.8</c:v>
                </c:pt>
                <c:pt idx="2">
                  <c:v>18.2</c:v>
                </c:pt>
                <c:pt idx="3">
                  <c:v>7.1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22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Leverage (x)</c:v>
                </c:pt>
              </c:strCache>
            </c:strRef>
          </c:tx>
          <c:spPr>
            <a:solidFill>
              <a:srgbClr val="0033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22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FY2023</c:v>
                  </c:pt>
                  <c:pt idx="1">
                    <c:v>FY2024</c:v>
                  </c:pt>
                  <c:pt idx="2">
                    <c:v>2026 Target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3.1</c:v>
                </c:pt>
                <c:pt idx="1">
                  <c:v>2.6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22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0033A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926080" cy="2926080"/>
          </a:xfrm>
          <a:prstGeom prst="ellipse">
            <a:avLst/>
          </a:prstGeom>
          <a:solidFill>
            <a:srgbClr val="00B2E2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463040"/>
            <a:ext cx="6400800" cy="0"/>
          </a:xfrm>
          <a:prstGeom prst="line">
            <a:avLst/>
          </a:prstGeom>
          <a:noFill/>
          <a:ln w="1905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Airlines Holdings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FY2024 Results &amp; 2025 Outlook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371600" y="2971800"/>
            <a:ext cx="6400800" cy="0"/>
          </a:xfrm>
          <a:prstGeom prst="line">
            <a:avLst/>
          </a:prstGeom>
          <a:noFill/>
          <a:ln w="19050">
            <a:solidFill>
              <a:srgbClr val="D4A8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3291840"/>
            <a:ext cx="2103120" cy="1280160"/>
          </a:xfrm>
          <a:prstGeom prst="roundRect">
            <a:avLst>
              <a:gd name="adj" fmla="val 8571"/>
            </a:avLst>
          </a:prstGeom>
          <a:solidFill>
            <a:srgbClr val="0033A0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337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6118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$57.4B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71600" y="4114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+6.9% YoY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3291840"/>
            <a:ext cx="2103120" cy="1280160"/>
          </a:xfrm>
          <a:prstGeom prst="roundRect">
            <a:avLst>
              <a:gd name="adj" fmla="val 8571"/>
            </a:avLst>
          </a:prstGeom>
          <a:solidFill>
            <a:srgbClr val="0033A0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3337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Adjusted EPS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0" y="36118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$11.44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840480" y="4114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+12.4% YoY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3291840"/>
            <a:ext cx="2103120" cy="1280160"/>
          </a:xfrm>
          <a:prstGeom prst="roundRect">
            <a:avLst>
              <a:gd name="adj" fmla="val 8571"/>
            </a:avLst>
          </a:prstGeom>
          <a:solidFill>
            <a:srgbClr val="0033A0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337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36118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100K+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09360" y="4114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System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4709160"/>
            <a:ext cx="2194560" cy="320040"/>
          </a:xfrm>
          <a:prstGeom prst="roundRect">
            <a:avLst>
              <a:gd name="adj" fmla="val 48571"/>
            </a:avLst>
          </a:prstGeom>
          <a:solidFill>
            <a:srgbClr val="00B2E2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4709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NASDAQ: UAL | March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FY2024 Financial Highlights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revenue and earnings driven by premium demand and operational efficiency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307592"/>
            <a:ext cx="1728216" cy="54864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$57.4B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+6.9% YoY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23444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33472" y="1307592"/>
            <a:ext cx="1728216" cy="54864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4173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ADJUSTED EPS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16916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$11.44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60320" y="21945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+12.4% YoY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36592" y="1307592"/>
            <a:ext cx="1728216" cy="54864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4173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PRE-TAX MARGIN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16916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63440" y="21945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+60 bps YoY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123444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39712" y="1307592"/>
            <a:ext cx="1728216" cy="54864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14173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CASH FLOW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16916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$3.6B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766560" y="21945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+16.1% YoY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Trend (FY2019-2024)</a:t>
            </a:r>
            <a:endParaRPr lang="en-US" sz="14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274320" y="3063240"/>
          <a:ext cx="50292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3"/>
          <p:cNvSpPr/>
          <p:nvPr/>
        </p:nvSpPr>
        <p:spPr>
          <a:xfrm>
            <a:off x="5669280" y="2834640"/>
            <a:ext cx="31089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669280" y="2880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Metrics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852160" y="3246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CASM-ex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040880" y="32461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11.89c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863840" y="3246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-1.6%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852160" y="366674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TRASM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040880" y="366674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18.14c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863840" y="366674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+1.8%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852160" y="408736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Factor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040880" y="408736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86.8%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7863840" y="408736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+60 bps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852160" y="450799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Fuel/Gal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040880" y="450799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$2.81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7863840" y="450799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-4.4%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2E2"/>
          </a:solidFill>
          <a:ln/>
        </p:spPr>
      </p:sp>
      <p:sp>
        <p:nvSpPr>
          <p:cNvPr id="41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FY2024 Quarterly Breakdown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seasonal cadence with record Q2 summer performance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097280"/>
                <a:gridCol w="1371600"/>
                <a:gridCol w="3474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Quarter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Adj. EPS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Pre-Tax Margin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Commentary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 2024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$12.5B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$0.76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3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Seasonal trough; premium mix improving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 2024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$15.2B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$4.43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3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 summer; transatlantic peak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 2024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$15.0B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$3.51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3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 economy fare pressure domestic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Q4 2024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$14.7B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$2.74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3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Holiday strength; intl resilient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$57.4B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$11.44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 revenue &amp; earnings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457200" y="3383280"/>
          <a:ext cx="411480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5029200" y="3383280"/>
            <a:ext cx="36576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02920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Pattern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212080" y="37490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dominates with summer travel demand, driving 42% of annual EPS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seasonal trough offset by improving premium mix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routes show less seasonality than domestic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2E2"/>
          </a:solidFill>
          <a:ln/>
        </p:spPr>
      </p:sp>
      <p:sp>
        <p:nvSpPr>
          <p:cNvPr id="10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Composition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FY2024 revenue by region and source ($57.4B total)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Source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1463040"/>
          <a:ext cx="43891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Cabin Revenue Mix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846320" y="1691640"/>
            <a:ext cx="164592" cy="411480"/>
          </a:xfrm>
          <a:prstGeom prst="roundRect">
            <a:avLst>
              <a:gd name="adj" fmla="val 27778"/>
            </a:avLst>
          </a:prstGeom>
          <a:solidFill>
            <a:srgbClr val="002244"/>
          </a:solidFill>
          <a:ln/>
        </p:spPr>
      </p:sp>
      <p:sp>
        <p:nvSpPr>
          <p:cNvPr id="8" name="Text 5"/>
          <p:cNvSpPr/>
          <p:nvPr/>
        </p:nvSpPr>
        <p:spPr>
          <a:xfrm>
            <a:off x="5120640" y="1645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Polaris (Intl Business)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120640" y="188366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$6.2B  (25.4%)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498080" y="1737360"/>
            <a:ext cx="1145380" cy="292608"/>
          </a:xfrm>
          <a:prstGeom prst="roundRect">
            <a:avLst>
              <a:gd name="adj" fmla="val 15625"/>
            </a:avLst>
          </a:prstGeom>
          <a:solidFill>
            <a:srgbClr val="002244"/>
          </a:solidFill>
          <a:ln/>
        </p:spPr>
      </p:sp>
      <p:sp>
        <p:nvSpPr>
          <p:cNvPr id="11" name="Shape 8"/>
          <p:cNvSpPr/>
          <p:nvPr/>
        </p:nvSpPr>
        <p:spPr>
          <a:xfrm>
            <a:off x="4846320" y="2331720"/>
            <a:ext cx="164592" cy="411480"/>
          </a:xfrm>
          <a:prstGeom prst="roundRect">
            <a:avLst>
              <a:gd name="adj" fmla="val 27778"/>
            </a:avLst>
          </a:prstGeom>
          <a:solidFill>
            <a:srgbClr val="0033A0"/>
          </a:solidFill>
          <a:ln/>
        </p:spPr>
      </p:sp>
      <p:sp>
        <p:nvSpPr>
          <p:cNvPr id="12" name="Text 9"/>
          <p:cNvSpPr/>
          <p:nvPr/>
        </p:nvSpPr>
        <p:spPr>
          <a:xfrm>
            <a:off x="5120640" y="22860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Plus (Intl PE)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120640" y="252374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$1.8B  (7.4%)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498080" y="2377440"/>
            <a:ext cx="333693" cy="292608"/>
          </a:xfrm>
          <a:prstGeom prst="roundRect">
            <a:avLst>
              <a:gd name="adj" fmla="val 15625"/>
            </a:avLst>
          </a:prstGeom>
          <a:solidFill>
            <a:srgbClr val="0033A0"/>
          </a:solidFill>
          <a:ln/>
        </p:spPr>
      </p:sp>
      <p:sp>
        <p:nvSpPr>
          <p:cNvPr id="15" name="Shape 12"/>
          <p:cNvSpPr/>
          <p:nvPr/>
        </p:nvSpPr>
        <p:spPr>
          <a:xfrm>
            <a:off x="4846320" y="2971800"/>
            <a:ext cx="164592" cy="411480"/>
          </a:xfrm>
          <a:prstGeom prst="roundRect">
            <a:avLst>
              <a:gd name="adj" fmla="val 27778"/>
            </a:avLst>
          </a:prstGeom>
          <a:solidFill>
            <a:srgbClr val="00B2E2"/>
          </a:solidFill>
          <a:ln/>
        </p:spPr>
      </p:sp>
      <p:sp>
        <p:nvSpPr>
          <p:cNvPr id="16" name="Text 13"/>
          <p:cNvSpPr/>
          <p:nvPr/>
        </p:nvSpPr>
        <p:spPr>
          <a:xfrm>
            <a:off x="5120640" y="29260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First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120640" y="316382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$4.1B  (16.8%)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498080" y="3017520"/>
            <a:ext cx="757574" cy="292608"/>
          </a:xfrm>
          <a:prstGeom prst="roundRect">
            <a:avLst>
              <a:gd name="adj" fmla="val 15625"/>
            </a:avLst>
          </a:prstGeom>
          <a:solidFill>
            <a:srgbClr val="00B2E2"/>
          </a:solidFill>
          <a:ln/>
        </p:spPr>
      </p:sp>
      <p:sp>
        <p:nvSpPr>
          <p:cNvPr id="19" name="Shape 16"/>
          <p:cNvSpPr/>
          <p:nvPr/>
        </p:nvSpPr>
        <p:spPr>
          <a:xfrm>
            <a:off x="4846320" y="3611880"/>
            <a:ext cx="164592" cy="411480"/>
          </a:xfrm>
          <a:prstGeom prst="roundRect">
            <a:avLst>
              <a:gd name="adj" fmla="val 27778"/>
            </a:avLst>
          </a:prstGeom>
          <a:solidFill>
            <a:srgbClr val="D4A843"/>
          </a:solidFill>
          <a:ln/>
        </p:spPr>
      </p:sp>
      <p:sp>
        <p:nvSpPr>
          <p:cNvPr id="20" name="Text 17"/>
          <p:cNvSpPr/>
          <p:nvPr/>
        </p:nvSpPr>
        <p:spPr>
          <a:xfrm>
            <a:off x="5120640" y="3566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Economy Plus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120640" y="380390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$3.4B  (13.9%)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498080" y="3657600"/>
            <a:ext cx="626802" cy="292608"/>
          </a:xfrm>
          <a:prstGeom prst="roundRect">
            <a:avLst>
              <a:gd name="adj" fmla="val 15625"/>
            </a:avLst>
          </a:prstGeom>
          <a:solidFill>
            <a:srgbClr val="D4A843"/>
          </a:solidFill>
          <a:ln/>
        </p:spPr>
      </p:sp>
      <p:sp>
        <p:nvSpPr>
          <p:cNvPr id="23" name="Shape 20"/>
          <p:cNvSpPr/>
          <p:nvPr/>
        </p:nvSpPr>
        <p:spPr>
          <a:xfrm>
            <a:off x="4846320" y="4251960"/>
            <a:ext cx="164592" cy="411480"/>
          </a:xfrm>
          <a:prstGeom prst="roundRect">
            <a:avLst>
              <a:gd name="adj" fmla="val 27778"/>
            </a:avLst>
          </a:prstGeom>
          <a:solidFill>
            <a:srgbClr val="8E8E93"/>
          </a:solidFill>
          <a:ln/>
        </p:spPr>
      </p:sp>
      <p:sp>
        <p:nvSpPr>
          <p:cNvPr id="24" name="Text 21"/>
          <p:cNvSpPr/>
          <p:nvPr/>
        </p:nvSpPr>
        <p:spPr>
          <a:xfrm>
            <a:off x="5120640" y="42062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Economy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120640" y="444398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$8.9B  (36.5%)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498080" y="4297680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8E8E93"/>
          </a:solidFill>
          <a:ln/>
        </p:spPr>
      </p:sp>
      <p:sp>
        <p:nvSpPr>
          <p:cNvPr id="27" name="Shape 24"/>
          <p:cNvSpPr/>
          <p:nvPr/>
        </p:nvSpPr>
        <p:spPr>
          <a:xfrm>
            <a:off x="8046720" y="4206240"/>
            <a:ext cx="1645920" cy="1645920"/>
          </a:xfrm>
          <a:prstGeom prst="ellipse">
            <a:avLst/>
          </a:prstGeom>
          <a:solidFill>
            <a:srgbClr val="00B2E2">
              <a:alpha val="15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2E2"/>
          </a:solidFill>
          <a:ln/>
        </p:spPr>
      </p:sp>
      <p:sp>
        <p:nvSpPr>
          <p:cNvPr id="29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Revenue Momentum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cabins outpacing economy with structural demand shift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18872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28016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217920" y="13258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Plus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217920" y="15361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+210%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17920" y="18745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2019. Fastest growing cabin.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35040" y="237744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217920" y="24231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Polaris Revenue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17920" y="26334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$6.2B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217920" y="29718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business class leader.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35040" y="347472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3520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Econ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7307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-3% YoY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217920" y="4069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Fare pressure from ULCC competition.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revenue now represents ~64% of total passenger revenue, up from ~55% in 2019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2E2"/>
          </a:solidFill>
          <a:ln/>
        </p:spPr>
      </p:sp>
      <p:sp>
        <p:nvSpPr>
          <p:cNvPr id="19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Next: Strategy Update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transformation delivering gauge-up economics at scale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307592"/>
            <a:ext cx="2414016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50-SEAT RJs RETIRED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280 by 2027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64992" y="1307592"/>
            <a:ext cx="2414016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417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SEATS/DEPARTURE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1691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9184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from 151 in 2019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23444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9632" y="1307592"/>
            <a:ext cx="2414016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417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ASM GROWTH vs 2019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0" y="1691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12648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Aircraft count ~flat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Pillars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319272"/>
            <a:ext cx="201168" cy="201168"/>
          </a:xfrm>
          <a:prstGeom prst="ellipse">
            <a:avLst/>
          </a:prstGeom>
          <a:solidFill>
            <a:srgbClr val="00B2E2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Gauge-Up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60320" y="32461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50-seat RJs with mainline narrowbodies, reducing unit costs by ~15% per seat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794760"/>
            <a:ext cx="201168" cy="201168"/>
          </a:xfrm>
          <a:prstGeom prst="ellipse">
            <a:avLst/>
          </a:prstGeom>
          <a:solidFill>
            <a:srgbClr val="00B2E2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372160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Differentiation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60320" y="372160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Polaris, Premium Plus, and connectivity investments driving premium revenue growth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270248"/>
            <a:ext cx="201168" cy="201168"/>
          </a:xfrm>
          <a:prstGeom prst="ellipse">
            <a:avLst/>
          </a:prstGeom>
          <a:solidFill>
            <a:srgbClr val="00B2E2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19709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Dominance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60320" y="4197096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hubs with $4.8B+ infrastructure investment since 2020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745736"/>
            <a:ext cx="201168" cy="201168"/>
          </a:xfrm>
          <a:prstGeom prst="ellipse">
            <a:avLst/>
          </a:prstGeom>
          <a:solidFill>
            <a:srgbClr val="00B2E2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67258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Modernization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560320" y="4672584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895 aircraft on order; newest fleet among US Big Three by 2030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0" y="0"/>
            <a:ext cx="914400" cy="5143500"/>
          </a:xfrm>
          <a:prstGeom prst="roundRect">
            <a:avLst/>
          </a:prstGeom>
          <a:solidFill>
            <a:srgbClr val="002244">
              <a:alpha val="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2E2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Order Book &amp; Deliveries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895 total firm orders — largest in United's history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1371600"/>
                <a:gridCol w="1371600"/>
                <a:gridCol w="26517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Aircraft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 Orders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737 MAX 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737 MAX 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737 MAX 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Awaiting FAA Cert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787-9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Delivering (2023+)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A321neo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3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A350-900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3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9476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3840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Retirements in Progress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41148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757-200/300: Phase-out through 2028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767-300ER: Replacing with 787/A350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777-200: Older frames, 2024-2026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0" y="379476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3E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54880" y="3840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Boeing Delivery Risk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0" y="41148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FAA production cap of 38 MAX/month post-Alaska door plug incident (Jan 2024). A321neo order provides strategic hedge against Boeing delivery delays.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2E2"/>
          </a:solidFill>
          <a:ln/>
        </p:spPr>
      </p:sp>
      <p:sp>
        <p:nvSpPr>
          <p:cNvPr id="12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Infrastructure Investments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$4.8B+ invested across 7 domestic hubs since 2020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0" cy="1600200"/>
          </a:xfrm>
          <a:prstGeom prst="roundRect">
            <a:avLst>
              <a:gd name="adj" fmla="val 6857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41732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00B2E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EWR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417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Newark Terminal 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7190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$2.7B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0" y="17190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new gates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54480" y="219456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27AE60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Opened 2023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3840480" cy="1600200"/>
          </a:xfrm>
          <a:prstGeom prst="roundRect">
            <a:avLst>
              <a:gd name="adj" fmla="val 6857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800600" y="141732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00B2E2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760720" y="1417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O'Hare T2 Satellite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760720" y="17190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$1.2B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49440" y="17190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renovation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0" y="219456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E67E22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3840480" cy="1600200"/>
          </a:xfrm>
          <a:prstGeom prst="roundRect">
            <a:avLst>
              <a:gd name="adj" fmla="val 6857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24612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00B2E2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54480" y="3246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Denver Gate Expansion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35478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$500M+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743200" y="35478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gate complex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554480" y="402336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00B2E2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554480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2024-2026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108960"/>
            <a:ext cx="3840480" cy="1600200"/>
          </a:xfrm>
          <a:prstGeom prst="roundRect">
            <a:avLst>
              <a:gd name="adj" fmla="val 6857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800600" y="324612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00B2E2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IAH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760720" y="3246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Houston Terminal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760720" y="35478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$400M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949440" y="35478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improvements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760720" y="402336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E67E22">
              <a:alpha val="8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760720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2E2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MileagePlus Loyalty Program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High-margin annuity revenue stream with significant embedded value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307592"/>
            <a:ext cx="3694176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MEMBERS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100M+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worldwide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6592" y="1307592"/>
            <a:ext cx="3694176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3RD-PARTY CASH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1691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$5.8B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63440" y="2286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Primarily Chase co-brand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2999232"/>
            <a:ext cx="3694176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08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~55%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57200" y="3977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Highest-margin segment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36592" y="2999232"/>
            <a:ext cx="3694176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3108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VALUATION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33832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$22B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663440" y="3977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 collateral basis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002244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Members: 8.2M (record)  |  Chase co-brand extended through late 2020s  |  Revenue contribution growing faster than capacity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2E2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Performance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YoY improvement across all key operational metrics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Factor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1325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0" y="157276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98.5%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128016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0480" y="1325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0480" y="157276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98.9%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6320" y="1554480"/>
            <a:ext cx="2286000" cy="228600"/>
          </a:xfrm>
          <a:prstGeom prst="roundRect">
            <a:avLst>
              <a:gd name="adj" fmla="val 48000"/>
            </a:avLst>
          </a:prstGeom>
          <a:solidFill>
            <a:srgbClr val="E0E0E0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554480"/>
            <a:ext cx="2260854" cy="228600"/>
          </a:xfrm>
          <a:prstGeom prst="roundRect">
            <a:avLst>
              <a:gd name="adj" fmla="val 48000"/>
            </a:avLst>
          </a:prstGeom>
          <a:solidFill>
            <a:srgbClr val="00B2E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128016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&gt;99%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21945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D:14 On-Time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2240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0" y="248716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79.4%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219456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40480" y="2240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840480" y="248716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81.2%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46320" y="2468880"/>
            <a:ext cx="2286000" cy="228600"/>
          </a:xfrm>
          <a:prstGeom prst="roundRect">
            <a:avLst>
              <a:gd name="adj" fmla="val 48000"/>
            </a:avLst>
          </a:prstGeom>
          <a:solidFill>
            <a:srgbClr val="E0E0E0"/>
          </a:solidFill>
          <a:ln/>
        </p:spPr>
      </p:sp>
      <p:sp>
        <p:nvSpPr>
          <p:cNvPr id="22" name="Shape 20"/>
          <p:cNvSpPr/>
          <p:nvPr/>
        </p:nvSpPr>
        <p:spPr>
          <a:xfrm>
            <a:off x="4846320" y="2468880"/>
            <a:ext cx="1856232" cy="228600"/>
          </a:xfrm>
          <a:prstGeom prst="roundRect">
            <a:avLst>
              <a:gd name="adj" fmla="val 48000"/>
            </a:avLst>
          </a:prstGeom>
          <a:solidFill>
            <a:srgbClr val="00B2E2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0" y="219456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&gt;83%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1089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31089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Misconnection Rate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0" y="3154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43200" y="340156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0" y="310896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840480" y="3154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840480" y="340156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846320" y="3383280"/>
            <a:ext cx="2286000" cy="228600"/>
          </a:xfrm>
          <a:prstGeom prst="roundRect">
            <a:avLst>
              <a:gd name="adj" fmla="val 48000"/>
            </a:avLst>
          </a:prstGeom>
          <a:solidFill>
            <a:srgbClr val="E0E0E0"/>
          </a:solidFill>
          <a:ln/>
        </p:spPr>
      </p:sp>
      <p:sp>
        <p:nvSpPr>
          <p:cNvPr id="32" name="Shape 30"/>
          <p:cNvSpPr/>
          <p:nvPr/>
        </p:nvSpPr>
        <p:spPr>
          <a:xfrm>
            <a:off x="4846320" y="3383280"/>
            <a:ext cx="1805940" cy="228600"/>
          </a:xfrm>
          <a:prstGeom prst="roundRect">
            <a:avLst>
              <a:gd name="adj" fmla="val 48000"/>
            </a:avLst>
          </a:prstGeom>
          <a:solidFill>
            <a:srgbClr val="27AE60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0" y="310896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&lt;2.0%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0233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0080" y="4023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 Delivery Rate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743200" y="4069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743200" y="431596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99.2%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474720" y="402336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840480" y="4069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840480" y="431596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99.5%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846320" y="4297680"/>
            <a:ext cx="2286000" cy="228600"/>
          </a:xfrm>
          <a:prstGeom prst="roundRect">
            <a:avLst>
              <a:gd name="adj" fmla="val 48000"/>
            </a:avLst>
          </a:prstGeom>
          <a:solidFill>
            <a:srgbClr val="E0E0E0"/>
          </a:solidFill>
          <a:ln/>
        </p:spPr>
      </p:sp>
      <p:sp>
        <p:nvSpPr>
          <p:cNvPr id="42" name="Shape 40"/>
          <p:cNvSpPr/>
          <p:nvPr/>
        </p:nvSpPr>
        <p:spPr>
          <a:xfrm>
            <a:off x="4846320" y="4297680"/>
            <a:ext cx="2274570" cy="228600"/>
          </a:xfrm>
          <a:prstGeom prst="roundRect">
            <a:avLst>
              <a:gd name="adj" fmla="val 48000"/>
            </a:avLst>
          </a:prstGeom>
          <a:solidFill>
            <a:srgbClr val="27AE60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0" y="402336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&gt;99.5%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4709160"/>
            <a:ext cx="8229600" cy="320040"/>
          </a:xfrm>
          <a:prstGeom prst="roundRect">
            <a:avLst>
              <a:gd name="adj" fmla="val 22857"/>
            </a:avLst>
          </a:prstGeom>
          <a:solidFill>
            <a:srgbClr val="00B2E2">
              <a:alpha val="1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$100M+ invested in ops tech: ConnectionSaver, real-time app rebooking, proactive delay notifications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2E2"/>
          </a:solidFill>
          <a:ln/>
        </p:spPr>
      </p:sp>
      <p:sp>
        <p:nvSpPr>
          <p:cNvPr id="47" name="Text 4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Performance — FY2024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outperforming domestic; Pacific recovery accelerating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8595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  <a:gridCol w="1005840"/>
                <a:gridCol w="3566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YoY 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Yield Trend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Load Factor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Highlights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Domestic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$31.2B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Hub-to-hub strength; basic econ pressure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Atlantic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$10.8B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EWR-LHR flagship; 30+ EU destinations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Pacific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$5.1B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India expansion; Japan recovery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$4.3B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IAH gateway; new South America routes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Revenue Growth by Region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3291840"/>
          <a:ext cx="411480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4754880" y="3200400"/>
            <a:ext cx="40233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93776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2024 Routes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029200" y="356616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EWR-DXB (Dubai), EWR-DEL (Delhi)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SFO-BLR (Bangalore) — India expansion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Malaga, Faro, Stockholm, Berlin — EU growth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of revenue now international (recession hedge)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2E2"/>
          </a:solidFill>
          <a:ln/>
        </p:spPr>
      </p:sp>
      <p:sp>
        <p:nvSpPr>
          <p:cNvPr id="11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Sheet &amp; Capital Allocation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 deleveraging path toward investment grade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261872"/>
            <a:ext cx="1728216" cy="54864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DEBT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$25.4B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from $27.1B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33472" y="1261872"/>
            <a:ext cx="1728216" cy="54864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371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DEBT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16459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$18.3B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6032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&lt;$16B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36592" y="1261872"/>
            <a:ext cx="1728216" cy="54864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371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LEVERAGE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16459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2.6x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6344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&lt;2.0x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118872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39712" y="1261872"/>
            <a:ext cx="1728216" cy="54864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1371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RATING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16459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BB+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76656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 target by 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Leverage Trajectory</a:t>
            </a:r>
            <a:endParaRPr lang="en-US" sz="14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274320" y="3017520"/>
          <a:ext cx="41148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3"/>
          <p:cNvSpPr/>
          <p:nvPr/>
        </p:nvSpPr>
        <p:spPr>
          <a:xfrm>
            <a:off x="4754880" y="2743200"/>
            <a:ext cx="40233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93776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Allocation Priorities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937760" y="3200400"/>
            <a:ext cx="256032" cy="256032"/>
          </a:xfrm>
          <a:prstGeom prst="ellipse">
            <a:avLst/>
          </a:prstGeom>
          <a:solidFill>
            <a:srgbClr val="00B2E2"/>
          </a:solidFill>
          <a:ln/>
        </p:spPr>
      </p:sp>
      <p:sp>
        <p:nvSpPr>
          <p:cNvPr id="29" name="Text 26"/>
          <p:cNvSpPr/>
          <p:nvPr/>
        </p:nvSpPr>
        <p:spPr>
          <a:xfrm>
            <a:off x="4937760" y="32004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303520" y="31546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Investment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766560" y="3154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$6.5-7.0B capex in 2025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937760" y="3639312"/>
            <a:ext cx="256032" cy="256032"/>
          </a:xfrm>
          <a:prstGeom prst="ellipse">
            <a:avLst/>
          </a:prstGeom>
          <a:solidFill>
            <a:srgbClr val="00B2E2"/>
          </a:solidFill>
          <a:ln/>
        </p:spPr>
      </p:sp>
      <p:sp>
        <p:nvSpPr>
          <p:cNvPr id="33" name="Text 30"/>
          <p:cNvSpPr/>
          <p:nvPr/>
        </p:nvSpPr>
        <p:spPr>
          <a:xfrm>
            <a:off x="4937760" y="36393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303520" y="35935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 Reduction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766560" y="35935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~$2B annual paydown target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937760" y="4078224"/>
            <a:ext cx="256032" cy="256032"/>
          </a:xfrm>
          <a:prstGeom prst="ellipse">
            <a:avLst/>
          </a:prstGeom>
          <a:solidFill>
            <a:srgbClr val="00B2E2"/>
          </a:solidFill>
          <a:ln/>
        </p:spPr>
      </p:sp>
      <p:sp>
        <p:nvSpPr>
          <p:cNvPr id="37" name="Text 34"/>
          <p:cNvSpPr/>
          <p:nvPr/>
        </p:nvSpPr>
        <p:spPr>
          <a:xfrm>
            <a:off x="4937760" y="40782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303520" y="403250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Repurchase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766560" y="40325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$1.5B auth; ~$800M executed '24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937760" y="4517136"/>
            <a:ext cx="256032" cy="256032"/>
          </a:xfrm>
          <a:prstGeom prst="ellipse">
            <a:avLst/>
          </a:prstGeom>
          <a:solidFill>
            <a:srgbClr val="00B2E2"/>
          </a:solidFill>
          <a:ln/>
        </p:spPr>
      </p:sp>
      <p:sp>
        <p:nvSpPr>
          <p:cNvPr id="41" name="Text 38"/>
          <p:cNvSpPr/>
          <p:nvPr/>
        </p:nvSpPr>
        <p:spPr>
          <a:xfrm>
            <a:off x="4937760" y="45171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303520" y="447141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Infrastructure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6766560" y="44714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gate &amp; terminal investment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2E2"/>
          </a:solidFill>
          <a:ln/>
        </p:spPr>
      </p:sp>
      <p:sp>
        <p:nvSpPr>
          <p:cNvPr id="45" name="Text 4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Guidance &amp; Long-Term Targets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Next 2026 targets represent step-change in profitability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 Actual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 Guidance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Target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2E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Adjusted EPS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$11.44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$11.50 - $13.50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$25 - $27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Pre-Tax Margin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10.5% - 12%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Capacity (ASMs)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+3-5%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+4-6%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CASM-ex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11.89c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 to -1%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-2-3% cum.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CapEx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~$6.5B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$6.5 - $7.0B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$5.5 - $6.0B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Cash Flow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$3.6B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$3.0 - $4.0B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$5.0B+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Repurchase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~$800M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$1.5 - $2.0B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Accelerating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976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3159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Sensitivity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1% GDP contraction = ~1.5-2% revenue impact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+ international + loyalty = structural recession hedge vs. domestic-heavy peers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2E2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 &amp; Mitigations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2743200"/>
                <a:gridCol w="2926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Factor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Boeing MAX Delivery Pace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Fleet plan delays; capacity shortfall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A321neo hedge order; extending older frames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Domestic Fare Pressure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 economy yields declining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 mix shift; loyalty revenue 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Macroeconomic / Tariff 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Consumer demand softening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 intl revenue; premium diversification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Fuel Price Volatility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 cost pressure on margins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New-gen fleet 20%+ more fuel efficient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10 Certification Timeline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 aircraft orders in limbo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A321neo provides fallback; older 757 extension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Labor Cost Escalation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~32% of CASM; new contracts above CPI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Gauge-up reduces crew cost per seat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48056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002244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risk profile: MANAGEABLE | Boeing delivery risk is primary watch item; diversified revenue mix provides resilience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2E2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731520"/>
            <a:ext cx="3200400" cy="3200400"/>
          </a:xfrm>
          <a:prstGeom prst="ellipse">
            <a:avLst/>
          </a:prstGeom>
          <a:solidFill>
            <a:srgbClr val="0033A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474720"/>
            <a:ext cx="2743200" cy="2743200"/>
          </a:xfrm>
          <a:prstGeom prst="ellipse">
            <a:avLst/>
          </a:prstGeom>
          <a:solidFill>
            <a:srgbClr val="00B2E2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&amp; ESG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Industry-leading commitments to sustainable aviation fuel and net zero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2606040" cy="457200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Aviation Fuel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1.5B gallon purchase agreements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airline SAF commitment globally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usage &lt;1% (supply constrained)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Eco-Skies Alliance: 40+ corporate partners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28016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337560" y="1280160"/>
            <a:ext cx="2606040" cy="457200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2801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Zero 2050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182880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traditional carbon offsets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New-gen fleet 20%+ more fuel efficient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Airlines Ventures fund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Investing in hydrogen &amp; carbon capture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280160"/>
            <a:ext cx="2606040" cy="457200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2801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Companies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182880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Dimensional Energy (SAF)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Cemvita (bio-manufacturing)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Svante (carbon capture)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ZeroAvia (hydrogen-electric)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2E2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Financial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FY2023 vs FY2024 Key Metrics Comparison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2194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YoY Change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Revenue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$53.7B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$57.4B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+6.9%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Adjusted EPS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$10.18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$11.44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+12.4%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Adj. Pre-Tax Income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$5.1B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$5.8B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Adj. Pre-Tax Margin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 bps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Adj. Operating Margin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 bps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CASM-ex (cents/ASM)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TRASM (cents/ASM)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17.82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Available Seat Miles (B)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301.3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316.5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Load Factor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 bps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Fuel Cost/Gallon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$2.94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-4.4%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Cash Flow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$3.1B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$3.6B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+16.1%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Sheet Summary</a:t>
            </a:r>
            <a:endParaRPr lang="en-US" sz="12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251960"/>
          <a:ext cx="8595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2194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 FY2023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 FY2024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Target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Debt (incl. leases)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$27.1B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$25.4B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&lt;$22B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&amp; Equivalents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$6.3B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$7.1B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$6-7B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Debt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$20.8B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$18.3B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&lt;$16B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Adj. Net Leverage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22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&lt;2.0x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2E2"/>
          </a:solidFill>
          <a:ln/>
        </p:spPr>
      </p:sp>
      <p:sp>
        <p:nvSpPr>
          <p:cNvPr id="8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United Airlines Holdings | FY2024 Results &amp; 2025 Outlook</dc:title>
  <dc:subject>PptxGenJS Presentation</dc:subject>
  <dc:creator>United Airlines Investor Relations</dc:creator>
  <cp:lastModifiedBy>United Airlines Investor Relations</cp:lastModifiedBy>
  <cp:revision>1</cp:revision>
  <dcterms:created xsi:type="dcterms:W3CDTF">2026-03-30T20:17:36Z</dcterms:created>
  <dcterms:modified xsi:type="dcterms:W3CDTF">2026-03-30T20:17:36Z</dcterms:modified>
</cp:coreProperties>
</file>