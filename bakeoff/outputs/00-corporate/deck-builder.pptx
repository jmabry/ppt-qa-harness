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22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15.2</c:v>
                </c:pt>
                <c:pt idx="2">
                  <c:v>15</c:v>
                </c:pt>
                <c:pt idx="3">
                  <c:v>14.7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EPS</c:v>
                </c:pt>
              </c:strCache>
            </c:strRef>
          </c:tx>
          <c:spPr>
            <a:solidFill>
              <a:srgbClr val="D4A843"/>
            </a:solidFill>
            <a:ln w="25400" cap="flat">
              <a:solidFill>
                <a:srgbClr val="D4A8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</c:v>
                </c:pt>
                <c:pt idx="1">
                  <c:v>4.43</c:v>
                </c:pt>
                <c:pt idx="2">
                  <c:v>3.51</c:v>
                </c:pt>
                <c:pt idx="3">
                  <c:v>2.74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244"/>
              </a:solidFill>
              <a:effectLst/>
            </c:spPr>
          </c:dPt>
          <c:dPt>
            <c:idx val="1"/>
            <c:bubble3D val="0"/>
            <c:spPr>
              <a:solidFill>
                <a:srgbClr val="0033A0"/>
              </a:solidFill>
              <a:effectLst/>
            </c:spPr>
          </c:dPt>
          <c:dPt>
            <c:idx val="2"/>
            <c:bubble3D val="0"/>
            <c:spPr>
              <a:solidFill>
                <a:srgbClr val="00B2E2"/>
              </a:solidFill>
              <a:effectLst/>
            </c:spPr>
          </c:dPt>
          <c:dPt>
            <c:idx val="3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bubble3D val="0"/>
            <c:spPr>
              <a:solidFill>
                <a:srgbClr val="6C757D"/>
              </a:solidFill>
              <a:effectLst/>
            </c:spPr>
          </c:dPt>
          <c:dPt>
            <c:idx val="5"/>
            <c:bubble3D val="0"/>
            <c:spPr>
              <a:solidFill>
                <a:srgbClr val="4A90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Domestic</c:v>
                </c:pt>
                <c:pt idx="1">
                  <c:v>Atlantic</c:v>
                </c:pt>
                <c:pt idx="2">
                  <c:v>Pacific</c:v>
                </c:pt>
                <c:pt idx="3">
                  <c:v>Latin</c:v>
                </c:pt>
                <c:pt idx="4">
                  <c:v>Cargo</c:v>
                </c:pt>
                <c:pt idx="5">
                  <c:v>MileagePlus/Other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31.2</c:v>
                </c:pt>
                <c:pt idx="1">
                  <c:v>10.8</c:v>
                </c:pt>
                <c:pt idx="2">
                  <c:v>5.1</c:v>
                </c:pt>
                <c:pt idx="3">
                  <c:v>4.3</c:v>
                </c:pt>
                <c:pt idx="4">
                  <c:v>1.8</c:v>
                </c:pt>
                <c:pt idx="5">
                  <c:v>4.2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 FY2019</c:v>
                </c:pt>
              </c:strCache>
            </c:strRef>
          </c:tx>
          <c:spPr>
            <a:solidFill>
              <a:srgbClr val="0022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Polaris</c:v>
                  </c:pt>
                  <c:pt idx="1">
                    <c:v>Prem Plus</c:v>
                  </c:pt>
                  <c:pt idx="2">
                    <c:v>Dom First</c:v>
                  </c:pt>
                  <c:pt idx="3">
                    <c:v>Econ Plus</c:v>
                  </c:pt>
                  <c:pt idx="4">
                    <c:v>Basic Econ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210</c:v>
                </c:pt>
                <c:pt idx="2">
                  <c:v>25</c:v>
                </c:pt>
                <c:pt idx="3">
                  <c:v>45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FY2023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Polaris</c:v>
                  </c:pt>
                  <c:pt idx="1">
                    <c:v>Prem Plus</c:v>
                  </c:pt>
                  <c:pt idx="2">
                    <c:v>Dom First</c:v>
                  </c:pt>
                  <c:pt idx="3">
                    <c:v>Econ Plus</c:v>
                  </c:pt>
                  <c:pt idx="4">
                    <c:v>Basic Econ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22</c:v>
                </c:pt>
                <c:pt idx="2">
                  <c:v>8</c:v>
                </c:pt>
                <c:pt idx="3">
                  <c:v>11</c:v>
                </c:pt>
                <c:pt idx="4">
                  <c:v>-3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MAX 8</c:v>
                  </c:pt>
                  <c:pt idx="1">
                    <c:v>MAX 9</c:v>
                  </c:pt>
                  <c:pt idx="2">
                    <c:v>MAX 10</c:v>
                  </c:pt>
                  <c:pt idx="3">
                    <c:v>787-9</c:v>
                  </c:pt>
                  <c:pt idx="4">
                    <c:v>A321neo</c:v>
                  </c:pt>
                  <c:pt idx="5">
                    <c:v>A350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113</c:v>
                </c:pt>
                <c:pt idx="1">
                  <c:v>87</c:v>
                </c:pt>
                <c:pt idx="2">
                  <c:v>200</c:v>
                </c:pt>
                <c:pt idx="3">
                  <c:v>82</c:v>
                </c:pt>
                <c:pt idx="4">
                  <c:v>120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 Revenue ($B)</c:v>
                </c:pt>
              </c:strCache>
            </c:strRef>
          </c:tx>
          <c:spPr>
            <a:solidFill>
              <a:srgbClr val="0022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Domestic</c:v>
                  </c:pt>
                  <c:pt idx="1">
                    <c:v>Atlantic</c:v>
                  </c:pt>
                  <c:pt idx="2">
                    <c:v>Pacific</c:v>
                  </c:pt>
                  <c:pt idx="3">
                    <c:v>Latin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31.2</c:v>
                </c:pt>
                <c:pt idx="1">
                  <c:v>10.8</c:v>
                </c:pt>
                <c:pt idx="2">
                  <c:v>5.1</c:v>
                </c:pt>
                <c:pt idx="3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Debt ($B)</c:v>
                </c:pt>
              </c:strCache>
            </c:strRef>
          </c:tx>
          <c:spPr>
            <a:solidFill>
              <a:srgbClr val="0022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2026 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27.1</c:v>
                </c:pt>
                <c:pt idx="1">
                  <c:v>25.4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Debt ($B)</c:v>
                </c:pt>
              </c:strCache>
            </c:strRef>
          </c:tx>
          <c:spPr>
            <a:solidFill>
              <a:srgbClr val="00B2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2026 Target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20.8</c:v>
                </c:pt>
                <c:pt idx="1">
                  <c:v>18.3</c:v>
                </c:pt>
                <c:pt idx="2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FY2024 Results &amp; 2025 Outlook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Holdings, Inc.  |  NASDAQ: UAL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Scott Kirby   |   CFO: Mike Leskinen   |   CCO: Andrew Nocella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~$28B   |   Employees: 100,000+   |   Fleet: ~1,200 aircraft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Hubs: EWR  |  ORD  |  IAH  |  DEN  |  SFO  |  LAX  |  IAD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FY2024 Financial Highlights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$57.4B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889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204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$11.44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204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373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373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Margin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3227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542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542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Trend (FY2024, $B)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914400" y="2404872"/>
          <a:ext cx="73152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Earnings Breakdown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914400"/>
                <a:gridCol w="118872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trough; premium mix improving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summer; transatlantic 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economy fare pressure domestic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strength; intl resilient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EPS by Quarter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914400" y="2953512"/>
          <a:ext cx="73152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Composition (FY2024)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Source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417320"/>
          <a:ext cx="4114800" cy="2862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84632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Revenue Mix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Polaris (Intl Biz)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Plus (PE)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Economy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Cabin &amp; Other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Revenue Momentum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$6.2B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" y="150876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11887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9272" y="150876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08192" y="11887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08192" y="150876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Plus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FY2019 &amp; FY2023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31520" y="2331720"/>
          <a:ext cx="7680960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"United Next" Strategy Update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→ 174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Seats / Departure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889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204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204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50-Seat RJs Retired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373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373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Growth vs 2019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3227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542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~Flat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542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Gauge-Up Strategy Details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04872"/>
            <a:ext cx="8229600" cy="18288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468880"/>
            <a:ext cx="786384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50-seat regional jets removed: 220 retired since 2021 (target: 280 by 2027)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mainline seats/departure: 174 (up from 151 in 2019 — +15%)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growth of +20% vs. 2019 with aircraft count roughly flat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enabler: replacing 50-seat RJs with 737 MAX narrowbodies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 in progress: 757-200/300, 767-300ER, older 777-200 frames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A321neo order (120 aircraft) provides strategic hedge against Boeing delays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Order Book &amp; Delivery Timeline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  <a:gridCol w="109728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Delivery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 MAX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 MAX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 MAX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cert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787-9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A321neo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A350-900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Deliveries by Type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31520" y="3547872"/>
          <a:ext cx="76809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Infrastructure Investments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1808226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" y="160020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 Terminal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new gates • Opened 2023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48890" y="114300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2042" y="1188720"/>
            <a:ext cx="1808226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2042" y="160020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 Terminal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renovation • In progress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40580" y="114300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3732" y="1188720"/>
            <a:ext cx="1808226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3732" y="160020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Gate Expansion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2024–2026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32270" y="114300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5422" y="1188720"/>
            <a:ext cx="1808226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5422" y="160020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IAH Improvements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upgrades • In progress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Domestic Hubs: EWR  |  ORD  |  IAH  |  DEN  |  SFO  |  LAX  |  IAD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87752"/>
            <a:ext cx="8229600" cy="18288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51760"/>
            <a:ext cx="786384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 Terminal A: State-of-the-art 33-gate facility, largest single investment in United's history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 $1.2B satellite concourse expansion connecting to existing Terminal 2 operations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DEN: Multi-phase gate expansion to support growing Western hub demand ($500M+)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IAH: Terminal modernization and improvements to strengthen Gulf Coast gateway ($400M)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hub CapEx: $4.8B+ across all major hubs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MileagePlus Loyalty Program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889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204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204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3P Cash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373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373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32270" y="1143000"/>
            <a:ext cx="195453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5422" y="1188720"/>
            <a:ext cx="1808226" cy="41148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5422" y="1554480"/>
            <a:ext cx="1808226" cy="3703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Valuation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2194560"/>
            <a:ext cx="2346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" y="2240280"/>
            <a:ext cx="2200656" cy="36576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" y="2560320"/>
            <a:ext cx="2200656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Members (Record)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98520" y="2194560"/>
            <a:ext cx="2346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1672" y="2240280"/>
            <a:ext cx="2200656" cy="36576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71672" y="2560320"/>
            <a:ext cx="2200656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Partner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82640" y="2194560"/>
            <a:ext cx="2346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55792" y="2240280"/>
            <a:ext cx="2200656" cy="36576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Late 2020s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55792" y="2560320"/>
            <a:ext cx="2200656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 Agreement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of MileagePlus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8229600" cy="18288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520440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loyalty monetization: $5.8B annual third-party cash primarily from Chase co-brand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$22B valuation used as collateral during COVID—20 financing — demonstrates standalone asset value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 estimated operating margin makes it the most profitable segment of the business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 Premier members (record) driving engagement and premium revenue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Performance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D:14 On-Time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Misconnection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 Delivery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Technology Investments ($100M+)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07792"/>
            <a:ext cx="8229600" cy="18288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971800"/>
            <a:ext cx="78638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ConnectionSaver: Holds connections for late arrivals, reduced misconnections by 25%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 rebooking: Self-service rebooking for disrupted passengers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delay notifications: Push alerts before gate agents announce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key metrics improved YoY — approaching or meeting targets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 (FY2024)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822960"/>
                <a:gridCol w="1005840"/>
                <a:gridCol w="1097280"/>
                <a:gridCol w="2194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Routes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Hub-to-hub 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EWR-LHR, 30+ 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India, Japan recovery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IAH gateway, S. America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651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($B)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907792"/>
          <a:ext cx="4114800" cy="1353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502920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2024 Routes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0" y="2926080"/>
            <a:ext cx="36576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 → DXB (Dubai)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 → DEL (Delhi)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 → BLR (Bangalore)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Malaga, Faro, Stockholm, Berlin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expansion driving Pacific +18.2% YoY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 &amp; Capital Allocation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$25.4B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889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204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204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Leverage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373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373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Equiv.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3227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542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0542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Deleveraging Trend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404872"/>
          <a:ext cx="4114800" cy="1856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 Priorities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423160"/>
            <a:ext cx="384048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Fleet investment: $6.5–$7.0B CapEx (2025)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Debt reduction: ~$2B annual paydown target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Share repurchase: $1.5B authorized, ~$800M executed in 2024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Hub infrastructure: $4.8B+ total program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Investment-grade credit rating by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Guidance &amp; "United Next" Targets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Guidance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Target ("United Next")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$11.50 – $13.50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 – $27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 – 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Growth (ASMs)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+3–5%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+4–6%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CASM-ex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to -1%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-2–3% cum. from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Expenditures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 – $7.0B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 – $6.0B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 – $4.0B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$5.0B+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Repurchase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 – $2.0B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Sensitivity &amp; Positioning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005072"/>
            <a:ext cx="8229600" cy="18288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69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1% GDP contraction → ~1.5–2% revenue impact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(premium + international + loyalty) positioned as recession hedge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revenue (35% of total) partially insulates vs domestic-heavy carriers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MAX delivery 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plan delays, capacity shortfall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A321neo hedge order (120 aircraft)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fare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economy yield erosion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mix shift, ancillary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/ tariff uncertainty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demand softening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diversification (35% rev)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price volatility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compression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Hedging program, fleet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10 certification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aircraft delayed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737-800/900, A321neo backup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108960"/>
            <a:ext cx="82296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3182112"/>
            <a:ext cx="79552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Summary: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delivery risk remains the single largest uncertainty for fleet plan execution.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A321neo order with Airbus provides a strategic hedge, while United's premium revenue mix and international diversification offer resilience against domestic fare and macro pressures.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production cap of 38 MAX/month post-Alaska door plug incident (Jan 2024) remains a headwind.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&amp; ESG Commitments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gal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Purchase Agreements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889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204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204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Target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373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373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Eco-Skies Partners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32270" y="1143000"/>
            <a:ext cx="19545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5422" y="1188720"/>
            <a:ext cx="1808226" cy="3886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05422" y="1531620"/>
            <a:ext cx="1808226" cy="3497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SAF Usage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Ventures — Portfolio Companies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04872"/>
            <a:ext cx="8229600" cy="18288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468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Energy — Solar-to-fuel SAF production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Cemvita — Bio-based carbon utilization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Svante — Carbon capture technology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ZeroAvia — Hydrogen-electric propulsion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24688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airline SAF commitment globally (1.5B gallons)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by 2050 without traditional carbon offsets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Eco-Skies Alliance: 40+ corporate partners co-investing in SAF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supply constrained — &lt;1% of total fuel today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02244"/>
          </a:solidFill>
          <a:ln/>
          <a:effectLst>
            <a:outerShdw sx="100000" sy="100000" kx="0" ky="0" algn="bl" rotWithShape="0" blurRad="38100" dist="25400" dir="162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867912"/>
            <a:ext cx="7863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Ventures is the airline industry's first corporate venture fund focused on sustainability. Investments span the full decarbonization value chain from SAF production to hydrogen propulsion to carbon capture.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94360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Detailed Financial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5486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02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Pre-Tax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Pre-Tax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Operating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CASM-ex (cents/ASM)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 (cents/ASM)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Seat Miles (B)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Load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Cost / Gallon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 (incl. leases)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Net Leverage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United Airlines Holdings,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FY2024 Results &amp; 2025 Outlook</dc:subject>
  <dc:creator>United Airlines IR</dc:creator>
  <cp:lastModifiedBy>United Airlines IR</cp:lastModifiedBy>
  <cp:revision>1</cp:revision>
  <dcterms:created xsi:type="dcterms:W3CDTF">2026-03-30T20:07:24Z</dcterms:created>
  <dcterms:modified xsi:type="dcterms:W3CDTF">2026-03-30T20:07:24Z</dcterms:modified>
</cp:coreProperties>
</file>