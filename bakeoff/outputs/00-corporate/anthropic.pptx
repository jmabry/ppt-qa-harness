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02244"/>
                </a:solidFill>
                <a:latin typeface="Georgia"/>
              </a:rPr>
              <a:t>Revenue Growth Trajectory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33A0"/>
            </a:solidFill>
            <a:effectLst>
              <a:outerShdw sx="100000" sy="100000" kx="0" ky="0" algn="bl" blurRad="50800" rotWithShape="1" dist="25400" dir="5400000">
                <a:srgbClr val="000000">
                  <a:alpha val="2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44.9</c:v>
                </c:pt>
                <c:pt idx="1">
                  <c:v>53.7</c:v>
                </c:pt>
                <c:pt idx="2">
                  <c:v>57.4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2244"/>
                </a:solidFill>
                <a:latin typeface="Georgia"/>
              </a:rPr>
              <a:t>Quarterly EPS Profile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EPS</c:v>
                </c:pt>
              </c:strCache>
            </c:strRef>
          </c:tx>
          <c:spPr>
            <a:solidFill>
              <a:srgbClr val="00B2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</c:v>
                </c:pt>
                <c:pt idx="1">
                  <c:v>4.43</c:v>
                </c:pt>
                <c:pt idx="2">
                  <c:v>3.51</c:v>
                </c:pt>
                <c:pt idx="3">
                  <c:v>2.74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2244"/>
                </a:solidFill>
                <a:latin typeface="Georgia"/>
              </a:rPr>
              <a:t>Quarterly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15.2</c:v>
                </c:pt>
                <c:pt idx="2">
                  <c:v>15</c:v>
                </c:pt>
                <c:pt idx="3">
                  <c:v>14.7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outerShdw sx="100000" sy="100000" kx="0" ky="0" algn="bl" blurRad="50800" rotWithShape="1" dist="25400" dir="5400000">
                <a:srgbClr val="000000">
                  <a:alpha val="25000"/>
                </a:srgbClr>
              </a:outerShdw>
            </a:effectLst>
          </c:spPr>
          <c:dPt>
            <c:idx val="0"/>
            <c:bubble3D val="0"/>
            <c:spPr>
              <a:solidFill>
                <a:srgbClr val="002244"/>
              </a:solidFill>
              <a:effectLst>
                <a:outerShdw sx="100000" sy="100000" kx="0" ky="0" algn="bl" blurRad="50800" rotWithShape="1" dist="25400" dir="5400000">
                  <a:srgbClr val="000000">
                    <a:alpha val="25000"/>
                  </a:srgbClr>
                </a:outerShdw>
              </a:effectLst>
            </c:spPr>
          </c:dPt>
          <c:dPt>
            <c:idx val="1"/>
            <c:bubble3D val="0"/>
            <c:spPr>
              <a:solidFill>
                <a:srgbClr val="0033A0"/>
              </a:solidFill>
              <a:effectLst>
                <a:outerShdw sx="100000" sy="100000" kx="0" ky="0" algn="bl" blurRad="50800" rotWithShape="1" dist="25400" dir="5400000">
                  <a:srgbClr val="000000">
                    <a:alpha val="25000"/>
                  </a:srgbClr>
                </a:outerShdw>
              </a:effectLst>
            </c:spPr>
          </c:dPt>
          <c:dPt>
            <c:idx val="2"/>
            <c:bubble3D val="0"/>
            <c:spPr>
              <a:solidFill>
                <a:srgbClr val="00B2E2"/>
              </a:solidFill>
              <a:effectLst>
                <a:outerShdw sx="100000" sy="100000" kx="0" ky="0" algn="bl" blurRad="50800" rotWithShape="1" dist="25400" dir="5400000">
                  <a:srgbClr val="000000">
                    <a:alpha val="25000"/>
                  </a:srgbClr>
                </a:outerShdw>
              </a:effectLst>
            </c:spPr>
          </c:dPt>
          <c:dPt>
            <c:idx val="3"/>
            <c:bubble3D val="0"/>
            <c:spPr>
              <a:solidFill>
                <a:srgbClr val="D4A843"/>
              </a:solidFill>
              <a:effectLst>
                <a:outerShdw sx="100000" sy="100000" kx="0" ky="0" algn="bl" blurRad="50800" rotWithShape="1" dist="25400" dir="5400000">
                  <a:srgbClr val="000000">
                    <a:alpha val="25000"/>
                  </a:srgbClr>
                </a:outerShdw>
              </a:effectLst>
            </c:spPr>
          </c:dPt>
          <c:dPt>
            <c:idx val="4"/>
            <c:bubble3D val="0"/>
            <c:spPr>
              <a:solidFill>
                <a:srgbClr val="6B7280"/>
              </a:solidFill>
              <a:effectLst>
                <a:outerShdw sx="100000" sy="100000" kx="0" ky="0" algn="bl" blurRad="50800" rotWithShape="1" dist="25400" dir="5400000">
                  <a:srgbClr val="000000">
                    <a:alpha val="25000"/>
                  </a:srgbClr>
                </a:outerShdw>
              </a:effectLst>
            </c:spPr>
          </c:dPt>
          <c:dPt>
            <c:idx val="5"/>
            <c:bubble3D val="0"/>
            <c:spPr>
              <a:solidFill>
                <a:srgbClr val="8B5CF6"/>
              </a:solidFill>
              <a:effectLst>
                <a:outerShdw sx="100000" sy="100000" kx="0" ky="0" algn="bl" blurRad="50800" rotWithShape="1" dist="25400" dir="5400000">
                  <a:srgbClr val="000000">
                    <a:alpha val="25000"/>
                  </a:srgbClr>
                </a:outer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Domestic</c:v>
                </c:pt>
                <c:pt idx="1">
                  <c:v>Atlantic</c:v>
                </c:pt>
                <c:pt idx="2">
                  <c:v>Pacific</c:v>
                </c:pt>
                <c:pt idx="3">
                  <c:v>Latin</c:v>
                </c:pt>
                <c:pt idx="4">
                  <c:v>Cargo</c:v>
                </c:pt>
                <c:pt idx="5">
                  <c:v>MileagePlus/Other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54.3</c:v>
                </c:pt>
                <c:pt idx="1">
                  <c:v>18.8</c:v>
                </c:pt>
                <c:pt idx="2">
                  <c:v>8.9</c:v>
                </c:pt>
                <c:pt idx="3">
                  <c:v>7.5</c:v>
                </c:pt>
                <c:pt idx="4">
                  <c:v>3.1</c:v>
                </c:pt>
                <c:pt idx="5">
                  <c:v>7.3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2244"/>
                </a:solidFill>
                <a:latin typeface="Georgia"/>
              </a:rPr>
              <a:t>Revenue by Cabin Class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 Revenue ($B)</c:v>
                </c:pt>
              </c:strCache>
            </c:strRef>
          </c:tx>
          <c:spPr>
            <a:solidFill>
              <a:srgbClr val="D4A843"/>
            </a:solidFill>
            <a:effectLst>
              <a:outerShdw sx="100000" sy="100000" kx="0" ky="0" algn="bl" blurRad="50800" rotWithShape="1" dist="25400" dir="5400000">
                <a:srgbClr val="000000">
                  <a:alpha val="2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Polaris</c:v>
                  </c:pt>
                  <c:pt idx="1">
                    <c:v>Premium Plus</c:v>
                  </c:pt>
                  <c:pt idx="2">
                    <c:v>Domestic First</c:v>
                  </c:pt>
                  <c:pt idx="3">
                    <c:v>Economy Plus</c:v>
                  </c:pt>
                  <c:pt idx="4">
                    <c:v>Basic Economy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1.8</c:v>
                </c:pt>
                <c:pt idx="2">
                  <c:v>4.1</c:v>
                </c:pt>
                <c:pt idx="3">
                  <c:v>3.4</c:v>
                </c:pt>
                <c:pt idx="4">
                  <c:v>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2244"/>
                </a:solidFill>
                <a:latin typeface="Georgia"/>
              </a:rPr>
              <a:t>Order Book Progress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MAX 8</c:v>
                  </c:pt>
                  <c:pt idx="1">
                    <c:v>MAX 9</c:v>
                  </c:pt>
                  <c:pt idx="2">
                    <c:v>MAX 10</c:v>
                  </c:pt>
                  <c:pt idx="3">
                    <c:v>787-9</c:v>
                  </c:pt>
                  <c:pt idx="4">
                    <c:v>A321neo</c:v>
                  </c:pt>
                  <c:pt idx="5">
                    <c:v>A350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142</c:v>
                </c:pt>
                <c:pt idx="1">
                  <c:v>88</c:v>
                </c:pt>
                <c:pt idx="2">
                  <c:v>0</c:v>
                </c:pt>
                <c:pt idx="3">
                  <c:v>18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</c:v>
                </c:pt>
              </c:strCache>
            </c:strRef>
          </c:tx>
          <c:spPr>
            <a:solidFill>
              <a:srgbClr val="D1D5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MAX 8</c:v>
                  </c:pt>
                  <c:pt idx="1">
                    <c:v>MAX 9</c:v>
                  </c:pt>
                  <c:pt idx="2">
                    <c:v>MAX 10</c:v>
                  </c:pt>
                  <c:pt idx="3">
                    <c:v>787-9</c:v>
                  </c:pt>
                  <c:pt idx="4">
                    <c:v>A321neo</c:v>
                  </c:pt>
                  <c:pt idx="5">
                    <c:v>A350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113</c:v>
                </c:pt>
                <c:pt idx="1">
                  <c:v>87</c:v>
                </c:pt>
                <c:pt idx="2">
                  <c:v>200</c:v>
                </c:pt>
                <c:pt idx="3">
                  <c:v>82</c:v>
                </c:pt>
                <c:pt idx="4">
                  <c:v>120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002244"/>
                </a:solidFill>
                <a:latin typeface="Georgia"/>
              </a:rPr>
              <a:t>Quarterly Ops Trend (FY2024)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D:14 On-Time %</c:v>
                </c:pt>
              </c:strCache>
            </c:strRef>
          </c:tx>
          <c:spPr>
            <a:solidFill>
              <a:srgbClr val="0033A0"/>
            </a:solidFill>
            <a:ln w="25400" cap="flat">
              <a:solidFill>
                <a:srgbClr val="0033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A0"/>
              </a:solidFill>
              <a:ln w="9525" cap="flat">
                <a:solidFill>
                  <a:srgbClr val="0033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78.5</c:v>
                </c:pt>
                <c:pt idx="1">
                  <c:v>82</c:v>
                </c:pt>
                <c:pt idx="2">
                  <c:v>83.1</c:v>
                </c:pt>
                <c:pt idx="3">
                  <c:v>81.2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Completion %</c:v>
                </c:pt>
              </c:strCache>
            </c:strRef>
          </c:tx>
          <c:spPr>
            <a:solidFill>
              <a:srgbClr val="D4A843"/>
            </a:solidFill>
            <a:ln w="25400" cap="flat">
              <a:solidFill>
                <a:srgbClr val="D4A84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98.2</c:v>
                </c:pt>
                <c:pt idx="1">
                  <c:v>99.1</c:v>
                </c:pt>
                <c:pt idx="2">
                  <c:v>99</c:v>
                </c:pt>
                <c:pt idx="3">
                  <c:v>98.9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002244"/>
                </a:solidFill>
                <a:latin typeface="Georgia"/>
              </a:rPr>
              <a:t>Revenue by Region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3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Domestic</c:v>
                  </c:pt>
                  <c:pt idx="1">
                    <c:v>Atlantic</c:v>
                  </c:pt>
                  <c:pt idx="2">
                    <c:v>Pacific</c:v>
                  </c:pt>
                  <c:pt idx="3">
                    <c:v>Latin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31.2</c:v>
                </c:pt>
                <c:pt idx="1">
                  <c:v>10.8</c:v>
                </c:pt>
                <c:pt idx="2">
                  <c:v>5.1</c:v>
                </c:pt>
                <c:pt idx="3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002244"/>
                </a:solidFill>
                <a:latin typeface="Georgia"/>
              </a:rPr>
              <a:t>YoY Revenue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Domestic</c:v>
                  </c:pt>
                  <c:pt idx="1">
                    <c:v>Atlantic</c:v>
                  </c:pt>
                  <c:pt idx="2">
                    <c:v>Pacific</c:v>
                  </c:pt>
                  <c:pt idx="3">
                    <c:v>Latin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9.8</c:v>
                </c:pt>
                <c:pt idx="2">
                  <c:v>18.2</c:v>
                </c:pt>
                <c:pt idx="3">
                  <c:v>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002244"/>
                </a:solidFill>
                <a:latin typeface="Georgia"/>
              </a:rPr>
              <a:t>Deleveraging Path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Debt ($B)</c:v>
                </c:pt>
              </c:strCache>
            </c:strRef>
          </c:tx>
          <c:spPr>
            <a:solidFill>
              <a:srgbClr val="0033A0"/>
            </a:solidFill>
            <a:ln w="25400" cap="flat">
              <a:solidFill>
                <a:srgbClr val="0033A0"/>
              </a:solidFill>
              <a:prstDash val="solid"/>
              <a:round/>
            </a:ln>
            <a:effectLst>
              <a:outerShdw sx="100000" sy="100000" kx="0" ky="0" algn="bl" blurRad="50800" rotWithShape="1" dist="25400" dir="5400000">
                <a:srgbClr val="000000">
                  <a:alpha val="2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33A0"/>
              </a:solidFill>
              <a:ln w="9525" cap="flat">
                <a:solidFill>
                  <a:srgbClr val="0033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2025E</c:v>
                  </c:pt>
                  <c:pt idx="4">
                    <c:v>2026T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24.5</c:v>
                </c:pt>
                <c:pt idx="1">
                  <c:v>20.8</c:v>
                </c:pt>
                <c:pt idx="2">
                  <c:v>18.3</c:v>
                </c:pt>
                <c:pt idx="3">
                  <c:v>17</c:v>
                </c:pt>
                <c:pt idx="4">
                  <c:v>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Leverage (x)</c:v>
                </c:pt>
              </c:strCache>
            </c:strRef>
          </c:tx>
          <c:spPr>
            <a:solidFill>
              <a:srgbClr val="D4A843"/>
            </a:solidFill>
            <a:ln w="25400" cap="flat">
              <a:solidFill>
                <a:srgbClr val="D4A843"/>
              </a:solidFill>
              <a:prstDash val="solid"/>
              <a:round/>
            </a:ln>
            <a:effectLst>
              <a:outerShdw sx="100000" sy="100000" kx="0" ky="0" algn="bl" blurRad="50800" rotWithShape="1" dist="25400" dir="5400000">
                <a:srgbClr val="000000">
                  <a:alpha val="25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A843"/>
              </a:solidFill>
              <a:ln w="9525" cap="flat">
                <a:solidFill>
                  <a:srgbClr val="D4A8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  <c:pt idx="3">
                    <c:v>2025E</c:v>
                  </c:pt>
                  <c:pt idx="4">
                    <c:v>2026T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4.2</c:v>
                </c:pt>
                <c:pt idx="1">
                  <c:v>3.1</c:v>
                </c:pt>
                <c:pt idx="2">
                  <c:v>2.6</c:v>
                </c:pt>
                <c:pt idx="3">
                  <c:v>2.2</c:v>
                </c:pt>
                <c:pt idx="4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244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002244"/>
                </a:solidFill>
                <a:latin typeface="Georgia"/>
              </a:rPr>
              <a:t>Risk Impact Assessment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 (1-10)</c:v>
                </c:pt>
              </c:strCache>
            </c:strRef>
          </c:tx>
          <c:spPr>
            <a:solidFill>
              <a:srgbClr val="00B2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22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Boeing Delivery</c:v>
                  </c:pt>
                  <c:pt idx="1">
                    <c:v>Fare Pressure</c:v>
                  </c:pt>
                  <c:pt idx="2">
                    <c:v>Macro/Tariff</c:v>
                  </c:pt>
                  <c:pt idx="3">
                    <c:v>Fuel Price</c:v>
                  </c:pt>
                  <c:pt idx="4">
                    <c:v>MAX 10 Cert</c:v>
                  </c:pt>
                  <c:pt idx="5">
                    <c:v>Labor Cost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6</c:v>
                </c:pt>
                <c:pt idx="2">
                  <c:v>7</c:v>
                </c:pt>
                <c:pt idx="3">
                  <c:v>5</c:v>
                </c:pt>
                <c:pt idx="4">
                  <c:v>8</c:v>
                </c:pt>
                <c:pt idx="5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22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">
            <a:off x="-914400" y="5029200"/>
            <a:ext cx="14630400" cy="228600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4572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FY2024 Results &amp;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Outlook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  |  NASDAQ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FOR INSTITUTIONAL INVESTORS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515600" y="914400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0" y="914400"/>
            <a:ext cx="137160" cy="137160"/>
          </a:xfrm>
          <a:prstGeom prst="ellipse">
            <a:avLst/>
          </a:prstGeom>
          <a:solidFill>
            <a:srgbClr val="00B2E2"/>
          </a:solidFill>
          <a:ln/>
        </p:spPr>
      </p:sp>
      <p:sp>
        <p:nvSpPr>
          <p:cNvPr id="11" name="Shape 9"/>
          <p:cNvSpPr/>
          <p:nvPr/>
        </p:nvSpPr>
        <p:spPr>
          <a:xfrm>
            <a:off x="11247120" y="914400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12880" y="914400"/>
            <a:ext cx="137160" cy="137160"/>
          </a:xfrm>
          <a:prstGeom prst="ellipse">
            <a:avLst/>
          </a:prstGeom>
          <a:solidFill>
            <a:srgbClr val="00B2E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FY2024 Financial Highlights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115568"/>
            <a:ext cx="2286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$57.4B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+6.9% YoY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005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115568"/>
            <a:ext cx="2286000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$11.44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+12.4% YoY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115568"/>
            <a:ext cx="2286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10.1%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Margin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bps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52560" y="100584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1115568"/>
            <a:ext cx="2286000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2344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$3.6B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05256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2103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+16.1% YoY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48640" y="28346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217920" y="28346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40080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Metrics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14400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51560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bps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92240" y="38679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CASM-ex (c/ASM)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144000" y="3867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11.89¢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0515600" y="386791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92240" y="43068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TRASM (c/ASM)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144000" y="43068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18.14¢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0515600" y="430682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492240" y="4745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144000" y="47457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515600" y="47457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 bps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492240" y="51846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Cost/Gal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144000" y="51846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$2.81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0515600" y="5184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-4.4%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492240" y="5623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ASMs (B)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144000" y="5623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316.5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0515600" y="5623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Earnings Breakdown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371600"/>
                <a:gridCol w="1645920"/>
                <a:gridCol w="53035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Highlights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trough; premium mix improving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summer; transatlantic peak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economy fare pressure domestic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$14.7B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 strength; international resilient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+6.9% revenue growth  |  +12.4% EPS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48640" y="4114800"/>
          <a:ext cx="5486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309360" y="4114800"/>
          <a:ext cx="5303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Composition  |  FY2024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05840"/>
          <a:ext cx="594360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583680" y="109728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720840" y="1234440"/>
            <a:ext cx="109728" cy="438912"/>
          </a:xfrm>
          <a:prstGeom prst="rect">
            <a:avLst>
              <a:gd name="adj" fmla="val 33333"/>
            </a:avLst>
          </a:prstGeom>
          <a:solidFill>
            <a:srgbClr val="002244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0120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$31.2B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494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54.3% of total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19202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20840" y="2057400"/>
            <a:ext cx="109728" cy="438912"/>
          </a:xfrm>
          <a:prstGeom prst="rect">
            <a:avLst>
              <a:gd name="adj" fmla="val 33333"/>
            </a:avLst>
          </a:prstGeom>
          <a:solidFill>
            <a:srgbClr val="0033A0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$10.8B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9494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 of total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274320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20840" y="2880360"/>
            <a:ext cx="109728" cy="438912"/>
          </a:xfrm>
          <a:prstGeom prst="rect">
            <a:avLst>
              <a:gd name="adj" fmla="val 33333"/>
            </a:avLst>
          </a:prstGeom>
          <a:solidFill>
            <a:srgbClr val="00B2E2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0120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$5.1B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494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8.9% of total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583680" y="356616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20840" y="3703320"/>
            <a:ext cx="109728" cy="438912"/>
          </a:xfrm>
          <a:prstGeom prst="rect">
            <a:avLst>
              <a:gd name="adj" fmla="val 33333"/>
            </a:avLst>
          </a:prstGeom>
          <a:solidFill>
            <a:srgbClr val="D4A843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012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$4.3B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9494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of total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83680" y="438912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720840" y="4526280"/>
            <a:ext cx="109728" cy="438912"/>
          </a:xfrm>
          <a:prstGeom prst="rect">
            <a:avLst>
              <a:gd name="adj" fmla="val 33333"/>
            </a:avLst>
          </a:prstGeom>
          <a:solidFill>
            <a:srgbClr val="6B7280"/>
          </a:solidFill>
          <a:ln/>
        </p:spPr>
      </p:sp>
      <p:sp>
        <p:nvSpPr>
          <p:cNvPr id="30" name="Text 27"/>
          <p:cNvSpPr/>
          <p:nvPr/>
        </p:nvSpPr>
        <p:spPr>
          <a:xfrm>
            <a:off x="694944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60120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94944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of total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83680" y="521208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720840" y="5349240"/>
            <a:ext cx="109728" cy="438912"/>
          </a:xfrm>
          <a:prstGeom prst="rect">
            <a:avLst>
              <a:gd name="adj" fmla="val 33333"/>
            </a:avLst>
          </a:prstGeom>
          <a:solidFill>
            <a:srgbClr val="8B5CF6"/>
          </a:solidFill>
          <a:ln/>
        </p:spPr>
      </p:sp>
      <p:sp>
        <p:nvSpPr>
          <p:cNvPr id="35" name="Text 32"/>
          <p:cNvSpPr/>
          <p:nvPr/>
        </p:nvSpPr>
        <p:spPr>
          <a:xfrm>
            <a:off x="6949440" y="5257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MileagePlus/Other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601200" y="5257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49440" y="5577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 of total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Revenue Momentum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9728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097280"/>
            <a:ext cx="5486400" cy="5029200"/>
          </a:xfrm>
          <a:prstGeom prst="roundRect">
            <a:avLst>
              <a:gd name="adj" fmla="val 1818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vs. FY2019 &amp; FY2023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173736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766560" y="1755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(Intl Business)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14984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583680" y="251460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25328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Plus (Intl PE)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+210%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14984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583680" y="329184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3310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First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7240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44000" y="3611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14984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583680" y="406908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6766560" y="4087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Plus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76656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77240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44000" y="4389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149840" y="4389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583680" y="4846320"/>
            <a:ext cx="5029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6766560" y="4864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Economy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766560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2019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0" y="5166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144000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149840" y="5166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-3%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65760" y="5029200"/>
            <a:ext cx="5669280" cy="1097280"/>
          </a:xfrm>
          <a:prstGeom prst="roundRect">
            <a:avLst>
              <a:gd name="adj" fmla="val 8333"/>
            </a:avLst>
          </a:prstGeom>
          <a:solidFill>
            <a:srgbClr val="002244"/>
          </a:solidFill>
          <a:ln/>
        </p:spPr>
      </p:sp>
      <p:sp>
        <p:nvSpPr>
          <p:cNvPr id="41" name="Text 38"/>
          <p:cNvSpPr/>
          <p:nvPr/>
        </p:nvSpPr>
        <p:spPr>
          <a:xfrm>
            <a:off x="640080" y="51206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revenue now exceeds $15.5B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27% of total passenger revenue. Premium Plus is the fastest growing cabin at +210% vs 2019.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TRANSFORMATION &amp; GAUGE-UP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0033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Jets Retired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280 by 2027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0033A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38912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Seats/Departure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151 in 2019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0033A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554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2960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Growth vs 2019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count flat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00183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Pillars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Modernization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895 firm orders across 737 MAX, 787, A321neo, A350 families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↑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Optimization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4617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50-seat RJs with 150+ seat mainline — 15% more seats, same slots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Densification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623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Polaris, Economy Plus seats per aircraft; 70+ new lie-flat routes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843"/>
                </a:solidFill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76656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Transformation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56235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CASM-ex down 1.6% YoY; targeting -2-3% cumulative by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Order Book &amp; Delivery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645920"/>
                <a:gridCol w="1645920"/>
                <a:gridCol w="24688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 MAX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 MAX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737 MAX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Awaiting FAA Cert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787-9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A321neo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2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A350-900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B2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548640" y="3931920"/>
          <a:ext cx="6858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772400" y="39319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955280" y="4023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Retirements in Progress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95528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757-200/300: Phase-out through 2028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7955280" y="4937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767-300ER: Replacing with 787/A350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955280" y="5394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777-200: Older frames, 2024-2026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5760720"/>
            <a:ext cx="34747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1"/>
          <p:cNvSpPr/>
          <p:nvPr/>
        </p:nvSpPr>
        <p:spPr>
          <a:xfrm>
            <a:off x="7955280" y="58521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risk: FAA cap of 38 MAX/month. A321neo order provides strategic hedge.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Infrastructure Investments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2801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022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EWR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Newark Terminal 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$2.7B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7490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new gates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224028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2023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4846320" cy="164592"/>
          </a:xfrm>
          <a:prstGeom prst="roundRect">
            <a:avLst>
              <a:gd name="adj" fmla="val 44444"/>
            </a:avLst>
          </a:prstGeom>
          <a:solidFill>
            <a:srgbClr val="D1D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834640"/>
            <a:ext cx="4846320" cy="164592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54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Hubs: EWR  |  ORD  |  IAH  |  DEN  |  SFO  |  LAX  |  IAD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128016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022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2801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6809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O'Hare T2 Satellite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5097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renovation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224028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834640"/>
            <a:ext cx="4846320" cy="164592"/>
          </a:xfrm>
          <a:prstGeom prst="roundRect">
            <a:avLst>
              <a:gd name="adj" fmla="val 44444"/>
            </a:avLst>
          </a:prstGeom>
          <a:solidFill>
            <a:srgbClr val="D1D5DB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2834640"/>
            <a:ext cx="2423160" cy="164592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154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Hubs: EWR  |  ORD  |  IAH  |  DEN  |  SFO  |  LAX  |  IAD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9319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0224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931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192024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Denver Expansion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92024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$500M+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74904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expansion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20240" y="489204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00B2E2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240" y="4892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2024-2026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31520" y="5486400"/>
            <a:ext cx="4846320" cy="164592"/>
          </a:xfrm>
          <a:prstGeom prst="roundRect">
            <a:avLst>
              <a:gd name="adj" fmla="val 44444"/>
            </a:avLst>
          </a:prstGeom>
          <a:solidFill>
            <a:srgbClr val="D1D5DB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20" y="5486400"/>
            <a:ext cx="1453896" cy="164592"/>
          </a:xfrm>
          <a:prstGeom prst="roundRect">
            <a:avLst>
              <a:gd name="adj" fmla="val 44444"/>
            </a:avLst>
          </a:prstGeom>
          <a:solidFill>
            <a:srgbClr val="00B2E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Hubs: EWR  |  ORD  |  IAH  |  DEN  |  SFO  |  LAX  |  IAD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749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0" y="39319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02244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3931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IAH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76809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Houston Terminal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8096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$400M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950976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improvements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80960" y="489204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0" y="4892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92240" y="5486400"/>
            <a:ext cx="4846320" cy="164592"/>
          </a:xfrm>
          <a:prstGeom prst="roundRect">
            <a:avLst>
              <a:gd name="adj" fmla="val 44444"/>
            </a:avLst>
          </a:prstGeom>
          <a:solidFill>
            <a:srgbClr val="D1D5D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92240" y="5486400"/>
            <a:ext cx="1938528" cy="164592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Hubs: EWR  |  ORD  |  IAH  |  DEN  |  SFO  |  LAX  |  IAD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MileagePlus Loyalty Program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HIGH-MARGIN FRANCHISE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033A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08760"/>
            <a:ext cx="4937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100M+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Accounts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033A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508760"/>
            <a:ext cx="4937760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00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$5.8B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3rd-Party Cash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033A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794760"/>
            <a:ext cx="49377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86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Margin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0033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3794760"/>
            <a:ext cx="4937760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886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$22B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63093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Valuation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59436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0018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co-brand extended through late 2020s  |  8.2M Premier members (record)  |  Highest-margin segment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 Performance Dashboard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Factor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</a:rPr>
              <a:t>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16459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&gt;99%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D:14 On-Time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0" y="1143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</a:rPr>
              <a:t>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81.2%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1600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0" y="2103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966960" y="16459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9966960" y="1645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&gt;83%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Misconnection 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</a:rPr>
              <a:t>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00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06240" y="33832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&lt;2.0%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83464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Bag Delivery Rate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789920" y="2880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6A34A"/>
                </a:solidFill>
              </a:rPr>
              <a:t>↑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0080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99.5%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4008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5039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966960" y="33832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</p:sp>
      <p:sp>
        <p:nvSpPr>
          <p:cNvPr id="42" name="Text 40"/>
          <p:cNvSpPr/>
          <p:nvPr/>
        </p:nvSpPr>
        <p:spPr>
          <a:xfrm>
            <a:off x="99669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&gt;99.5%</a:t>
            </a:r>
            <a:endParaRPr lang="en-US" sz="9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457200" y="4663440"/>
          <a:ext cx="68580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4" name="Shape 41"/>
          <p:cNvSpPr/>
          <p:nvPr/>
        </p:nvSpPr>
        <p:spPr>
          <a:xfrm>
            <a:off x="7589520" y="46634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02244"/>
          </a:solidFill>
          <a:ln/>
        </p:spPr>
      </p:sp>
      <p:sp>
        <p:nvSpPr>
          <p:cNvPr id="45" name="Text 42"/>
          <p:cNvSpPr/>
          <p:nvPr/>
        </p:nvSpPr>
        <p:spPr>
          <a:xfrm>
            <a:off x="7589520" y="4754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$100M+</a:t>
            </a:r>
            <a:endParaRPr lang="en-US" sz="3000" dirty="0"/>
          </a:p>
        </p:txBody>
      </p:sp>
      <p:sp>
        <p:nvSpPr>
          <p:cNvPr id="46" name="Text 43"/>
          <p:cNvSpPr/>
          <p:nvPr/>
        </p:nvSpPr>
        <p:spPr>
          <a:xfrm>
            <a:off x="7589520" y="5349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Invested in Ops Technology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7772400" y="5669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ConnectionSaver  |  Real-time App Rebooking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Delay Notifications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 Deep Dive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188720"/>
                <a:gridCol w="1188720"/>
                <a:gridCol w="1188720"/>
                <a:gridCol w="51206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 Trend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Routes / 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$31.2B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Hub-to-hub strength; basic economy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EWR-LHR flagship; 30+ EU destinations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expansion; Japan recovery; SFO-BLR new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IAH gateway; new South America routes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365760" y="36576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6217920" y="365760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5"/>
          <p:cNvSpPr/>
          <p:nvPr/>
        </p:nvSpPr>
        <p:spPr>
          <a:xfrm>
            <a:off x="365760" y="32004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3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2024 Routes: EWR-DXB (Dubai) | EWR-DEL | SFO-BLR (India) | Malaga | Faro | Stockholm | Berlin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 Sheet &amp; Capital Allocation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115568"/>
            <a:ext cx="2331720" cy="54864"/>
          </a:xfrm>
          <a:prstGeom prst="rect">
            <a:avLst/>
          </a:prstGeom>
          <a:solidFill>
            <a:srgbClr val="00224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$25.4B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$27.1B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005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115568"/>
            <a:ext cx="2331720" cy="5486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$7.1B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Equiv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$6.3B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115568"/>
            <a:ext cx="23317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2.6x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Leverage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&lt;2.0x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98280" y="100584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35440" y="1115568"/>
            <a:ext cx="2331720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12344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BB+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098280" y="1828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Rating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Target</a:t>
            </a:r>
            <a:endParaRPr lang="en-US" sz="10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283464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6675120" y="283464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858000" y="2926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Allocation Priorities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949440" y="34747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1" name="Text 28"/>
          <p:cNvSpPr/>
          <p:nvPr/>
        </p:nvSpPr>
        <p:spPr>
          <a:xfrm>
            <a:off x="69494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498080" y="34564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Investment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498080" y="3703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$6.5-7.0B capex in 2025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949440" y="4133088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5" name="Text 32"/>
          <p:cNvSpPr/>
          <p:nvPr/>
        </p:nvSpPr>
        <p:spPr>
          <a:xfrm>
            <a:off x="694944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498080" y="41148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Reduction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498080" y="4361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~$2B annual paydown target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949440" y="4791456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9" name="Text 36"/>
          <p:cNvSpPr/>
          <p:nvPr/>
        </p:nvSpPr>
        <p:spPr>
          <a:xfrm>
            <a:off x="694944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498080" y="47731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Repurchase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7498080" y="50200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 authorized; ~$800M in 2024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949440" y="5449824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3" name="Text 40"/>
          <p:cNvSpPr/>
          <p:nvPr/>
        </p:nvSpPr>
        <p:spPr>
          <a:xfrm>
            <a:off x="694944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498080" y="54315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Infrastructure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7498080" y="56784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$4.8B+ across 4 major hubs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Guidance &amp; United Next Targets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394960" cy="502920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15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 Guidance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$11.50 - $13.50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484632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Margin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 - 12%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484632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(ASMs)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+3-5%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484632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CASM-ex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to -1%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3794760"/>
            <a:ext cx="484632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$6.5 - $7.0B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343400"/>
            <a:ext cx="484632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$3.0 - $4.0B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4892040"/>
            <a:ext cx="4846320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Repurchase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$1.5 - $2.0B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10972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02244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097280"/>
            <a:ext cx="5394960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1115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United Next Targets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68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40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$25 - $27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2148840"/>
            <a:ext cx="4846320" cy="914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Pre-Tax Margin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2331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2697480"/>
            <a:ext cx="4846320" cy="914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(ASMs)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+4-6%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83680" y="3246120"/>
            <a:ext cx="4846320" cy="914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429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CASM-ex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-2-3% cumulative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83680" y="3794760"/>
            <a:ext cx="4846320" cy="914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$5.5 - $6.0B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83680" y="4343400"/>
            <a:ext cx="4846320" cy="914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4400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$5.0B+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583680" y="4892040"/>
            <a:ext cx="4846320" cy="9144"/>
          </a:xfrm>
          <a:prstGeom prst="rect">
            <a:avLst/>
          </a:prstGeom>
          <a:solidFill>
            <a:srgbClr val="0033A0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5074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Repurchase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144000" y="5074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7200" y="585216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0F4F8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Sensitivity: Every 1% GDP contraction ~ 1.5-2% revenue impact  |  35% international revenue provides diversification hedge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MAX Delivery Pace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 production cap of 38/month post door-plug incident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A321neo order hedge; diversified orderbook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Fare 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capacity discipline uncertain; basic economy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mix shift; loyalty revenue buffer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Macroeconomic / Tariff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demand sensitivity to GDP contraction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 international diversification; premium resilience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Price Volatility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risks to crude pricing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hedging program; fleet efficiency gains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10 Certification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firm orders dependent on FAA 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A321neo backstop; flexible fleet 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Cost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pilot/FA contracts locked through 2027+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Gauge-up offsets crew cost per seat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365760" y="4572000"/>
          <a:ext cx="114300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&amp; ESG Commitments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07008"/>
            <a:ext cx="32004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1.5B gal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Purchase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0972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207008"/>
            <a:ext cx="3200400" cy="54864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2050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29768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Traditional Offsets)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0972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1207008"/>
            <a:ext cx="32004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325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13816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Eco-Skies Alliance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Partners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1247120" cy="457200"/>
          </a:xfrm>
          <a:prstGeom prst="roundRect">
            <a:avLst>
              <a:gd name="adj" fmla="val 12000"/>
            </a:avLst>
          </a:prstGeom>
          <a:solidFill>
            <a:srgbClr val="00224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Ventures  |  Corporate VC investing in SAF, hydrogen, carbon capture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☀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Energy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Production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3756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37560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☘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37560" y="4297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Cemvita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/ SAF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17920" y="4297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Capture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3749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0F4F8"/>
          </a:solidFill>
          <a:ln/>
          <a:effectLst>
            <a:outerShdw sx="100000" sy="100000" kx="0" ky="0" algn="bl" rotWithShape="0" blurRad="50800" dist="25400" dir="162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98280" y="3840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098280" y="42976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ZeroAvia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46177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Hydrogen-Electric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53949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002244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SAF Usage: &lt;1% of total fuel 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(industry supply constrained)  |  Largest airline SAF commitment globally  |  Eco-Skies Alliance enables corporate co-investment in sustainable aviation fuel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0"/>
            <a:ext cx="12161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0"/>
            <a:ext cx="850392" cy="73152"/>
          </a:xfrm>
          <a:prstGeom prst="rect">
            <a:avLst/>
          </a:prstGeom>
          <a:solidFill>
            <a:srgbClr val="00B2E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2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Consolidated Financial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Airlines Holdings  |  FY2024 Results  |  Appendix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116128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188720"/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Change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Guidance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2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$44.9B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$53.7B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~$60-61B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$63-66B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Adjusted 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$11.50-$13.50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$25-$27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Income (Adj)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Pre-Tax Margin (Adj)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10.5-12%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Margin (Adj)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CASM-ex (c/ASM)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12.42¢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12.08¢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11.89¢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to -1%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-2-3% cum.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 (c/ASM)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17.21¢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17.82¢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18.14¢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ASMs (Billions)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+3-5%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+4-6%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Cost/Gallon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$3.0-$4.0B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$5.0B+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$25.4B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~$23B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&lt;$22B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22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Leverage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&lt;2.0x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6217920"/>
            <a:ext cx="1161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United Airlines Holdings SEC filings, company guidance. FY2022 estimates where not directly reported. 2025 guidance per Q4 2024 earnings call. 2026 targets per United Next investor day.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2026-03-30T20:08:04Z</dcterms:created>
  <dcterms:modified xsi:type="dcterms:W3CDTF">2026-03-30T20:08:04Z</dcterms:modified>
</cp:coreProperties>
</file>