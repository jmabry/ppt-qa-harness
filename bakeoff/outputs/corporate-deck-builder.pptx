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D4A843"/>
          </a:solidFill>
          <a:ln/>
        </p:spPr>
      </p:sp>
      <p:sp>
        <p:nvSpPr>
          <p:cNvPr id="3" name="Shape 1"/>
          <p:cNvSpPr/>
          <p:nvPr/>
        </p:nvSpPr>
        <p:spPr>
          <a:xfrm>
            <a:off x="6217920" y="0"/>
            <a:ext cx="2926080" cy="5143500"/>
          </a:xfrm>
          <a:prstGeom prst="rect">
            <a:avLst/>
          </a:prstGeom>
          <a:solidFill>
            <a:srgbClr val="253563"/>
          </a:solidFill>
          <a:ln/>
        </p:spPr>
      </p:sp>
      <p:sp>
        <p:nvSpPr>
          <p:cNvPr id="4" name="Shape 2"/>
          <p:cNvSpPr/>
          <p:nvPr/>
        </p:nvSpPr>
        <p:spPr>
          <a:xfrm>
            <a:off x="6217920" y="0"/>
            <a:ext cx="36576" cy="5143500"/>
          </a:xfrm>
          <a:prstGeom prst="rect">
            <a:avLst/>
          </a:prstGeom>
          <a:solidFill>
            <a:srgbClr val="D4A843"/>
          </a:solidFill>
          <a:ln/>
        </p:spPr>
      </p:sp>
      <p:sp>
        <p:nvSpPr>
          <p:cNvPr id="5" name="Text 3"/>
          <p:cNvSpPr/>
          <p:nvPr/>
        </p:nvSpPr>
        <p:spPr>
          <a:xfrm>
            <a:off x="6492240" y="274320"/>
            <a:ext cx="2377440" cy="640080"/>
          </a:xfrm>
          <a:prstGeom prst="rect">
            <a:avLst/>
          </a:prstGeom>
          <a:noFill/>
          <a:ln/>
        </p:spPr>
        <p:txBody>
          <a:bodyPr wrap="square" rtlCol="0" anchor="ctr"/>
          <a:lstStyle/>
          <a:p>
            <a:pPr algn="ctr" indent="0" marL="0">
              <a:buNone/>
            </a:pPr>
            <a:r>
              <a:rPr lang="en-US" sz="4800" b="1" dirty="0">
                <a:solidFill>
                  <a:srgbClr val="D4A843"/>
                </a:solidFill>
                <a:latin typeface="Calibri" pitchFamily="34" charset="0"/>
                <a:ea typeface="Calibri" pitchFamily="34" charset="-122"/>
                <a:cs typeface="Calibri" pitchFamily="34" charset="-120"/>
              </a:rPr>
              <a:t>UAL</a:t>
            </a:r>
            <a:endParaRPr lang="en-US" sz="4800" dirty="0"/>
          </a:p>
        </p:txBody>
      </p:sp>
      <p:sp>
        <p:nvSpPr>
          <p:cNvPr id="6" name="Text 4"/>
          <p:cNvSpPr/>
          <p:nvPr/>
        </p:nvSpPr>
        <p:spPr>
          <a:xfrm>
            <a:off x="6492240" y="822960"/>
            <a:ext cx="2377440" cy="256032"/>
          </a:xfrm>
          <a:prstGeom prst="rect">
            <a:avLst/>
          </a:prstGeom>
          <a:noFill/>
          <a:ln/>
        </p:spPr>
        <p:txBody>
          <a:bodyPr wrap="square" rtlCol="0" anchor="ctr"/>
          <a:lstStyle/>
          <a:p>
            <a:pPr algn="ctr" indent="0" marL="0">
              <a:buNone/>
            </a:pPr>
            <a:r>
              <a:rPr lang="en-US" sz="1100" dirty="0">
                <a:solidFill>
                  <a:srgbClr val="D6E4F7"/>
                </a:solidFill>
                <a:latin typeface="Calibri" pitchFamily="34" charset="0"/>
                <a:ea typeface="Calibri" pitchFamily="34" charset="-122"/>
                <a:cs typeface="Calibri" pitchFamily="34" charset="-120"/>
              </a:rPr>
              <a:t>NASDAQ: UAL</a:t>
            </a:r>
            <a:endParaRPr lang="en-US" sz="1100" dirty="0"/>
          </a:p>
        </p:txBody>
      </p:sp>
      <p:sp>
        <p:nvSpPr>
          <p:cNvPr id="7" name="Text 5"/>
          <p:cNvSpPr/>
          <p:nvPr/>
        </p:nvSpPr>
        <p:spPr>
          <a:xfrm>
            <a:off x="457200" y="1005840"/>
            <a:ext cx="5577840" cy="64008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United Airlines Holdings</a:t>
            </a:r>
            <a:endParaRPr lang="en-US" sz="3200" dirty="0"/>
          </a:p>
        </p:txBody>
      </p:sp>
      <p:sp>
        <p:nvSpPr>
          <p:cNvPr id="8" name="Text 6"/>
          <p:cNvSpPr/>
          <p:nvPr/>
        </p:nvSpPr>
        <p:spPr>
          <a:xfrm>
            <a:off x="457200" y="1627632"/>
            <a:ext cx="5577840" cy="411480"/>
          </a:xfrm>
          <a:prstGeom prst="rect">
            <a:avLst/>
          </a:prstGeom>
          <a:noFill/>
          <a:ln/>
        </p:spPr>
        <p:txBody>
          <a:bodyPr wrap="square" rtlCol="0" anchor="ctr"/>
          <a:lstStyle/>
          <a:p>
            <a:pPr algn="l" indent="0" marL="0">
              <a:buNone/>
            </a:pPr>
            <a:r>
              <a:rPr lang="en-US" sz="2000" dirty="0">
                <a:solidFill>
                  <a:srgbClr val="D4A843"/>
                </a:solidFill>
                <a:latin typeface="Calibri" pitchFamily="34" charset="0"/>
                <a:ea typeface="Calibri" pitchFamily="34" charset="-122"/>
                <a:cs typeface="Calibri" pitchFamily="34" charset="-120"/>
              </a:rPr>
              <a:t>FY2025 Results &amp; 2026 Outlook</a:t>
            </a:r>
            <a:endParaRPr lang="en-US" sz="2000" dirty="0"/>
          </a:p>
        </p:txBody>
      </p:sp>
      <p:sp>
        <p:nvSpPr>
          <p:cNvPr id="9" name="Text 7"/>
          <p:cNvSpPr/>
          <p:nvPr/>
        </p:nvSpPr>
        <p:spPr>
          <a:xfrm>
            <a:off x="457200" y="2121408"/>
            <a:ext cx="5577840" cy="274320"/>
          </a:xfrm>
          <a:prstGeom prst="rect">
            <a:avLst/>
          </a:prstGeom>
          <a:noFill/>
          <a:ln/>
        </p:spPr>
        <p:txBody>
          <a:bodyPr wrap="square" rtlCol="0" anchor="ctr"/>
          <a:lstStyle/>
          <a:p>
            <a:pPr algn="l" indent="0" marL="0">
              <a:buNone/>
            </a:pPr>
            <a:r>
              <a:rPr lang="en-US" sz="1300" dirty="0">
                <a:solidFill>
                  <a:srgbClr val="D6E4F7"/>
                </a:solidFill>
                <a:latin typeface="Calibri" pitchFamily="34" charset="0"/>
                <a:ea typeface="Calibri" pitchFamily="34" charset="-122"/>
                <a:cs typeface="Calibri" pitchFamily="34" charset="-120"/>
              </a:rPr>
              <a:t>Institutional Investor Presentation</a:t>
            </a:r>
            <a:endParaRPr lang="en-US" sz="1300" dirty="0"/>
          </a:p>
        </p:txBody>
      </p:sp>
      <p:sp>
        <p:nvSpPr>
          <p:cNvPr id="10" name="Text 8"/>
          <p:cNvSpPr/>
          <p:nvPr/>
        </p:nvSpPr>
        <p:spPr>
          <a:xfrm>
            <a:off x="457200" y="2487168"/>
            <a:ext cx="5577840" cy="256032"/>
          </a:xfrm>
          <a:prstGeom prst="rect">
            <a:avLst/>
          </a:prstGeom>
          <a:noFill/>
          <a:ln/>
        </p:spPr>
        <p:txBody>
          <a:bodyPr wrap="square" rtlCol="0" anchor="ctr"/>
          <a:lstStyle/>
          <a:p>
            <a:pPr algn="l" indent="0" marL="0">
              <a:buNone/>
            </a:pPr>
            <a:r>
              <a:rPr lang="en-US" sz="1200" dirty="0">
                <a:solidFill>
                  <a:srgbClr val="8A96AE"/>
                </a:solidFill>
                <a:latin typeface="Calibri" pitchFamily="34" charset="0"/>
                <a:ea typeface="Calibri" pitchFamily="34" charset="-122"/>
                <a:cs typeface="Calibri" pitchFamily="34" charset="-120"/>
              </a:rPr>
              <a:t>January 2026</a:t>
            </a:r>
            <a:endParaRPr lang="en-US" sz="1200" dirty="0"/>
          </a:p>
        </p:txBody>
      </p:sp>
      <p:sp>
        <p:nvSpPr>
          <p:cNvPr id="11" name="Shape 9"/>
          <p:cNvSpPr/>
          <p:nvPr/>
        </p:nvSpPr>
        <p:spPr>
          <a:xfrm>
            <a:off x="0" y="4892040"/>
            <a:ext cx="9144000" cy="251460"/>
          </a:xfrm>
          <a:prstGeom prst="rect">
            <a:avLst/>
          </a:prstGeom>
          <a:solidFill>
            <a:srgbClr val="000000">
              <a:alpha val="60000"/>
            </a:srgbClr>
          </a:solidFill>
          <a:ln/>
        </p:spPr>
      </p:sp>
      <p:sp>
        <p:nvSpPr>
          <p:cNvPr id="12" name="Text 10"/>
          <p:cNvSpPr/>
          <p:nvPr/>
        </p:nvSpPr>
        <p:spPr>
          <a:xfrm>
            <a:off x="457200" y="4919472"/>
            <a:ext cx="8229600" cy="182880"/>
          </a:xfrm>
          <a:prstGeom prst="rect">
            <a:avLst/>
          </a:prstGeom>
          <a:noFill/>
          <a:ln/>
        </p:spPr>
        <p:txBody>
          <a:bodyPr wrap="square" rtlCol="0" anchor="ctr"/>
          <a:lstStyle/>
          <a:p>
            <a:pPr algn="l" indent="0" marL="0">
              <a:buNone/>
            </a:pPr>
            <a:r>
              <a:rPr lang="en-US" sz="800" dirty="0">
                <a:solidFill>
                  <a:srgbClr val="D6E4F7"/>
                </a:solidFill>
                <a:latin typeface="Calibri" pitchFamily="34" charset="0"/>
                <a:ea typeface="Calibri" pitchFamily="34" charset="-122"/>
                <a:cs typeface="Calibri" pitchFamily="34" charset="-120"/>
              </a:rPr>
              <a:t>Star Alliance Member  |  World's Largest Airline by ASMs  |  Chicago, IL</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457200" y="109728"/>
            <a:ext cx="8229600" cy="45720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Investment Thesis</a:t>
            </a:r>
            <a:endParaRPr lang="en-US" sz="1800" dirty="0"/>
          </a:p>
        </p:txBody>
      </p:sp>
      <p:sp>
        <p:nvSpPr>
          <p:cNvPr id="4" name="Shape 2"/>
          <p:cNvSpPr/>
          <p:nvPr/>
        </p:nvSpPr>
        <p:spPr>
          <a:xfrm>
            <a:off x="0" y="4892040"/>
            <a:ext cx="9144000" cy="251460"/>
          </a:xfrm>
          <a:prstGeom prst="rect">
            <a:avLst/>
          </a:prstGeom>
          <a:solidFill>
            <a:srgbClr val="253563">
              <a:alpha val="40000"/>
            </a:srgbClr>
          </a:solidFill>
          <a:ln/>
        </p:spPr>
      </p:sp>
      <p:sp>
        <p:nvSpPr>
          <p:cNvPr id="5" name="Text 3"/>
          <p:cNvSpPr/>
          <p:nvPr/>
        </p:nvSpPr>
        <p:spPr>
          <a:xfrm>
            <a:off x="457200" y="4910328"/>
            <a:ext cx="8229600" cy="182880"/>
          </a:xfrm>
          <a:prstGeom prst="rect">
            <a:avLst/>
          </a:prstGeom>
          <a:noFill/>
          <a:ln/>
        </p:spPr>
        <p:txBody>
          <a:bodyPr wrap="square" rtlCol="0" anchor="ctr"/>
          <a:lstStyle/>
          <a:p>
            <a:pPr algn="l" indent="0" marL="0">
              <a:buNone/>
            </a:pPr>
            <a:r>
              <a:rPr lang="en-US" sz="700" dirty="0">
                <a:solidFill>
                  <a:srgbClr val="D6E4F7"/>
                </a:solidFill>
                <a:latin typeface="Calibri" pitchFamily="34" charset="0"/>
                <a:ea typeface="Calibri" pitchFamily="34" charset="-122"/>
                <a:cs typeface="Calibri" pitchFamily="34" charset="-120"/>
              </a:rPr>
              <a:t>United Airlines Holdings  |  NASDAQ: UAL  |  FY2025 Investor Presentation</a:t>
            </a:r>
            <a:endParaRPr lang="en-US" sz="700" dirty="0"/>
          </a:p>
        </p:txBody>
      </p:sp>
      <p:sp>
        <p:nvSpPr>
          <p:cNvPr id="6" name="Shape 4"/>
          <p:cNvSpPr/>
          <p:nvPr/>
        </p:nvSpPr>
        <p:spPr>
          <a:xfrm>
            <a:off x="457200" y="676656"/>
            <a:ext cx="2377440" cy="1005840"/>
          </a:xfrm>
          <a:prstGeom prst="rect">
            <a:avLst/>
          </a:prstGeom>
          <a:solidFill>
            <a:srgbClr val="253563"/>
          </a:solidFill>
          <a:ln w="12700">
            <a:solidFill>
              <a:srgbClr val="D4A843"/>
            </a:solidFill>
            <a:prstDash val="solid"/>
          </a:ln>
        </p:spPr>
      </p:sp>
      <p:sp>
        <p:nvSpPr>
          <p:cNvPr id="7" name="Text 5"/>
          <p:cNvSpPr/>
          <p:nvPr/>
        </p:nvSpPr>
        <p:spPr>
          <a:xfrm>
            <a:off x="457200" y="777240"/>
            <a:ext cx="2377440" cy="502920"/>
          </a:xfrm>
          <a:prstGeom prst="rect">
            <a:avLst/>
          </a:prstGeom>
          <a:noFill/>
          <a:ln/>
        </p:spPr>
        <p:txBody>
          <a:bodyPr wrap="square" rtlCol="0" anchor="ctr"/>
          <a:lstStyle/>
          <a:p>
            <a:pPr algn="ctr" indent="0" marL="0">
              <a:buNone/>
            </a:pPr>
            <a:r>
              <a:rPr lang="en-US" sz="2600" b="1" dirty="0">
                <a:solidFill>
                  <a:srgbClr val="D4A843"/>
                </a:solidFill>
                <a:latin typeface="Calibri" pitchFamily="34" charset="0"/>
                <a:ea typeface="Calibri" pitchFamily="34" charset="-122"/>
                <a:cs typeface="Calibri" pitchFamily="34" charset="-120"/>
              </a:rPr>
              <a:t>$59.1B</a:t>
            </a:r>
            <a:endParaRPr lang="en-US" sz="2600" dirty="0"/>
          </a:p>
        </p:txBody>
      </p:sp>
      <p:sp>
        <p:nvSpPr>
          <p:cNvPr id="8" name="Text 6"/>
          <p:cNvSpPr/>
          <p:nvPr/>
        </p:nvSpPr>
        <p:spPr>
          <a:xfrm>
            <a:off x="457200" y="1280160"/>
            <a:ext cx="2377440" cy="352044"/>
          </a:xfrm>
          <a:prstGeom prst="rect">
            <a:avLst/>
          </a:prstGeom>
          <a:noFill/>
          <a:ln/>
        </p:spPr>
        <p:txBody>
          <a:bodyPr wrap="square" rtlCol="0" anchor="t"/>
          <a:lstStyle/>
          <a:p>
            <a:pPr algn="ctr" indent="0" marL="0">
              <a:lnSpc>
                <a:spcPct val="110000"/>
              </a:lnSpc>
              <a:buNone/>
            </a:pPr>
            <a:r>
              <a:rPr lang="en-US" sz="1100" dirty="0">
                <a:solidFill>
                  <a:srgbClr val="D6E4F7"/>
                </a:solidFill>
                <a:latin typeface="Calibri" pitchFamily="34" charset="0"/>
                <a:ea typeface="Calibri" pitchFamily="34" charset="-122"/>
                <a:cs typeface="Calibri" pitchFamily="34" charset="-120"/>
              </a:rPr>
              <a:t>FY2025 Revenue</a:t>
            </a:r>
            <a:endParaRPr lang="en-US" sz="1100" dirty="0"/>
          </a:p>
        </p:txBody>
      </p:sp>
      <p:sp>
        <p:nvSpPr>
          <p:cNvPr id="9" name="Shape 7"/>
          <p:cNvSpPr/>
          <p:nvPr/>
        </p:nvSpPr>
        <p:spPr>
          <a:xfrm>
            <a:off x="3063240" y="676656"/>
            <a:ext cx="2377440" cy="1005840"/>
          </a:xfrm>
          <a:prstGeom prst="rect">
            <a:avLst/>
          </a:prstGeom>
          <a:solidFill>
            <a:srgbClr val="253563"/>
          </a:solidFill>
          <a:ln w="12700">
            <a:solidFill>
              <a:srgbClr val="D4A843"/>
            </a:solidFill>
            <a:prstDash val="solid"/>
          </a:ln>
        </p:spPr>
      </p:sp>
      <p:sp>
        <p:nvSpPr>
          <p:cNvPr id="10" name="Text 8"/>
          <p:cNvSpPr/>
          <p:nvPr/>
        </p:nvSpPr>
        <p:spPr>
          <a:xfrm>
            <a:off x="3063240" y="777240"/>
            <a:ext cx="2377440" cy="502920"/>
          </a:xfrm>
          <a:prstGeom prst="rect">
            <a:avLst/>
          </a:prstGeom>
          <a:noFill/>
          <a:ln/>
        </p:spPr>
        <p:txBody>
          <a:bodyPr wrap="square" rtlCol="0" anchor="ctr"/>
          <a:lstStyle/>
          <a:p>
            <a:pPr algn="ctr" indent="0" marL="0">
              <a:buNone/>
            </a:pPr>
            <a:r>
              <a:rPr lang="en-US" sz="2600" b="1" dirty="0">
                <a:solidFill>
                  <a:srgbClr val="D4A843"/>
                </a:solidFill>
                <a:latin typeface="Calibri" pitchFamily="34" charset="0"/>
                <a:ea typeface="Calibri" pitchFamily="34" charset="-122"/>
                <a:cs typeface="Calibri" pitchFamily="34" charset="-120"/>
              </a:rPr>
              <a:t>$3.4B</a:t>
            </a:r>
            <a:endParaRPr lang="en-US" sz="2600" dirty="0"/>
          </a:p>
        </p:txBody>
      </p:sp>
      <p:sp>
        <p:nvSpPr>
          <p:cNvPr id="11" name="Text 9"/>
          <p:cNvSpPr/>
          <p:nvPr/>
        </p:nvSpPr>
        <p:spPr>
          <a:xfrm>
            <a:off x="3063240" y="1280160"/>
            <a:ext cx="2377440" cy="352044"/>
          </a:xfrm>
          <a:prstGeom prst="rect">
            <a:avLst/>
          </a:prstGeom>
          <a:noFill/>
          <a:ln/>
        </p:spPr>
        <p:txBody>
          <a:bodyPr wrap="square" rtlCol="0" anchor="t"/>
          <a:lstStyle/>
          <a:p>
            <a:pPr algn="ctr" indent="0" marL="0">
              <a:lnSpc>
                <a:spcPct val="110000"/>
              </a:lnSpc>
              <a:buNone/>
            </a:pPr>
            <a:r>
              <a:rPr lang="en-US" sz="1100" dirty="0">
                <a:solidFill>
                  <a:srgbClr val="D6E4F7"/>
                </a:solidFill>
                <a:latin typeface="Calibri" pitchFamily="34" charset="0"/>
                <a:ea typeface="Calibri" pitchFamily="34" charset="-122"/>
                <a:cs typeface="Calibri" pitchFamily="34" charset="-120"/>
              </a:rPr>
              <a:t>FY2025 Net Income</a:t>
            </a:r>
            <a:endParaRPr lang="en-US" sz="1100" dirty="0"/>
          </a:p>
        </p:txBody>
      </p:sp>
      <p:sp>
        <p:nvSpPr>
          <p:cNvPr id="12" name="Shape 10"/>
          <p:cNvSpPr/>
          <p:nvPr/>
        </p:nvSpPr>
        <p:spPr>
          <a:xfrm>
            <a:off x="5669280" y="676656"/>
            <a:ext cx="2377440" cy="1005840"/>
          </a:xfrm>
          <a:prstGeom prst="rect">
            <a:avLst/>
          </a:prstGeom>
          <a:solidFill>
            <a:srgbClr val="253563"/>
          </a:solidFill>
          <a:ln w="12700">
            <a:solidFill>
              <a:srgbClr val="D4A843"/>
            </a:solidFill>
            <a:prstDash val="solid"/>
          </a:ln>
        </p:spPr>
      </p:sp>
      <p:sp>
        <p:nvSpPr>
          <p:cNvPr id="13" name="Text 11"/>
          <p:cNvSpPr/>
          <p:nvPr/>
        </p:nvSpPr>
        <p:spPr>
          <a:xfrm>
            <a:off x="5669280" y="777240"/>
            <a:ext cx="2377440" cy="502920"/>
          </a:xfrm>
          <a:prstGeom prst="rect">
            <a:avLst/>
          </a:prstGeom>
          <a:noFill/>
          <a:ln/>
        </p:spPr>
        <p:txBody>
          <a:bodyPr wrap="square" rtlCol="0" anchor="ctr"/>
          <a:lstStyle/>
          <a:p>
            <a:pPr algn="ctr" indent="0" marL="0">
              <a:buNone/>
            </a:pPr>
            <a:r>
              <a:rPr lang="en-US" sz="2600" b="1" dirty="0">
                <a:solidFill>
                  <a:srgbClr val="D4A843"/>
                </a:solidFill>
                <a:latin typeface="Calibri" pitchFamily="34" charset="0"/>
                <a:ea typeface="Calibri" pitchFamily="34" charset="-122"/>
                <a:cs typeface="Calibri" pitchFamily="34" charset="-120"/>
              </a:rPr>
              <a:t>$10.62</a:t>
            </a:r>
            <a:endParaRPr lang="en-US" sz="2600" dirty="0"/>
          </a:p>
        </p:txBody>
      </p:sp>
      <p:sp>
        <p:nvSpPr>
          <p:cNvPr id="14" name="Text 12"/>
          <p:cNvSpPr/>
          <p:nvPr/>
        </p:nvSpPr>
        <p:spPr>
          <a:xfrm>
            <a:off x="5669280" y="1280160"/>
            <a:ext cx="2377440" cy="352044"/>
          </a:xfrm>
          <a:prstGeom prst="rect">
            <a:avLst/>
          </a:prstGeom>
          <a:noFill/>
          <a:ln/>
        </p:spPr>
        <p:txBody>
          <a:bodyPr wrap="square" rtlCol="0" anchor="t"/>
          <a:lstStyle/>
          <a:p>
            <a:pPr algn="ctr" indent="0" marL="0">
              <a:lnSpc>
                <a:spcPct val="110000"/>
              </a:lnSpc>
              <a:buNone/>
            </a:pPr>
            <a:r>
              <a:rPr lang="en-US" sz="1100" dirty="0">
                <a:solidFill>
                  <a:srgbClr val="D6E4F7"/>
                </a:solidFill>
                <a:latin typeface="Calibri" pitchFamily="34" charset="0"/>
                <a:ea typeface="Calibri" pitchFamily="34" charset="-122"/>
                <a:cs typeface="Calibri" pitchFamily="34" charset="-120"/>
              </a:rPr>
              <a:t>FY2025 Adj. EPS</a:t>
            </a:r>
            <a:endParaRPr lang="en-US" sz="1100" dirty="0"/>
          </a:p>
        </p:txBody>
      </p:sp>
      <p:sp>
        <p:nvSpPr>
          <p:cNvPr id="15" name="Text 13"/>
          <p:cNvSpPr/>
          <p:nvPr/>
        </p:nvSpPr>
        <p:spPr>
          <a:xfrm>
            <a:off x="457200" y="1865376"/>
            <a:ext cx="8229600" cy="182880"/>
          </a:xfrm>
          <a:prstGeom prst="rect">
            <a:avLst/>
          </a:prstGeom>
          <a:noFill/>
          <a:ln/>
        </p:spPr>
        <p:txBody>
          <a:bodyPr wrap="square" rtlCol="0" anchor="ctr"/>
          <a:lstStyle/>
          <a:p>
            <a:pPr algn="l" indent="0" marL="0">
              <a:buNone/>
            </a:pPr>
            <a:r>
              <a:rPr lang="en-US" sz="900" b="1" dirty="0">
                <a:solidFill>
                  <a:srgbClr val="D4A843"/>
                </a:solidFill>
                <a:latin typeface="Calibri" pitchFamily="34" charset="0"/>
                <a:ea typeface="Calibri" pitchFamily="34" charset="-122"/>
                <a:cs typeface="Calibri" pitchFamily="34" charset="-120"/>
              </a:rPr>
              <a:t>STRATEGIC INVESTMENT CASE</a:t>
            </a:r>
            <a:endParaRPr lang="en-US" sz="900" dirty="0"/>
          </a:p>
        </p:txBody>
      </p:sp>
      <p:sp>
        <p:nvSpPr>
          <p:cNvPr id="16" name="Text 14"/>
          <p:cNvSpPr/>
          <p:nvPr/>
        </p:nvSpPr>
        <p:spPr>
          <a:xfrm>
            <a:off x="457200" y="2084832"/>
            <a:ext cx="8229600" cy="1097280"/>
          </a:xfrm>
          <a:prstGeom prst="rect">
            <a:avLst/>
          </a:prstGeom>
          <a:noFill/>
          <a:ln/>
        </p:spPr>
        <p:txBody>
          <a:bodyPr wrap="square" rtlCol="0" anchor="ctr"/>
          <a:lstStyle/>
          <a:p>
            <a:pPr algn="l" indent="0" marL="0">
              <a:lnSpc>
                <a:spcPct val="140000"/>
              </a:lnSpc>
              <a:buNone/>
            </a:pPr>
            <a:r>
              <a:rPr lang="en-US" sz="1200" dirty="0">
                <a:solidFill>
                  <a:srgbClr val="D6E4F7"/>
                </a:solidFill>
                <a:latin typeface="Calibri" pitchFamily="34" charset="0"/>
                <a:ea typeface="Calibri" pitchFamily="34" charset="-122"/>
                <a:cs typeface="Calibri" pitchFamily="34" charset="-120"/>
              </a:rPr>
              <a:t>Labor headwinds now largely behind. Fleet efficiency is compounding as Boeing MAX and Airbus A321neo deliveries continue. 2026 marks the first year United is expected to materially exceed the 2019 peak EPS of $12.05 — driven by structural margin expansion, premium revenue growth, and disciplined capacity deployment.</a:t>
            </a:r>
            <a:endParaRPr lang="en-US" sz="1200" dirty="0"/>
          </a:p>
        </p:txBody>
      </p:sp>
      <p:sp>
        <p:nvSpPr>
          <p:cNvPr id="17" name="Shape 15"/>
          <p:cNvSpPr/>
          <p:nvPr/>
        </p:nvSpPr>
        <p:spPr>
          <a:xfrm>
            <a:off x="347472" y="2084832"/>
            <a:ext cx="45720" cy="1097280"/>
          </a:xfrm>
          <a:prstGeom prst="rect">
            <a:avLst/>
          </a:prstGeom>
          <a:solidFill>
            <a:srgbClr val="D4A843"/>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457200" y="91440"/>
            <a:ext cx="8229600" cy="457200"/>
          </a:xfrm>
          <a:prstGeom prst="rect">
            <a:avLst/>
          </a:prstGeom>
          <a:noFill/>
          <a:ln/>
        </p:spPr>
        <p:txBody>
          <a:bodyPr wrap="square"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Multi-Year Financial Summary  |  FY2021–FY2026E</a:t>
            </a:r>
            <a:endParaRPr lang="en-US" sz="1500" dirty="0"/>
          </a:p>
        </p:txBody>
      </p:sp>
      <p:sp>
        <p:nvSpPr>
          <p:cNvPr id="4" name="Shape 2"/>
          <p:cNvSpPr/>
          <p:nvPr/>
        </p:nvSpPr>
        <p:spPr>
          <a:xfrm>
            <a:off x="0" y="4892040"/>
            <a:ext cx="9144000" cy="251460"/>
          </a:xfrm>
          <a:prstGeom prst="rect">
            <a:avLst/>
          </a:prstGeom>
          <a:solidFill>
            <a:srgbClr val="CBD5E0">
              <a:alpha val="60000"/>
            </a:srgbClr>
          </a:solidFill>
          <a:ln/>
        </p:spPr>
      </p:sp>
      <p:sp>
        <p:nvSpPr>
          <p:cNvPr id="5" name="Text 3"/>
          <p:cNvSpPr/>
          <p:nvPr/>
        </p:nvSpPr>
        <p:spPr>
          <a:xfrm>
            <a:off x="457200" y="4910328"/>
            <a:ext cx="8229600" cy="182880"/>
          </a:xfrm>
          <a:prstGeom prst="rect">
            <a:avLst/>
          </a:prstGeom>
          <a:noFill/>
          <a:ln/>
        </p:spPr>
        <p:txBody>
          <a:bodyPr wrap="square" rtlCol="0" anchor="ctr"/>
          <a:lstStyle/>
          <a:p>
            <a:pPr algn="l" indent="0" marL="0">
              <a:buNone/>
            </a:pPr>
            <a:r>
              <a:rPr lang="en-US" sz="700" dirty="0">
                <a:solidFill>
                  <a:srgbClr val="4A5568"/>
                </a:solidFill>
                <a:latin typeface="Calibri" pitchFamily="34" charset="0"/>
                <a:ea typeface="Calibri" pitchFamily="34" charset="-122"/>
                <a:cs typeface="Calibri" pitchFamily="34" charset="-120"/>
              </a:rPr>
              <a:t>United Airlines Holdings  |  NASDAQ: UAL  |  FY2025 Investor Presentation</a:t>
            </a:r>
            <a:endParaRPr lang="en-US" sz="7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749808"/>
          <a:ext cx="8229600" cy="914400"/>
        </p:xfrm>
        <a:graphic>
          <a:graphicData uri="http://schemas.openxmlformats.org/drawingml/2006/table">
            <a:tbl>
              <a:tblPr/>
              <a:tblGrid>
                <a:gridCol w="777240"/>
                <a:gridCol w="1051560"/>
                <a:gridCol w="914400"/>
                <a:gridCol w="1005840"/>
                <a:gridCol w="822960"/>
                <a:gridCol w="1097280"/>
                <a:gridCol w="914400"/>
                <a:gridCol w="731520"/>
              </a:tblGrid>
              <a:tr h="283464">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Year</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Revenue ($B)</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Op Inc ($B)</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Net Inc ($B)</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Adj EPS</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Adj EBITDA ($B)</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ASMs (B)</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Fleet</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r>
              <a:tr h="283464">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FY2021</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24.6</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(1.9)</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neg</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178.7</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~1,250</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r>
              <a:tr h="283464">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FY2022</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45.0</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2.3</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0.7</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$10.61</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247.9</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~1,300</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r h="283464">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FY2023</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53.7</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4.2</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2.6</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$10.05</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7.9</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291.3</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1,358</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r>
              <a:tr h="283464">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FY2024</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57.1</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5.1</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3.1</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$10.61</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8.2</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311.2</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1,406</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r h="283464">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FY2025</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59.1</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4.7</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3.4</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$10.62</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8.1</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330.3</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1,490</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r>
              <a:tr h="283464">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FY2026E</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~62</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$12–14</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~349</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~1,610E</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457200" y="91440"/>
            <a:ext cx="8229600" cy="457200"/>
          </a:xfrm>
          <a:prstGeom prst="rect">
            <a:avLst/>
          </a:prstGeom>
          <a:noFill/>
          <a:ln/>
        </p:spPr>
        <p:txBody>
          <a:bodyPr wrap="square"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FY2025 Quarterly Profit &amp; Loss</a:t>
            </a:r>
            <a:endParaRPr lang="en-US" sz="1500" dirty="0"/>
          </a:p>
        </p:txBody>
      </p:sp>
      <p:sp>
        <p:nvSpPr>
          <p:cNvPr id="4" name="Shape 2"/>
          <p:cNvSpPr/>
          <p:nvPr/>
        </p:nvSpPr>
        <p:spPr>
          <a:xfrm>
            <a:off x="0" y="4892040"/>
            <a:ext cx="9144000" cy="251460"/>
          </a:xfrm>
          <a:prstGeom prst="rect">
            <a:avLst/>
          </a:prstGeom>
          <a:solidFill>
            <a:srgbClr val="CBD5E0">
              <a:alpha val="60000"/>
            </a:srgbClr>
          </a:solidFill>
          <a:ln/>
        </p:spPr>
      </p:sp>
      <p:sp>
        <p:nvSpPr>
          <p:cNvPr id="5" name="Text 3"/>
          <p:cNvSpPr/>
          <p:nvPr/>
        </p:nvSpPr>
        <p:spPr>
          <a:xfrm>
            <a:off x="457200" y="4910328"/>
            <a:ext cx="8229600" cy="182880"/>
          </a:xfrm>
          <a:prstGeom prst="rect">
            <a:avLst/>
          </a:prstGeom>
          <a:noFill/>
          <a:ln/>
        </p:spPr>
        <p:txBody>
          <a:bodyPr wrap="square" rtlCol="0" anchor="ctr"/>
          <a:lstStyle/>
          <a:p>
            <a:pPr algn="l" indent="0" marL="0">
              <a:buNone/>
            </a:pPr>
            <a:r>
              <a:rPr lang="en-US" sz="700" dirty="0">
                <a:solidFill>
                  <a:srgbClr val="4A5568"/>
                </a:solidFill>
                <a:latin typeface="Calibri" pitchFamily="34" charset="0"/>
                <a:ea typeface="Calibri" pitchFamily="34" charset="-122"/>
                <a:cs typeface="Calibri" pitchFamily="34" charset="-120"/>
              </a:rPr>
              <a:t>United Airlines Holdings  |  NASDAQ: UAL  |  FY2025 Investor Presentation</a:t>
            </a:r>
            <a:endParaRPr lang="en-US" sz="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749808"/>
          <a:ext cx="8229600" cy="914400"/>
        </p:xfrm>
        <a:graphic>
          <a:graphicData uri="http://schemas.openxmlformats.org/drawingml/2006/table">
            <a:tbl>
              <a:tblPr/>
              <a:tblGrid>
                <a:gridCol w="1554480"/>
                <a:gridCol w="1188720"/>
                <a:gridCol w="1188720"/>
                <a:gridCol w="1188720"/>
                <a:gridCol w="1188720"/>
                <a:gridCol w="1005840"/>
              </a:tblGrid>
              <a:tr h="292608">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Metric</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Q1 2025</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Q2 2025</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Q3 2025</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Q4 2025</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FY2025</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r>
              <a:tr h="292608">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Revenue ($B)</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12.5</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14.2</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15.0</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17.4</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59.1</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r>
              <a:tr h="292608">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Op Income ($B)</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0.3</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1.5</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1.7</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1.2</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4.7</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r h="292608">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Net Income ($B)</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0.0</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1.2</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1.2</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3.4</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r>
              <a:tr h="292608">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Adj EPS</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$0.91</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$3.51</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$3.98</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$2.22</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$10.62</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bl>
          </a:graphicData>
        </a:graphic>
      </p:graphicFrame>
      <p:sp>
        <p:nvSpPr>
          <p:cNvPr id="7" name="Shape 4"/>
          <p:cNvSpPr/>
          <p:nvPr/>
        </p:nvSpPr>
        <p:spPr>
          <a:xfrm>
            <a:off x="457200" y="2304288"/>
            <a:ext cx="2682240" cy="640080"/>
          </a:xfrm>
          <a:prstGeom prst="rect">
            <a:avLst/>
          </a:prstGeom>
          <a:solidFill>
            <a:srgbClr val="2D7D46"/>
          </a:solidFill>
          <a:ln w="12700">
            <a:solidFill>
              <a:srgbClr val="D4A843"/>
            </a:solidFill>
            <a:prstDash val="solid"/>
          </a:ln>
        </p:spPr>
      </p:sp>
      <p:sp>
        <p:nvSpPr>
          <p:cNvPr id="8" name="Text 5"/>
          <p:cNvSpPr/>
          <p:nvPr/>
        </p:nvSpPr>
        <p:spPr>
          <a:xfrm>
            <a:off x="457200" y="2304288"/>
            <a:ext cx="2682240" cy="640080"/>
          </a:xfrm>
          <a:prstGeom prst="rect">
            <a:avLst/>
          </a:prstGeom>
          <a:noFill/>
          <a:ln/>
        </p:spPr>
        <p:txBody>
          <a:bodyPr wrap="square" lIns="50800" tIns="76200" rIns="76200" bIns="50800" rtlCol="0" anchor="ctr"/>
          <a:lstStyle/>
          <a:p>
            <a:pPr algn="ctr" indent="0" marL="0">
              <a:lnSpc>
                <a:spcPct val="120000"/>
              </a:lnSpc>
              <a:buNone/>
            </a:pPr>
            <a:r>
              <a:rPr lang="en-US" sz="1000" b="1" dirty="0">
                <a:solidFill>
                  <a:srgbClr val="FFFFFF"/>
                </a:solidFill>
                <a:latin typeface="Calibri" pitchFamily="34" charset="0"/>
                <a:ea typeface="Calibri" pitchFamily="34" charset="-122"/>
                <a:cs typeface="Calibri" pitchFamily="34" charset="-120"/>
              </a:rPr>
              <a:t>Q4 Net Income $1.2B</a:t>
            </a:r>
            <a:endParaRPr lang="en-US" sz="1000" dirty="0"/>
          </a:p>
          <a:p>
            <a:pPr algn="ctr" indent="0" marL="0">
              <a:lnSpc>
                <a:spcPct val="120000"/>
              </a:lnSpc>
              <a:buNone/>
            </a:pPr>
            <a:r>
              <a:rPr lang="en-US" sz="1000" b="1" dirty="0">
                <a:solidFill>
                  <a:srgbClr val="FFFFFF"/>
                </a:solidFill>
                <a:latin typeface="Calibri" pitchFamily="34" charset="0"/>
                <a:ea typeface="Calibri" pitchFamily="34" charset="-122"/>
                <a:cs typeface="Calibri" pitchFamily="34" charset="-120"/>
              </a:rPr>
              <a:t>+49% YoY</a:t>
            </a:r>
            <a:endParaRPr lang="en-US" sz="1000" dirty="0"/>
          </a:p>
        </p:txBody>
      </p:sp>
      <p:sp>
        <p:nvSpPr>
          <p:cNvPr id="9" name="Shape 6"/>
          <p:cNvSpPr/>
          <p:nvPr/>
        </p:nvSpPr>
        <p:spPr>
          <a:xfrm>
            <a:off x="3230880" y="2304288"/>
            <a:ext cx="2682240" cy="640080"/>
          </a:xfrm>
          <a:prstGeom prst="rect">
            <a:avLst/>
          </a:prstGeom>
          <a:solidFill>
            <a:srgbClr val="1A2744"/>
          </a:solidFill>
          <a:ln w="12700">
            <a:solidFill>
              <a:srgbClr val="D4A843"/>
            </a:solidFill>
            <a:prstDash val="solid"/>
          </a:ln>
        </p:spPr>
      </p:sp>
      <p:sp>
        <p:nvSpPr>
          <p:cNvPr id="10" name="Text 7"/>
          <p:cNvSpPr/>
          <p:nvPr/>
        </p:nvSpPr>
        <p:spPr>
          <a:xfrm>
            <a:off x="3230880" y="2304288"/>
            <a:ext cx="2682240" cy="640080"/>
          </a:xfrm>
          <a:prstGeom prst="rect">
            <a:avLst/>
          </a:prstGeom>
          <a:noFill/>
          <a:ln/>
        </p:spPr>
        <p:txBody>
          <a:bodyPr wrap="square" lIns="50800" tIns="76200" rIns="76200" bIns="50800" rtlCol="0" anchor="ctr"/>
          <a:lstStyle/>
          <a:p>
            <a:pPr algn="ctr" indent="0" marL="0">
              <a:lnSpc>
                <a:spcPct val="120000"/>
              </a:lnSpc>
              <a:buNone/>
            </a:pPr>
            <a:r>
              <a:rPr lang="en-US" sz="1000" b="1" dirty="0">
                <a:solidFill>
                  <a:srgbClr val="FFFFFF"/>
                </a:solidFill>
                <a:latin typeface="Calibri" pitchFamily="34" charset="0"/>
                <a:ea typeface="Calibri" pitchFamily="34" charset="-122"/>
                <a:cs typeface="Calibri" pitchFamily="34" charset="-120"/>
              </a:rPr>
              <a:t>FY2025 Adj EPS $10.62</a:t>
            </a:r>
            <a:endParaRPr lang="en-US" sz="1000" dirty="0"/>
          </a:p>
          <a:p>
            <a:pPr algn="ctr" indent="0" marL="0">
              <a:lnSpc>
                <a:spcPct val="120000"/>
              </a:lnSpc>
              <a:buNone/>
            </a:pPr>
            <a:r>
              <a:rPr lang="en-US" sz="1000" b="1" dirty="0">
                <a:solidFill>
                  <a:srgbClr val="FFFFFF"/>
                </a:solidFill>
                <a:latin typeface="Calibri" pitchFamily="34" charset="0"/>
                <a:ea typeface="Calibri" pitchFamily="34" charset="-122"/>
                <a:cs typeface="Calibri" pitchFamily="34" charset="-120"/>
              </a:rPr>
              <a:t>vs $10.61 in FY2024</a:t>
            </a:r>
            <a:endParaRPr lang="en-US" sz="1000" dirty="0"/>
          </a:p>
        </p:txBody>
      </p:sp>
      <p:sp>
        <p:nvSpPr>
          <p:cNvPr id="11" name="Shape 8"/>
          <p:cNvSpPr/>
          <p:nvPr/>
        </p:nvSpPr>
        <p:spPr>
          <a:xfrm>
            <a:off x="6004560" y="2304288"/>
            <a:ext cx="2682240" cy="640080"/>
          </a:xfrm>
          <a:prstGeom prst="rect">
            <a:avLst/>
          </a:prstGeom>
          <a:solidFill>
            <a:srgbClr val="253563"/>
          </a:solidFill>
          <a:ln w="12700">
            <a:solidFill>
              <a:srgbClr val="D4A843"/>
            </a:solidFill>
            <a:prstDash val="solid"/>
          </a:ln>
        </p:spPr>
      </p:sp>
      <p:sp>
        <p:nvSpPr>
          <p:cNvPr id="12" name="Text 9"/>
          <p:cNvSpPr/>
          <p:nvPr/>
        </p:nvSpPr>
        <p:spPr>
          <a:xfrm>
            <a:off x="6004560" y="2304288"/>
            <a:ext cx="2682240" cy="640080"/>
          </a:xfrm>
          <a:prstGeom prst="rect">
            <a:avLst/>
          </a:prstGeom>
          <a:noFill/>
          <a:ln/>
        </p:spPr>
        <p:txBody>
          <a:bodyPr wrap="square" lIns="50800" tIns="76200" rIns="76200" bIns="50800" rtlCol="0" anchor="ctr"/>
          <a:lstStyle/>
          <a:p>
            <a:pPr algn="ctr" indent="0" marL="0">
              <a:lnSpc>
                <a:spcPct val="120000"/>
              </a:lnSpc>
              <a:buNone/>
            </a:pPr>
            <a:r>
              <a:rPr lang="en-US" sz="1000" b="1" dirty="0">
                <a:solidFill>
                  <a:srgbClr val="FFFFFF"/>
                </a:solidFill>
                <a:latin typeface="Calibri" pitchFamily="34" charset="0"/>
                <a:ea typeface="Calibri" pitchFamily="34" charset="-122"/>
                <a:cs typeface="Calibri" pitchFamily="34" charset="-120"/>
              </a:rPr>
              <a:t>Q3 strongest quarter</a:t>
            </a:r>
            <a:endParaRPr lang="en-US" sz="1000" dirty="0"/>
          </a:p>
          <a:p>
            <a:pPr algn="ctr" indent="0" marL="0">
              <a:lnSpc>
                <a:spcPct val="120000"/>
              </a:lnSpc>
              <a:buNone/>
            </a:pPr>
            <a:r>
              <a:rPr lang="en-US" sz="1000" b="1" dirty="0">
                <a:solidFill>
                  <a:srgbClr val="FFFFFF"/>
                </a:solidFill>
                <a:latin typeface="Calibri" pitchFamily="34" charset="0"/>
                <a:ea typeface="Calibri" pitchFamily="34" charset="-122"/>
                <a:cs typeface="Calibri" pitchFamily="34" charset="-120"/>
              </a:rPr>
              <a:t>EPS $3.98 record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457200" y="91440"/>
            <a:ext cx="8229600" cy="457200"/>
          </a:xfrm>
          <a:prstGeom prst="rect">
            <a:avLst/>
          </a:prstGeom>
          <a:noFill/>
          <a:ln/>
        </p:spPr>
        <p:txBody>
          <a:bodyPr wrap="square"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Unit Economics  |  FY2025</a:t>
            </a:r>
            <a:endParaRPr lang="en-US" sz="1500" dirty="0"/>
          </a:p>
        </p:txBody>
      </p:sp>
      <p:sp>
        <p:nvSpPr>
          <p:cNvPr id="4" name="Shape 2"/>
          <p:cNvSpPr/>
          <p:nvPr/>
        </p:nvSpPr>
        <p:spPr>
          <a:xfrm>
            <a:off x="0" y="4892040"/>
            <a:ext cx="9144000" cy="251460"/>
          </a:xfrm>
          <a:prstGeom prst="rect">
            <a:avLst/>
          </a:prstGeom>
          <a:solidFill>
            <a:srgbClr val="CBD5E0">
              <a:alpha val="60000"/>
            </a:srgbClr>
          </a:solidFill>
          <a:ln/>
        </p:spPr>
      </p:sp>
      <p:sp>
        <p:nvSpPr>
          <p:cNvPr id="5" name="Text 3"/>
          <p:cNvSpPr/>
          <p:nvPr/>
        </p:nvSpPr>
        <p:spPr>
          <a:xfrm>
            <a:off x="457200" y="4910328"/>
            <a:ext cx="8229600" cy="182880"/>
          </a:xfrm>
          <a:prstGeom prst="rect">
            <a:avLst/>
          </a:prstGeom>
          <a:noFill/>
          <a:ln/>
        </p:spPr>
        <p:txBody>
          <a:bodyPr wrap="square" rtlCol="0" anchor="ctr"/>
          <a:lstStyle/>
          <a:p>
            <a:pPr algn="l" indent="0" marL="0">
              <a:buNone/>
            </a:pPr>
            <a:r>
              <a:rPr lang="en-US" sz="700" dirty="0">
                <a:solidFill>
                  <a:srgbClr val="4A5568"/>
                </a:solidFill>
                <a:latin typeface="Calibri" pitchFamily="34" charset="0"/>
                <a:ea typeface="Calibri" pitchFamily="34" charset="-122"/>
                <a:cs typeface="Calibri" pitchFamily="34" charset="-120"/>
              </a:rPr>
              <a:t>United Airlines Holdings  |  NASDAQ: UAL  |  FY2025 Investor Presentation</a:t>
            </a:r>
            <a:endParaRPr lang="en-US" sz="700" dirty="0"/>
          </a:p>
        </p:txBody>
      </p:sp>
      <p:sp>
        <p:nvSpPr>
          <p:cNvPr id="6" name="Text 4"/>
          <p:cNvSpPr/>
          <p:nvPr/>
        </p:nvSpPr>
        <p:spPr>
          <a:xfrm>
            <a:off x="457200" y="749808"/>
            <a:ext cx="8229600" cy="182880"/>
          </a:xfrm>
          <a:prstGeom prst="rect">
            <a:avLst/>
          </a:prstGeom>
          <a:noFill/>
          <a:ln/>
        </p:spPr>
        <p:txBody>
          <a:bodyPr wrap="square" rtlCol="0" anchor="ctr"/>
          <a:lstStyle/>
          <a:p>
            <a:pPr algn="l" indent="0" marL="0">
              <a:buNone/>
            </a:pPr>
            <a:r>
              <a:rPr lang="en-US" sz="900" b="1" dirty="0">
                <a:solidFill>
                  <a:srgbClr val="1A2744"/>
                </a:solidFill>
                <a:latin typeface="Calibri" pitchFamily="34" charset="0"/>
                <a:ea typeface="Calibri" pitchFamily="34" charset="-122"/>
                <a:cs typeface="Calibri" pitchFamily="34" charset="-120"/>
              </a:rPr>
              <a:t>COST &amp; REVENUE PER ASM</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969264"/>
          <a:ext cx="6400800" cy="914400"/>
        </p:xfrm>
        <a:graphic>
          <a:graphicData uri="http://schemas.openxmlformats.org/drawingml/2006/table">
            <a:tbl>
              <a:tblPr/>
              <a:tblGrid>
                <a:gridCol w="2926080"/>
                <a:gridCol w="1828800"/>
                <a:gridCol w="1645920"/>
              </a:tblGrid>
              <a:tr h="27432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Metric</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FY2025 Value</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vs FY2024</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r>
              <a:tr h="274320">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CASM (¢)</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15.96</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+1.2%</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r>
              <a:tr h="274320">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CASM ex-Fuel (¢)</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11.20</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+2.1%</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r h="274320">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PRASM (¢)</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16.18</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+1.8%</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r>
              <a:tr h="274320">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TRASM (¢)</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17.89</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+1.5%</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r h="274320">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Fuel Cost / Gallon ($)</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$2.62</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-4.0%</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r>
              <a:tr h="274320">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Fuel Burn (B gallons)</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4.0</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+3.8%</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bl>
          </a:graphicData>
        </a:graphic>
      </p:graphicFrame>
      <p:sp>
        <p:nvSpPr>
          <p:cNvPr id="8" name="Shape 5"/>
          <p:cNvSpPr/>
          <p:nvPr/>
        </p:nvSpPr>
        <p:spPr>
          <a:xfrm>
            <a:off x="457200" y="3026664"/>
            <a:ext cx="8229600" cy="411480"/>
          </a:xfrm>
          <a:prstGeom prst="rect">
            <a:avLst/>
          </a:prstGeom>
          <a:solidFill>
            <a:srgbClr val="FEF3C7"/>
          </a:solidFill>
          <a:ln w="12700">
            <a:solidFill>
              <a:srgbClr val="B7791F"/>
            </a:solidFill>
            <a:prstDash val="solid"/>
          </a:ln>
        </p:spPr>
      </p:sp>
      <p:sp>
        <p:nvSpPr>
          <p:cNvPr id="9" name="Text 6"/>
          <p:cNvSpPr/>
          <p:nvPr/>
        </p:nvSpPr>
        <p:spPr>
          <a:xfrm>
            <a:off x="457200" y="3026664"/>
            <a:ext cx="8229600" cy="411480"/>
          </a:xfrm>
          <a:prstGeom prst="rect">
            <a:avLst/>
          </a:prstGeom>
          <a:noFill/>
          <a:ln/>
        </p:spPr>
        <p:txBody>
          <a:bodyPr wrap="square" lIns="50800" tIns="76200" rIns="76200" bIns="50800" rtlCol="0" anchor="ctr"/>
          <a:lstStyle/>
          <a:p>
            <a:pPr algn="ctr" indent="0" marL="0">
              <a:lnSpc>
                <a:spcPct val="120000"/>
              </a:lnSpc>
              <a:buNone/>
            </a:pPr>
            <a:r>
              <a:rPr lang="en-US" sz="1000" b="1" dirty="0">
                <a:solidFill>
                  <a:srgbClr val="4A5568"/>
                </a:solidFill>
                <a:latin typeface="Calibri" pitchFamily="34" charset="0"/>
                <a:ea typeface="Calibri" pitchFamily="34" charset="-122"/>
                <a:cs typeface="Calibri" pitchFamily="34" charset="-120"/>
              </a:rPr>
              <a:t>Fuel Sensitivity: $0.10/gal change ≈ $40M annual fuel cost impact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457200" y="91440"/>
            <a:ext cx="8229600" cy="457200"/>
          </a:xfrm>
          <a:prstGeom prst="rect">
            <a:avLst/>
          </a:prstGeom>
          <a:noFill/>
          <a:ln/>
        </p:spPr>
        <p:txBody>
          <a:bodyPr wrap="square"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Revenue Composition  |  FY2025</a:t>
            </a:r>
            <a:endParaRPr lang="en-US" sz="1500" dirty="0"/>
          </a:p>
        </p:txBody>
      </p:sp>
      <p:sp>
        <p:nvSpPr>
          <p:cNvPr id="4" name="Shape 2"/>
          <p:cNvSpPr/>
          <p:nvPr/>
        </p:nvSpPr>
        <p:spPr>
          <a:xfrm>
            <a:off x="0" y="4892040"/>
            <a:ext cx="9144000" cy="251460"/>
          </a:xfrm>
          <a:prstGeom prst="rect">
            <a:avLst/>
          </a:prstGeom>
          <a:solidFill>
            <a:srgbClr val="CBD5E0">
              <a:alpha val="60000"/>
            </a:srgbClr>
          </a:solidFill>
          <a:ln/>
        </p:spPr>
      </p:sp>
      <p:sp>
        <p:nvSpPr>
          <p:cNvPr id="5" name="Text 3"/>
          <p:cNvSpPr/>
          <p:nvPr/>
        </p:nvSpPr>
        <p:spPr>
          <a:xfrm>
            <a:off x="457200" y="4910328"/>
            <a:ext cx="8229600" cy="182880"/>
          </a:xfrm>
          <a:prstGeom prst="rect">
            <a:avLst/>
          </a:prstGeom>
          <a:noFill/>
          <a:ln/>
        </p:spPr>
        <p:txBody>
          <a:bodyPr wrap="square" rtlCol="0" anchor="ctr"/>
          <a:lstStyle/>
          <a:p>
            <a:pPr algn="l" indent="0" marL="0">
              <a:buNone/>
            </a:pPr>
            <a:r>
              <a:rPr lang="en-US" sz="700" dirty="0">
                <a:solidFill>
                  <a:srgbClr val="4A5568"/>
                </a:solidFill>
                <a:latin typeface="Calibri" pitchFamily="34" charset="0"/>
                <a:ea typeface="Calibri" pitchFamily="34" charset="-122"/>
                <a:cs typeface="Calibri" pitchFamily="34" charset="-120"/>
              </a:rPr>
              <a:t>United Airlines Holdings  |  NASDAQ: UAL  |  FY2025 Investor Presentation</a:t>
            </a:r>
            <a:endParaRPr lang="en-US" sz="700" dirty="0"/>
          </a:p>
        </p:txBody>
      </p:sp>
      <p:sp>
        <p:nvSpPr>
          <p:cNvPr id="6" name="Text 4"/>
          <p:cNvSpPr/>
          <p:nvPr/>
        </p:nvSpPr>
        <p:spPr>
          <a:xfrm>
            <a:off x="457200" y="749808"/>
            <a:ext cx="8229600" cy="182880"/>
          </a:xfrm>
          <a:prstGeom prst="rect">
            <a:avLst/>
          </a:prstGeom>
          <a:noFill/>
          <a:ln/>
        </p:spPr>
        <p:txBody>
          <a:bodyPr wrap="square" rtlCol="0" anchor="ctr"/>
          <a:lstStyle/>
          <a:p>
            <a:pPr algn="l" indent="0" marL="0">
              <a:buNone/>
            </a:pPr>
            <a:r>
              <a:rPr lang="en-US" sz="900" b="1" dirty="0">
                <a:solidFill>
                  <a:srgbClr val="1A2744"/>
                </a:solidFill>
                <a:latin typeface="Calibri" pitchFamily="34" charset="0"/>
                <a:ea typeface="Calibri" pitchFamily="34" charset="-122"/>
                <a:cs typeface="Calibri" pitchFamily="34" charset="-120"/>
              </a:rPr>
              <a:t>REVENUE BREAKDOWN BY SEGMENT</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969264"/>
          <a:ext cx="6583680" cy="914400"/>
        </p:xfrm>
        <a:graphic>
          <a:graphicData uri="http://schemas.openxmlformats.org/drawingml/2006/table">
            <a:tbl>
              <a:tblPr/>
              <a:tblGrid>
                <a:gridCol w="2560320"/>
                <a:gridCol w="1463040"/>
                <a:gridCol w="1280160"/>
                <a:gridCol w="1280160"/>
              </a:tblGrid>
              <a:tr h="27432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Segment</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Revenue</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 of Total</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YoY Change</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r>
              <a:tr h="274320">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Passenger</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$53.4B</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90.4%</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+3.5%</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r>
              <a:tr h="274320">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Cargo</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$1.8B</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3.0%</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+6.2%</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r h="274320">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Other / Ancillary</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$3.9B</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6.6%</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+5.4%</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r>
              <a:tr h="274320">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Total</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$59.1B</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100%</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+3.5%</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bl>
          </a:graphicData>
        </a:graphic>
      </p:graphicFrame>
      <p:sp>
        <p:nvSpPr>
          <p:cNvPr id="8" name="Shape 5"/>
          <p:cNvSpPr/>
          <p:nvPr/>
        </p:nvSpPr>
        <p:spPr>
          <a:xfrm>
            <a:off x="457200" y="2478024"/>
            <a:ext cx="8229600" cy="594360"/>
          </a:xfrm>
          <a:prstGeom prst="rect">
            <a:avLst/>
          </a:prstGeom>
          <a:solidFill>
            <a:srgbClr val="1A2744"/>
          </a:solidFill>
          <a:ln w="12700">
            <a:solidFill>
              <a:srgbClr val="D4A843"/>
            </a:solidFill>
            <a:prstDash val="solid"/>
          </a:ln>
        </p:spPr>
      </p:sp>
      <p:sp>
        <p:nvSpPr>
          <p:cNvPr id="9" name="Text 6"/>
          <p:cNvSpPr/>
          <p:nvPr/>
        </p:nvSpPr>
        <p:spPr>
          <a:xfrm>
            <a:off x="457200" y="2478024"/>
            <a:ext cx="8229600" cy="594360"/>
          </a:xfrm>
          <a:prstGeom prst="rect">
            <a:avLst/>
          </a:prstGeom>
          <a:noFill/>
          <a:ln/>
        </p:spPr>
        <p:txBody>
          <a:bodyPr wrap="square" lIns="50800" tIns="76200" rIns="76200" bIns="50800" rtlCol="0" anchor="ctr"/>
          <a:lstStyle/>
          <a:p>
            <a:pPr algn="ctr" indent="0" marL="0">
              <a:lnSpc>
                <a:spcPct val="120000"/>
              </a:lnSpc>
              <a:buNone/>
            </a:pPr>
            <a:r>
              <a:rPr lang="en-US" sz="1000" dirty="0">
                <a:solidFill>
                  <a:srgbClr val="FFFFFF"/>
                </a:solidFill>
                <a:latin typeface="Calibri" pitchFamily="34" charset="0"/>
                <a:ea typeface="Calibri" pitchFamily="34" charset="-122"/>
                <a:cs typeface="Calibri" pitchFamily="34" charset="-120"/>
              </a:rPr>
              <a:t>Premium Revenue +8% YoY — Polaris &amp; Premium Plus outperforming. MileagePlus loyalty program contributes significant ancillary revenue and provides $20B+ in collateral value.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457200" y="91440"/>
            <a:ext cx="8229600" cy="457200"/>
          </a:xfrm>
          <a:prstGeom prst="rect">
            <a:avLst/>
          </a:prstGeom>
          <a:noFill/>
          <a:ln/>
        </p:spPr>
        <p:txBody>
          <a:bodyPr wrap="square"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Fleet Modernization</a:t>
            </a:r>
            <a:endParaRPr lang="en-US" sz="1500" dirty="0"/>
          </a:p>
        </p:txBody>
      </p:sp>
      <p:sp>
        <p:nvSpPr>
          <p:cNvPr id="4" name="Shape 2"/>
          <p:cNvSpPr/>
          <p:nvPr/>
        </p:nvSpPr>
        <p:spPr>
          <a:xfrm>
            <a:off x="0" y="4892040"/>
            <a:ext cx="9144000" cy="251460"/>
          </a:xfrm>
          <a:prstGeom prst="rect">
            <a:avLst/>
          </a:prstGeom>
          <a:solidFill>
            <a:srgbClr val="CBD5E0">
              <a:alpha val="60000"/>
            </a:srgbClr>
          </a:solidFill>
          <a:ln/>
        </p:spPr>
      </p:sp>
      <p:sp>
        <p:nvSpPr>
          <p:cNvPr id="5" name="Text 3"/>
          <p:cNvSpPr/>
          <p:nvPr/>
        </p:nvSpPr>
        <p:spPr>
          <a:xfrm>
            <a:off x="457200" y="4910328"/>
            <a:ext cx="8229600" cy="182880"/>
          </a:xfrm>
          <a:prstGeom prst="rect">
            <a:avLst/>
          </a:prstGeom>
          <a:noFill/>
          <a:ln/>
        </p:spPr>
        <p:txBody>
          <a:bodyPr wrap="square" rtlCol="0" anchor="ctr"/>
          <a:lstStyle/>
          <a:p>
            <a:pPr algn="l" indent="0" marL="0">
              <a:buNone/>
            </a:pPr>
            <a:r>
              <a:rPr lang="en-US" sz="700" dirty="0">
                <a:solidFill>
                  <a:srgbClr val="4A5568"/>
                </a:solidFill>
                <a:latin typeface="Calibri" pitchFamily="34" charset="0"/>
                <a:ea typeface="Calibri" pitchFamily="34" charset="-122"/>
                <a:cs typeface="Calibri" pitchFamily="34" charset="-120"/>
              </a:rPr>
              <a:t>United Airlines Holdings  |  NASDAQ: UAL  |  FY2025 Investor Presentation</a:t>
            </a:r>
            <a:endParaRPr lang="en-US" sz="700" dirty="0"/>
          </a:p>
        </p:txBody>
      </p:sp>
      <p:sp>
        <p:nvSpPr>
          <p:cNvPr id="6" name="Shape 4"/>
          <p:cNvSpPr/>
          <p:nvPr/>
        </p:nvSpPr>
        <p:spPr>
          <a:xfrm>
            <a:off x="457200" y="749808"/>
            <a:ext cx="2377440" cy="822960"/>
          </a:xfrm>
          <a:prstGeom prst="rect">
            <a:avLst/>
          </a:prstGeom>
          <a:solidFill>
            <a:srgbClr val="FFFFFF"/>
          </a:solidFill>
          <a:ln w="12700">
            <a:solidFill>
              <a:srgbClr val="CBD5E0"/>
            </a:solidFill>
            <a:prstDash val="solid"/>
          </a:ln>
        </p:spPr>
      </p:sp>
      <p:sp>
        <p:nvSpPr>
          <p:cNvPr id="7" name="Shape 5"/>
          <p:cNvSpPr/>
          <p:nvPr/>
        </p:nvSpPr>
        <p:spPr>
          <a:xfrm>
            <a:off x="457200" y="749808"/>
            <a:ext cx="2377440" cy="36576"/>
          </a:xfrm>
          <a:prstGeom prst="rect">
            <a:avLst/>
          </a:prstGeom>
          <a:solidFill>
            <a:srgbClr val="1A2744"/>
          </a:solidFill>
          <a:ln/>
        </p:spPr>
      </p:sp>
      <p:sp>
        <p:nvSpPr>
          <p:cNvPr id="8" name="Text 6"/>
          <p:cNvSpPr/>
          <p:nvPr/>
        </p:nvSpPr>
        <p:spPr>
          <a:xfrm>
            <a:off x="457200" y="822960"/>
            <a:ext cx="2377440" cy="427939"/>
          </a:xfrm>
          <a:prstGeom prst="rect">
            <a:avLst/>
          </a:prstGeom>
          <a:noFill/>
          <a:ln/>
        </p:spPr>
        <p:txBody>
          <a:bodyPr wrap="square" rtlCol="0" anchor="ctr"/>
          <a:lstStyle/>
          <a:p>
            <a:pPr algn="ctr" indent="0" marL="0">
              <a:buNone/>
            </a:pPr>
            <a:r>
              <a:rPr lang="en-US" sz="2200" b="1" dirty="0">
                <a:solidFill>
                  <a:srgbClr val="1A2744"/>
                </a:solidFill>
                <a:latin typeface="Calibri" pitchFamily="34" charset="0"/>
                <a:ea typeface="Calibri" pitchFamily="34" charset="-122"/>
                <a:cs typeface="Calibri" pitchFamily="34" charset="-120"/>
              </a:rPr>
              <a:t>1,490</a:t>
            </a:r>
            <a:endParaRPr lang="en-US" sz="2200" dirty="0"/>
          </a:p>
        </p:txBody>
      </p:sp>
      <p:sp>
        <p:nvSpPr>
          <p:cNvPr id="9" name="Text 7"/>
          <p:cNvSpPr/>
          <p:nvPr/>
        </p:nvSpPr>
        <p:spPr>
          <a:xfrm>
            <a:off x="457200" y="1243584"/>
            <a:ext cx="2377440" cy="312725"/>
          </a:xfrm>
          <a:prstGeom prst="rect">
            <a:avLst/>
          </a:prstGeom>
          <a:noFill/>
          <a:ln/>
        </p:spPr>
        <p:txBody>
          <a:bodyPr wrap="square" rtlCol="0" anchor="t"/>
          <a:lstStyle/>
          <a:p>
            <a:pPr algn="ctr" indent="0" marL="0">
              <a:lnSpc>
                <a:spcPct val="110000"/>
              </a:lnSpc>
              <a:buNone/>
            </a:pPr>
            <a:r>
              <a:rPr lang="en-US" sz="900" dirty="0">
                <a:solidFill>
                  <a:srgbClr val="4A5568"/>
                </a:solidFill>
                <a:latin typeface="Calibri" pitchFamily="34" charset="0"/>
                <a:ea typeface="Calibri" pitchFamily="34" charset="-122"/>
                <a:cs typeface="Calibri" pitchFamily="34" charset="-120"/>
              </a:rPr>
              <a:t>Total Fleet</a:t>
            </a:r>
            <a:endParaRPr lang="en-US" sz="900" dirty="0"/>
          </a:p>
          <a:p>
            <a:pPr algn="ctr" indent="0" marL="0">
              <a:lnSpc>
                <a:spcPct val="110000"/>
              </a:lnSpc>
              <a:buNone/>
            </a:pPr>
            <a:r>
              <a:rPr lang="en-US" sz="900" dirty="0">
                <a:solidFill>
                  <a:srgbClr val="4A5568"/>
                </a:solidFill>
                <a:latin typeface="Calibri" pitchFamily="34" charset="0"/>
                <a:ea typeface="Calibri" pitchFamily="34" charset="-122"/>
                <a:cs typeface="Calibri" pitchFamily="34" charset="-120"/>
              </a:rPr>
              <a:t>(+84 YoY)</a:t>
            </a:r>
            <a:endParaRPr lang="en-US" sz="900" dirty="0"/>
          </a:p>
        </p:txBody>
      </p:sp>
      <p:sp>
        <p:nvSpPr>
          <p:cNvPr id="10" name="Shape 8"/>
          <p:cNvSpPr/>
          <p:nvPr/>
        </p:nvSpPr>
        <p:spPr>
          <a:xfrm>
            <a:off x="3063240" y="749808"/>
            <a:ext cx="2377440" cy="822960"/>
          </a:xfrm>
          <a:prstGeom prst="rect">
            <a:avLst/>
          </a:prstGeom>
          <a:solidFill>
            <a:srgbClr val="FFFFFF"/>
          </a:solidFill>
          <a:ln w="12700">
            <a:solidFill>
              <a:srgbClr val="CBD5E0"/>
            </a:solidFill>
            <a:prstDash val="solid"/>
          </a:ln>
        </p:spPr>
      </p:sp>
      <p:sp>
        <p:nvSpPr>
          <p:cNvPr id="11" name="Shape 9"/>
          <p:cNvSpPr/>
          <p:nvPr/>
        </p:nvSpPr>
        <p:spPr>
          <a:xfrm>
            <a:off x="3063240" y="749808"/>
            <a:ext cx="2377440" cy="36576"/>
          </a:xfrm>
          <a:prstGeom prst="rect">
            <a:avLst/>
          </a:prstGeom>
          <a:solidFill>
            <a:srgbClr val="1A2744"/>
          </a:solidFill>
          <a:ln/>
        </p:spPr>
      </p:sp>
      <p:sp>
        <p:nvSpPr>
          <p:cNvPr id="12" name="Text 10"/>
          <p:cNvSpPr/>
          <p:nvPr/>
        </p:nvSpPr>
        <p:spPr>
          <a:xfrm>
            <a:off x="3063240" y="822960"/>
            <a:ext cx="2377440" cy="427939"/>
          </a:xfrm>
          <a:prstGeom prst="rect">
            <a:avLst/>
          </a:prstGeom>
          <a:noFill/>
          <a:ln/>
        </p:spPr>
        <p:txBody>
          <a:bodyPr wrap="square" rtlCol="0" anchor="ctr"/>
          <a:lstStyle/>
          <a:p>
            <a:pPr algn="ctr" indent="0" marL="0">
              <a:buNone/>
            </a:pPr>
            <a:r>
              <a:rPr lang="en-US" sz="2200" b="1" dirty="0">
                <a:solidFill>
                  <a:srgbClr val="1A2744"/>
                </a:solidFill>
                <a:latin typeface="Calibri" pitchFamily="34" charset="0"/>
                <a:ea typeface="Calibri" pitchFamily="34" charset="-122"/>
                <a:cs typeface="Calibri" pitchFamily="34" charset="-120"/>
              </a:rPr>
              <a:t>200+</a:t>
            </a:r>
            <a:endParaRPr lang="en-US" sz="2200" dirty="0"/>
          </a:p>
        </p:txBody>
      </p:sp>
      <p:sp>
        <p:nvSpPr>
          <p:cNvPr id="13" name="Text 11"/>
          <p:cNvSpPr/>
          <p:nvPr/>
        </p:nvSpPr>
        <p:spPr>
          <a:xfrm>
            <a:off x="3063240" y="1243584"/>
            <a:ext cx="2377440" cy="312725"/>
          </a:xfrm>
          <a:prstGeom prst="rect">
            <a:avLst/>
          </a:prstGeom>
          <a:noFill/>
          <a:ln/>
        </p:spPr>
        <p:txBody>
          <a:bodyPr wrap="square" rtlCol="0" anchor="t"/>
          <a:lstStyle/>
          <a:p>
            <a:pPr algn="ctr" indent="0" marL="0">
              <a:lnSpc>
                <a:spcPct val="110000"/>
              </a:lnSpc>
              <a:buNone/>
            </a:pPr>
            <a:r>
              <a:rPr lang="en-US" sz="900" dirty="0">
                <a:solidFill>
                  <a:srgbClr val="4A5568"/>
                </a:solidFill>
                <a:latin typeface="Calibri" pitchFamily="34" charset="0"/>
                <a:ea typeface="Calibri" pitchFamily="34" charset="-122"/>
                <a:cs typeface="Calibri" pitchFamily="34" charset="-120"/>
              </a:rPr>
              <a:t>737 MAX</a:t>
            </a:r>
            <a:endParaRPr lang="en-US" sz="900" dirty="0"/>
          </a:p>
          <a:p>
            <a:pPr algn="ctr" indent="0" marL="0">
              <a:lnSpc>
                <a:spcPct val="110000"/>
              </a:lnSpc>
              <a:buNone/>
            </a:pPr>
            <a:r>
              <a:rPr lang="en-US" sz="900" dirty="0">
                <a:solidFill>
                  <a:srgbClr val="4A5568"/>
                </a:solidFill>
                <a:latin typeface="Calibri" pitchFamily="34" charset="0"/>
                <a:ea typeface="Calibri" pitchFamily="34" charset="-122"/>
                <a:cs typeface="Calibri" pitchFamily="34" charset="-120"/>
              </a:rPr>
              <a:t>Deliveries Pending</a:t>
            </a:r>
            <a:endParaRPr lang="en-US" sz="900" dirty="0"/>
          </a:p>
        </p:txBody>
      </p:sp>
      <p:sp>
        <p:nvSpPr>
          <p:cNvPr id="14" name="Shape 12"/>
          <p:cNvSpPr/>
          <p:nvPr/>
        </p:nvSpPr>
        <p:spPr>
          <a:xfrm>
            <a:off x="5669280" y="749808"/>
            <a:ext cx="2377440" cy="822960"/>
          </a:xfrm>
          <a:prstGeom prst="rect">
            <a:avLst/>
          </a:prstGeom>
          <a:solidFill>
            <a:srgbClr val="FFFFFF"/>
          </a:solidFill>
          <a:ln w="12700">
            <a:solidFill>
              <a:srgbClr val="CBD5E0"/>
            </a:solidFill>
            <a:prstDash val="solid"/>
          </a:ln>
        </p:spPr>
      </p:sp>
      <p:sp>
        <p:nvSpPr>
          <p:cNvPr id="15" name="Shape 13"/>
          <p:cNvSpPr/>
          <p:nvPr/>
        </p:nvSpPr>
        <p:spPr>
          <a:xfrm>
            <a:off x="5669280" y="749808"/>
            <a:ext cx="2377440" cy="36576"/>
          </a:xfrm>
          <a:prstGeom prst="rect">
            <a:avLst/>
          </a:prstGeom>
          <a:solidFill>
            <a:srgbClr val="1A2744"/>
          </a:solidFill>
          <a:ln/>
        </p:spPr>
      </p:sp>
      <p:sp>
        <p:nvSpPr>
          <p:cNvPr id="16" name="Text 14"/>
          <p:cNvSpPr/>
          <p:nvPr/>
        </p:nvSpPr>
        <p:spPr>
          <a:xfrm>
            <a:off x="5669280" y="822960"/>
            <a:ext cx="2377440" cy="427939"/>
          </a:xfrm>
          <a:prstGeom prst="rect">
            <a:avLst/>
          </a:prstGeom>
          <a:noFill/>
          <a:ln/>
        </p:spPr>
        <p:txBody>
          <a:bodyPr wrap="square" rtlCol="0" anchor="ctr"/>
          <a:lstStyle/>
          <a:p>
            <a:pPr algn="ctr" indent="0" marL="0">
              <a:buNone/>
            </a:pPr>
            <a:r>
              <a:rPr lang="en-US" sz="2200" b="1" dirty="0">
                <a:solidFill>
                  <a:srgbClr val="1A2744"/>
                </a:solidFill>
                <a:latin typeface="Calibri" pitchFamily="34" charset="0"/>
                <a:ea typeface="Calibri" pitchFamily="34" charset="-122"/>
                <a:cs typeface="Calibri" pitchFamily="34" charset="-120"/>
              </a:rPr>
              <a:t>~20%</a:t>
            </a:r>
            <a:endParaRPr lang="en-US" sz="2200" dirty="0"/>
          </a:p>
        </p:txBody>
      </p:sp>
      <p:sp>
        <p:nvSpPr>
          <p:cNvPr id="17" name="Text 15"/>
          <p:cNvSpPr/>
          <p:nvPr/>
        </p:nvSpPr>
        <p:spPr>
          <a:xfrm>
            <a:off x="5669280" y="1243584"/>
            <a:ext cx="2377440" cy="312725"/>
          </a:xfrm>
          <a:prstGeom prst="rect">
            <a:avLst/>
          </a:prstGeom>
          <a:noFill/>
          <a:ln/>
        </p:spPr>
        <p:txBody>
          <a:bodyPr wrap="square" rtlCol="0" anchor="t"/>
          <a:lstStyle/>
          <a:p>
            <a:pPr algn="ctr" indent="0" marL="0">
              <a:lnSpc>
                <a:spcPct val="110000"/>
              </a:lnSpc>
              <a:buNone/>
            </a:pPr>
            <a:r>
              <a:rPr lang="en-US" sz="900" dirty="0">
                <a:solidFill>
                  <a:srgbClr val="4A5568"/>
                </a:solidFill>
                <a:latin typeface="Calibri" pitchFamily="34" charset="0"/>
                <a:ea typeface="Calibri" pitchFamily="34" charset="-122"/>
                <a:cs typeface="Calibri" pitchFamily="34" charset="-120"/>
              </a:rPr>
              <a:t>A321neo CASM</a:t>
            </a:r>
            <a:endParaRPr lang="en-US" sz="900" dirty="0"/>
          </a:p>
          <a:p>
            <a:pPr algn="ctr" indent="0" marL="0">
              <a:lnSpc>
                <a:spcPct val="110000"/>
              </a:lnSpc>
              <a:buNone/>
            </a:pPr>
            <a:r>
              <a:rPr lang="en-US" sz="900" dirty="0">
                <a:solidFill>
                  <a:srgbClr val="4A5568"/>
                </a:solidFill>
                <a:latin typeface="Calibri" pitchFamily="34" charset="0"/>
                <a:ea typeface="Calibri" pitchFamily="34" charset="-122"/>
                <a:cs typeface="Calibri" pitchFamily="34" charset="-120"/>
              </a:rPr>
              <a:t>Improvement vs Legacy</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8229600" cy="914400"/>
        </p:xfrm>
        <a:graphic>
          <a:graphicData uri="http://schemas.openxmlformats.org/drawingml/2006/table">
            <a:tbl>
              <a:tblPr/>
              <a:tblGrid>
                <a:gridCol w="2011680"/>
                <a:gridCol w="731520"/>
                <a:gridCol w="1188720"/>
                <a:gridCol w="2468880"/>
              </a:tblGrid>
              <a:tr h="256032">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Aircraft Type</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Count</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Avg Age (yr)</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Fuel Efficiency vs Replaced</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r>
              <a:tr h="256032">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Boeing 737 MAX 8</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~280</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2.1</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+14% vs 737-900ER</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r>
              <a:tr h="256032">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Boeing 737 MAX 9</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~190</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1.8</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+14% vs 737-900ER</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r h="256032">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Airbus A321neo</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~60</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1.5</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+20% vs A319/A320</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r>
              <a:tr h="256032">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Boeing 787-9/10</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~120</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4.2</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+25% vs 747/767</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r h="256032">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Other types</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~840</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11.3</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Various</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r>
            </a:tbl>
          </a:graphicData>
        </a:graphic>
      </p:graphicFrame>
      <p:sp>
        <p:nvSpPr>
          <p:cNvPr id="19" name="Shape 16"/>
          <p:cNvSpPr/>
          <p:nvPr/>
        </p:nvSpPr>
        <p:spPr>
          <a:xfrm>
            <a:off x="457200" y="3392424"/>
            <a:ext cx="8229600" cy="457200"/>
          </a:xfrm>
          <a:prstGeom prst="rect">
            <a:avLst/>
          </a:prstGeom>
          <a:solidFill>
            <a:srgbClr val="FDECEA"/>
          </a:solidFill>
          <a:ln w="12700">
            <a:solidFill>
              <a:srgbClr val="C0392B"/>
            </a:solidFill>
            <a:prstDash val="solid"/>
          </a:ln>
        </p:spPr>
      </p:sp>
      <p:sp>
        <p:nvSpPr>
          <p:cNvPr id="20" name="Text 17"/>
          <p:cNvSpPr/>
          <p:nvPr/>
        </p:nvSpPr>
        <p:spPr>
          <a:xfrm>
            <a:off x="457200" y="3392424"/>
            <a:ext cx="8229600" cy="457200"/>
          </a:xfrm>
          <a:prstGeom prst="rect">
            <a:avLst/>
          </a:prstGeom>
          <a:noFill/>
          <a:ln/>
        </p:spPr>
        <p:txBody>
          <a:bodyPr wrap="square" lIns="50800" tIns="76200" rIns="76200" bIns="50800" rtlCol="0" anchor="ctr"/>
          <a:lstStyle/>
          <a:p>
            <a:pPr algn="ctr" indent="0" marL="0">
              <a:lnSpc>
                <a:spcPct val="120000"/>
              </a:lnSpc>
              <a:buNone/>
            </a:pPr>
            <a:r>
              <a:rPr lang="en-US" sz="900" dirty="0">
                <a:solidFill>
                  <a:srgbClr val="4A5568"/>
                </a:solidFill>
                <a:latin typeface="Calibri" pitchFamily="34" charset="0"/>
                <a:ea typeface="Calibri" pitchFamily="34" charset="-122"/>
                <a:cs typeface="Calibri" pitchFamily="34" charset="-120"/>
              </a:rPr>
              <a:t>Risk: Boeing production delays continue to impact MAX deliveries. UAL working with Boeing on revised schedules; mitigation includes leasing and retaining older 737s.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457200" y="91440"/>
            <a:ext cx="8229600" cy="457200"/>
          </a:xfrm>
          <a:prstGeom prst="rect">
            <a:avLst/>
          </a:prstGeom>
          <a:noFill/>
          <a:ln/>
        </p:spPr>
        <p:txBody>
          <a:bodyPr wrap="square"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New Products &amp; Strategy</a:t>
            </a:r>
            <a:endParaRPr lang="en-US" sz="1500" dirty="0"/>
          </a:p>
        </p:txBody>
      </p:sp>
      <p:sp>
        <p:nvSpPr>
          <p:cNvPr id="4" name="Shape 2"/>
          <p:cNvSpPr/>
          <p:nvPr/>
        </p:nvSpPr>
        <p:spPr>
          <a:xfrm>
            <a:off x="0" y="4892040"/>
            <a:ext cx="9144000" cy="251460"/>
          </a:xfrm>
          <a:prstGeom prst="rect">
            <a:avLst/>
          </a:prstGeom>
          <a:solidFill>
            <a:srgbClr val="CBD5E0">
              <a:alpha val="60000"/>
            </a:srgbClr>
          </a:solidFill>
          <a:ln/>
        </p:spPr>
      </p:sp>
      <p:sp>
        <p:nvSpPr>
          <p:cNvPr id="5" name="Text 3"/>
          <p:cNvSpPr/>
          <p:nvPr/>
        </p:nvSpPr>
        <p:spPr>
          <a:xfrm>
            <a:off x="457200" y="4910328"/>
            <a:ext cx="8229600" cy="182880"/>
          </a:xfrm>
          <a:prstGeom prst="rect">
            <a:avLst/>
          </a:prstGeom>
          <a:noFill/>
          <a:ln/>
        </p:spPr>
        <p:txBody>
          <a:bodyPr wrap="square" rtlCol="0" anchor="ctr"/>
          <a:lstStyle/>
          <a:p>
            <a:pPr algn="l" indent="0" marL="0">
              <a:buNone/>
            </a:pPr>
            <a:r>
              <a:rPr lang="en-US" sz="700" dirty="0">
                <a:solidFill>
                  <a:srgbClr val="4A5568"/>
                </a:solidFill>
                <a:latin typeface="Calibri" pitchFamily="34" charset="0"/>
                <a:ea typeface="Calibri" pitchFamily="34" charset="-122"/>
                <a:cs typeface="Calibri" pitchFamily="34" charset="-120"/>
              </a:rPr>
              <a:t>United Airlines Holdings  |  NASDAQ: UAL  |  FY2025 Investor Presentation</a:t>
            </a:r>
            <a:endParaRPr lang="en-US" sz="700" dirty="0"/>
          </a:p>
        </p:txBody>
      </p:sp>
      <p:sp>
        <p:nvSpPr>
          <p:cNvPr id="6" name="Shape 4"/>
          <p:cNvSpPr/>
          <p:nvPr/>
        </p:nvSpPr>
        <p:spPr>
          <a:xfrm>
            <a:off x="457200" y="749808"/>
            <a:ext cx="4046220" cy="1901952"/>
          </a:xfrm>
          <a:prstGeom prst="rect">
            <a:avLst/>
          </a:prstGeom>
          <a:solidFill>
            <a:srgbClr val="FFFFFF"/>
          </a:solidFill>
          <a:ln w="12700">
            <a:solidFill>
              <a:srgbClr val="CBD5E0"/>
            </a:solidFill>
            <a:prstDash val="solid"/>
          </a:ln>
        </p:spPr>
      </p:sp>
      <p:sp>
        <p:nvSpPr>
          <p:cNvPr id="7" name="Shape 5"/>
          <p:cNvSpPr/>
          <p:nvPr/>
        </p:nvSpPr>
        <p:spPr>
          <a:xfrm>
            <a:off x="457200" y="749808"/>
            <a:ext cx="4046220" cy="36576"/>
          </a:xfrm>
          <a:prstGeom prst="rect">
            <a:avLst/>
          </a:prstGeom>
          <a:solidFill>
            <a:srgbClr val="D4A843"/>
          </a:solidFill>
          <a:ln/>
        </p:spPr>
      </p:sp>
      <p:sp>
        <p:nvSpPr>
          <p:cNvPr id="8" name="Text 6"/>
          <p:cNvSpPr/>
          <p:nvPr/>
        </p:nvSpPr>
        <p:spPr>
          <a:xfrm>
            <a:off x="548640" y="822960"/>
            <a:ext cx="3863340" cy="256032"/>
          </a:xfrm>
          <a:prstGeom prst="rect">
            <a:avLst/>
          </a:prstGeom>
          <a:noFill/>
          <a:ln/>
        </p:spPr>
        <p:txBody>
          <a:bodyPr wrap="square" rtlCol="0" anchor="ctr"/>
          <a:lstStyle/>
          <a:p>
            <a:pPr algn="l" indent="0" marL="0">
              <a:buNone/>
            </a:pPr>
            <a:r>
              <a:rPr lang="en-US" sz="1100" b="1" dirty="0">
                <a:solidFill>
                  <a:srgbClr val="1A2744"/>
                </a:solidFill>
                <a:latin typeface="Calibri" pitchFamily="34" charset="0"/>
                <a:ea typeface="Calibri" pitchFamily="34" charset="-122"/>
                <a:cs typeface="Calibri" pitchFamily="34" charset="-120"/>
              </a:rPr>
              <a:t>Polaris Business Class</a:t>
            </a:r>
            <a:endParaRPr lang="en-US" sz="1100" dirty="0"/>
          </a:p>
        </p:txBody>
      </p:sp>
      <p:sp>
        <p:nvSpPr>
          <p:cNvPr id="9" name="Text 7"/>
          <p:cNvSpPr/>
          <p:nvPr/>
        </p:nvSpPr>
        <p:spPr>
          <a:xfrm>
            <a:off x="548640" y="1060704"/>
            <a:ext cx="3863340" cy="1536192"/>
          </a:xfrm>
          <a:prstGeom prst="rect">
            <a:avLst/>
          </a:prstGeom>
          <a:noFill/>
          <a:ln/>
        </p:spPr>
        <p:txBody>
          <a:bodyPr wrap="square" rtlCol="0" anchor="ctr"/>
          <a:lstStyle/>
          <a:p>
            <a:pPr algn="l" indent="0" marL="0">
              <a:lnSpc>
                <a:spcPct val="125000"/>
              </a:lnSpc>
              <a:buNone/>
            </a:pPr>
            <a:r>
              <a:rPr lang="en-US" sz="900" dirty="0">
                <a:solidFill>
                  <a:srgbClr val="4A5568"/>
                </a:solidFill>
                <a:latin typeface="Calibri" pitchFamily="34" charset="0"/>
                <a:ea typeface="Calibri" pitchFamily="34" charset="-122"/>
                <a:cs typeface="Calibri" pitchFamily="34" charset="-120"/>
              </a:rPr>
              <a:t>787 premium long-haul cabins — lie-flat suites, direct aisle access, elevated dining. Highest customer satisfaction scores in United history. Capacity expanding on key transcon and transpacific routes.</a:t>
            </a:r>
            <a:endParaRPr lang="en-US" sz="900" dirty="0"/>
          </a:p>
        </p:txBody>
      </p:sp>
      <p:sp>
        <p:nvSpPr>
          <p:cNvPr id="10" name="Shape 8"/>
          <p:cNvSpPr/>
          <p:nvPr/>
        </p:nvSpPr>
        <p:spPr>
          <a:xfrm>
            <a:off x="4640580" y="749808"/>
            <a:ext cx="4046220" cy="1901952"/>
          </a:xfrm>
          <a:prstGeom prst="rect">
            <a:avLst/>
          </a:prstGeom>
          <a:solidFill>
            <a:srgbClr val="FFFFFF"/>
          </a:solidFill>
          <a:ln w="12700">
            <a:solidFill>
              <a:srgbClr val="CBD5E0"/>
            </a:solidFill>
            <a:prstDash val="solid"/>
          </a:ln>
        </p:spPr>
      </p:sp>
      <p:sp>
        <p:nvSpPr>
          <p:cNvPr id="11" name="Shape 9"/>
          <p:cNvSpPr/>
          <p:nvPr/>
        </p:nvSpPr>
        <p:spPr>
          <a:xfrm>
            <a:off x="4640580" y="749808"/>
            <a:ext cx="4046220" cy="36576"/>
          </a:xfrm>
          <a:prstGeom prst="rect">
            <a:avLst/>
          </a:prstGeom>
          <a:solidFill>
            <a:srgbClr val="D4A843"/>
          </a:solidFill>
          <a:ln/>
        </p:spPr>
      </p:sp>
      <p:sp>
        <p:nvSpPr>
          <p:cNvPr id="12" name="Text 10"/>
          <p:cNvSpPr/>
          <p:nvPr/>
        </p:nvSpPr>
        <p:spPr>
          <a:xfrm>
            <a:off x="4732020" y="822960"/>
            <a:ext cx="3863340" cy="256032"/>
          </a:xfrm>
          <a:prstGeom prst="rect">
            <a:avLst/>
          </a:prstGeom>
          <a:noFill/>
          <a:ln/>
        </p:spPr>
        <p:txBody>
          <a:bodyPr wrap="square" rtlCol="0" anchor="ctr"/>
          <a:lstStyle/>
          <a:p>
            <a:pPr algn="l" indent="0" marL="0">
              <a:buNone/>
            </a:pPr>
            <a:r>
              <a:rPr lang="en-US" sz="1100" b="1" dirty="0">
                <a:solidFill>
                  <a:srgbClr val="1A2744"/>
                </a:solidFill>
                <a:latin typeface="Calibri" pitchFamily="34" charset="0"/>
                <a:ea typeface="Calibri" pitchFamily="34" charset="-122"/>
                <a:cs typeface="Calibri" pitchFamily="34" charset="-120"/>
              </a:rPr>
              <a:t>United Clubs Expansion</a:t>
            </a:r>
            <a:endParaRPr lang="en-US" sz="1100" dirty="0"/>
          </a:p>
        </p:txBody>
      </p:sp>
      <p:sp>
        <p:nvSpPr>
          <p:cNvPr id="13" name="Text 11"/>
          <p:cNvSpPr/>
          <p:nvPr/>
        </p:nvSpPr>
        <p:spPr>
          <a:xfrm>
            <a:off x="4732020" y="1060704"/>
            <a:ext cx="3863340" cy="1536192"/>
          </a:xfrm>
          <a:prstGeom prst="rect">
            <a:avLst/>
          </a:prstGeom>
          <a:noFill/>
          <a:ln/>
        </p:spPr>
        <p:txBody>
          <a:bodyPr wrap="square" rtlCol="0" anchor="ctr"/>
          <a:lstStyle/>
          <a:p>
            <a:pPr algn="l" indent="0" marL="0">
              <a:lnSpc>
                <a:spcPct val="125000"/>
              </a:lnSpc>
              <a:buNone/>
            </a:pPr>
            <a:r>
              <a:rPr lang="en-US" sz="900" dirty="0">
                <a:solidFill>
                  <a:srgbClr val="4A5568"/>
                </a:solidFill>
                <a:latin typeface="Calibri" pitchFamily="34" charset="0"/>
                <a:ea typeface="Calibri" pitchFamily="34" charset="-122"/>
                <a:cs typeface="Calibri" pitchFamily="34" charset="-120"/>
              </a:rPr>
              <a:t>Multi-year program to add and renovate lounge space at key hubs. New flagship clubs at ORD, EWR, IAH. Membership revenue growing double-digits; exclusivity maintained via capacity management.</a:t>
            </a:r>
            <a:endParaRPr lang="en-US" sz="900" dirty="0"/>
          </a:p>
        </p:txBody>
      </p:sp>
      <p:sp>
        <p:nvSpPr>
          <p:cNvPr id="14" name="Shape 12"/>
          <p:cNvSpPr/>
          <p:nvPr/>
        </p:nvSpPr>
        <p:spPr>
          <a:xfrm>
            <a:off x="457200" y="2743200"/>
            <a:ext cx="4046220" cy="1901952"/>
          </a:xfrm>
          <a:prstGeom prst="rect">
            <a:avLst/>
          </a:prstGeom>
          <a:solidFill>
            <a:srgbClr val="FFFFFF"/>
          </a:solidFill>
          <a:ln w="12700">
            <a:solidFill>
              <a:srgbClr val="CBD5E0"/>
            </a:solidFill>
            <a:prstDash val="solid"/>
          </a:ln>
        </p:spPr>
      </p:sp>
      <p:sp>
        <p:nvSpPr>
          <p:cNvPr id="15" name="Shape 13"/>
          <p:cNvSpPr/>
          <p:nvPr/>
        </p:nvSpPr>
        <p:spPr>
          <a:xfrm>
            <a:off x="457200" y="2743200"/>
            <a:ext cx="4046220" cy="36576"/>
          </a:xfrm>
          <a:prstGeom prst="rect">
            <a:avLst/>
          </a:prstGeom>
          <a:solidFill>
            <a:srgbClr val="D4A843"/>
          </a:solidFill>
          <a:ln/>
        </p:spPr>
      </p:sp>
      <p:sp>
        <p:nvSpPr>
          <p:cNvPr id="16" name="Text 14"/>
          <p:cNvSpPr/>
          <p:nvPr/>
        </p:nvSpPr>
        <p:spPr>
          <a:xfrm>
            <a:off x="548640" y="2816352"/>
            <a:ext cx="3863340" cy="256032"/>
          </a:xfrm>
          <a:prstGeom prst="rect">
            <a:avLst/>
          </a:prstGeom>
          <a:noFill/>
          <a:ln/>
        </p:spPr>
        <p:txBody>
          <a:bodyPr wrap="square" rtlCol="0" anchor="ctr"/>
          <a:lstStyle/>
          <a:p>
            <a:pPr algn="l" indent="0" marL="0">
              <a:buNone/>
            </a:pPr>
            <a:r>
              <a:rPr lang="en-US" sz="1100" b="1" dirty="0">
                <a:solidFill>
                  <a:srgbClr val="1A2744"/>
                </a:solidFill>
                <a:latin typeface="Calibri" pitchFamily="34" charset="0"/>
                <a:ea typeface="Calibri" pitchFamily="34" charset="-122"/>
                <a:cs typeface="Calibri" pitchFamily="34" charset="-120"/>
              </a:rPr>
              <a:t>Basic Economy Optimization</a:t>
            </a:r>
            <a:endParaRPr lang="en-US" sz="1100" dirty="0"/>
          </a:p>
        </p:txBody>
      </p:sp>
      <p:sp>
        <p:nvSpPr>
          <p:cNvPr id="17" name="Text 15"/>
          <p:cNvSpPr/>
          <p:nvPr/>
        </p:nvSpPr>
        <p:spPr>
          <a:xfrm>
            <a:off x="548640" y="3054096"/>
            <a:ext cx="3863340" cy="1536192"/>
          </a:xfrm>
          <a:prstGeom prst="rect">
            <a:avLst/>
          </a:prstGeom>
          <a:noFill/>
          <a:ln/>
        </p:spPr>
        <p:txBody>
          <a:bodyPr wrap="square" rtlCol="0" anchor="ctr"/>
          <a:lstStyle/>
          <a:p>
            <a:pPr algn="l" indent="0" marL="0">
              <a:lnSpc>
                <a:spcPct val="125000"/>
              </a:lnSpc>
              <a:buNone/>
            </a:pPr>
            <a:r>
              <a:rPr lang="en-US" sz="900" dirty="0">
                <a:solidFill>
                  <a:srgbClr val="4A5568"/>
                </a:solidFill>
                <a:latin typeface="Calibri" pitchFamily="34" charset="0"/>
                <a:ea typeface="Calibri" pitchFamily="34" charset="-122"/>
                <a:cs typeface="Calibri" pitchFamily="34" charset="-120"/>
              </a:rPr>
              <a:t>Refined yield management between Basic and regular economy. Driving higher PRASM while retaining price-sensitive travelers. Ancillary attach rates increasing with improved digital merchandising.</a:t>
            </a:r>
            <a:endParaRPr lang="en-US" sz="900" dirty="0"/>
          </a:p>
        </p:txBody>
      </p:sp>
      <p:sp>
        <p:nvSpPr>
          <p:cNvPr id="18" name="Shape 16"/>
          <p:cNvSpPr/>
          <p:nvPr/>
        </p:nvSpPr>
        <p:spPr>
          <a:xfrm>
            <a:off x="4640580" y="2743200"/>
            <a:ext cx="4046220" cy="1901952"/>
          </a:xfrm>
          <a:prstGeom prst="rect">
            <a:avLst/>
          </a:prstGeom>
          <a:solidFill>
            <a:srgbClr val="FFFFFF"/>
          </a:solidFill>
          <a:ln w="12700">
            <a:solidFill>
              <a:srgbClr val="CBD5E0"/>
            </a:solidFill>
            <a:prstDash val="solid"/>
          </a:ln>
        </p:spPr>
      </p:sp>
      <p:sp>
        <p:nvSpPr>
          <p:cNvPr id="19" name="Shape 17"/>
          <p:cNvSpPr/>
          <p:nvPr/>
        </p:nvSpPr>
        <p:spPr>
          <a:xfrm>
            <a:off x="4640580" y="2743200"/>
            <a:ext cx="4046220" cy="36576"/>
          </a:xfrm>
          <a:prstGeom prst="rect">
            <a:avLst/>
          </a:prstGeom>
          <a:solidFill>
            <a:srgbClr val="D4A843"/>
          </a:solidFill>
          <a:ln/>
        </p:spPr>
      </p:sp>
      <p:sp>
        <p:nvSpPr>
          <p:cNvPr id="20" name="Text 18"/>
          <p:cNvSpPr/>
          <p:nvPr/>
        </p:nvSpPr>
        <p:spPr>
          <a:xfrm>
            <a:off x="4732020" y="2816352"/>
            <a:ext cx="3863340" cy="256032"/>
          </a:xfrm>
          <a:prstGeom prst="rect">
            <a:avLst/>
          </a:prstGeom>
          <a:noFill/>
          <a:ln/>
        </p:spPr>
        <p:txBody>
          <a:bodyPr wrap="square" rtlCol="0" anchor="ctr"/>
          <a:lstStyle/>
          <a:p>
            <a:pPr algn="l" indent="0" marL="0">
              <a:buNone/>
            </a:pPr>
            <a:r>
              <a:rPr lang="en-US" sz="1100" b="1" dirty="0">
                <a:solidFill>
                  <a:srgbClr val="1A2744"/>
                </a:solidFill>
                <a:latin typeface="Calibri" pitchFamily="34" charset="0"/>
                <a:ea typeface="Calibri" pitchFamily="34" charset="-122"/>
                <a:cs typeface="Calibri" pitchFamily="34" charset="-120"/>
              </a:rPr>
              <a:t>Transcon 'Elevated' Product</a:t>
            </a:r>
            <a:endParaRPr lang="en-US" sz="1100" dirty="0"/>
          </a:p>
        </p:txBody>
      </p:sp>
      <p:sp>
        <p:nvSpPr>
          <p:cNvPr id="21" name="Text 19"/>
          <p:cNvSpPr/>
          <p:nvPr/>
        </p:nvSpPr>
        <p:spPr>
          <a:xfrm>
            <a:off x="4732020" y="3054096"/>
            <a:ext cx="3863340" cy="1536192"/>
          </a:xfrm>
          <a:prstGeom prst="rect">
            <a:avLst/>
          </a:prstGeom>
          <a:noFill/>
          <a:ln/>
        </p:spPr>
        <p:txBody>
          <a:bodyPr wrap="square" rtlCol="0" anchor="ctr"/>
          <a:lstStyle/>
          <a:p>
            <a:pPr algn="l" indent="0" marL="0">
              <a:lnSpc>
                <a:spcPct val="125000"/>
              </a:lnSpc>
              <a:buNone/>
            </a:pPr>
            <a:r>
              <a:rPr lang="en-US" sz="900" dirty="0">
                <a:solidFill>
                  <a:srgbClr val="4A5568"/>
                </a:solidFill>
                <a:latin typeface="Calibri" pitchFamily="34" charset="0"/>
                <a:ea typeface="Calibri" pitchFamily="34" charset="-122"/>
                <a:cs typeface="Calibri" pitchFamily="34" charset="-120"/>
              </a:rPr>
              <a:t>Premium transcontinental service ORD–LAX/SFO and EWR–LAX/SFO. Targeted at corporate and leisure premium travelers. Competing directly with AA Flagship and DL premium offerings.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457200" y="109728"/>
            <a:ext cx="8229600" cy="45720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Starlink In-Flight Connectivity</a:t>
            </a:r>
            <a:endParaRPr lang="en-US" sz="1800" dirty="0"/>
          </a:p>
        </p:txBody>
      </p:sp>
      <p:sp>
        <p:nvSpPr>
          <p:cNvPr id="4" name="Shape 2"/>
          <p:cNvSpPr/>
          <p:nvPr/>
        </p:nvSpPr>
        <p:spPr>
          <a:xfrm>
            <a:off x="0" y="4892040"/>
            <a:ext cx="9144000" cy="251460"/>
          </a:xfrm>
          <a:prstGeom prst="rect">
            <a:avLst/>
          </a:prstGeom>
          <a:solidFill>
            <a:srgbClr val="253563">
              <a:alpha val="40000"/>
            </a:srgbClr>
          </a:solidFill>
          <a:ln/>
        </p:spPr>
      </p:sp>
      <p:sp>
        <p:nvSpPr>
          <p:cNvPr id="5" name="Text 3"/>
          <p:cNvSpPr/>
          <p:nvPr/>
        </p:nvSpPr>
        <p:spPr>
          <a:xfrm>
            <a:off x="457200" y="4910328"/>
            <a:ext cx="8229600" cy="182880"/>
          </a:xfrm>
          <a:prstGeom prst="rect">
            <a:avLst/>
          </a:prstGeom>
          <a:noFill/>
          <a:ln/>
        </p:spPr>
        <p:txBody>
          <a:bodyPr wrap="square" rtlCol="0" anchor="ctr"/>
          <a:lstStyle/>
          <a:p>
            <a:pPr algn="l" indent="0" marL="0">
              <a:buNone/>
            </a:pPr>
            <a:r>
              <a:rPr lang="en-US" sz="700" dirty="0">
                <a:solidFill>
                  <a:srgbClr val="D6E4F7"/>
                </a:solidFill>
                <a:latin typeface="Calibri" pitchFamily="34" charset="0"/>
                <a:ea typeface="Calibri" pitchFamily="34" charset="-122"/>
                <a:cs typeface="Calibri" pitchFamily="34" charset="-120"/>
              </a:rPr>
              <a:t>United Airlines Holdings  |  NASDAQ: UAL  |  FY2025 Investor Presentation</a:t>
            </a:r>
            <a:endParaRPr lang="en-US" sz="700" dirty="0"/>
          </a:p>
        </p:txBody>
      </p:sp>
      <p:sp>
        <p:nvSpPr>
          <p:cNvPr id="6" name="Text 4"/>
          <p:cNvSpPr/>
          <p:nvPr/>
        </p:nvSpPr>
        <p:spPr>
          <a:xfrm>
            <a:off x="457200" y="676656"/>
            <a:ext cx="8229600" cy="182880"/>
          </a:xfrm>
          <a:prstGeom prst="rect">
            <a:avLst/>
          </a:prstGeom>
          <a:noFill/>
          <a:ln/>
        </p:spPr>
        <p:txBody>
          <a:bodyPr wrap="square" rtlCol="0" anchor="ctr"/>
          <a:lstStyle/>
          <a:p>
            <a:pPr algn="l" indent="0" marL="0">
              <a:buNone/>
            </a:pPr>
            <a:r>
              <a:rPr lang="en-US" sz="900" b="1" dirty="0">
                <a:solidFill>
                  <a:srgbClr val="D4A843"/>
                </a:solidFill>
                <a:latin typeface="Calibri" pitchFamily="34" charset="0"/>
                <a:ea typeface="Calibri" pitchFamily="34" charset="-122"/>
                <a:cs typeface="Calibri" pitchFamily="34" charset="-120"/>
              </a:rPr>
              <a:t>ROLLOUT TIMELINE</a:t>
            </a:r>
            <a:endParaRPr lang="en-US" sz="900" dirty="0"/>
          </a:p>
        </p:txBody>
      </p:sp>
      <p:sp>
        <p:nvSpPr>
          <p:cNvPr id="7" name="Shape 5"/>
          <p:cNvSpPr/>
          <p:nvPr/>
        </p:nvSpPr>
        <p:spPr>
          <a:xfrm>
            <a:off x="457200" y="896112"/>
            <a:ext cx="2651760" cy="731520"/>
          </a:xfrm>
          <a:prstGeom prst="rect">
            <a:avLst/>
          </a:prstGeom>
          <a:solidFill>
            <a:srgbClr val="253563"/>
          </a:solidFill>
          <a:ln w="12700">
            <a:solidFill>
              <a:srgbClr val="D4A843"/>
            </a:solidFill>
            <a:prstDash val="solid"/>
          </a:ln>
        </p:spPr>
      </p:sp>
      <p:sp>
        <p:nvSpPr>
          <p:cNvPr id="8" name="Text 6"/>
          <p:cNvSpPr/>
          <p:nvPr/>
        </p:nvSpPr>
        <p:spPr>
          <a:xfrm>
            <a:off x="512064" y="932688"/>
            <a:ext cx="2542032" cy="237744"/>
          </a:xfrm>
          <a:prstGeom prst="rect">
            <a:avLst/>
          </a:prstGeom>
          <a:noFill/>
          <a:ln/>
        </p:spPr>
        <p:txBody>
          <a:bodyPr wrap="square" rtlCol="0" anchor="ctr"/>
          <a:lstStyle/>
          <a:p>
            <a:pPr algn="ctr" indent="0" marL="0">
              <a:buNone/>
            </a:pPr>
            <a:r>
              <a:rPr lang="en-US" sz="1100" b="1" dirty="0">
                <a:solidFill>
                  <a:srgbClr val="D4A843"/>
                </a:solidFill>
                <a:latin typeface="Calibri" pitchFamily="34" charset="0"/>
                <a:ea typeface="Calibri" pitchFamily="34" charset="-122"/>
                <a:cs typeface="Calibri" pitchFamily="34" charset="-120"/>
              </a:rPr>
              <a:t>2025 H1</a:t>
            </a:r>
            <a:endParaRPr lang="en-US" sz="1100" dirty="0"/>
          </a:p>
        </p:txBody>
      </p:sp>
      <p:sp>
        <p:nvSpPr>
          <p:cNvPr id="9" name="Text 7"/>
          <p:cNvSpPr/>
          <p:nvPr/>
        </p:nvSpPr>
        <p:spPr>
          <a:xfrm>
            <a:off x="512064" y="1170432"/>
            <a:ext cx="2542032" cy="402336"/>
          </a:xfrm>
          <a:prstGeom prst="rect">
            <a:avLst/>
          </a:prstGeom>
          <a:noFill/>
          <a:ln/>
        </p:spPr>
        <p:txBody>
          <a:bodyPr wrap="square" rtlCol="0" anchor="ctr"/>
          <a:lstStyle/>
          <a:p>
            <a:pPr algn="ctr" indent="0" marL="0">
              <a:lnSpc>
                <a:spcPct val="120000"/>
              </a:lnSpc>
              <a:buNone/>
            </a:pPr>
            <a:r>
              <a:rPr lang="en-US" sz="900" dirty="0">
                <a:solidFill>
                  <a:srgbClr val="D6E4F7"/>
                </a:solidFill>
                <a:latin typeface="Calibri" pitchFamily="34" charset="0"/>
                <a:ea typeface="Calibri" pitchFamily="34" charset="-122"/>
                <a:cs typeface="Calibri" pitchFamily="34" charset="-120"/>
              </a:rPr>
              <a:t>Rollout commenced across narrowbody fleet</a:t>
            </a:r>
            <a:endParaRPr lang="en-US" sz="900" dirty="0"/>
          </a:p>
        </p:txBody>
      </p:sp>
      <p:sp>
        <p:nvSpPr>
          <p:cNvPr id="10" name="Shape 8"/>
          <p:cNvSpPr/>
          <p:nvPr/>
        </p:nvSpPr>
        <p:spPr>
          <a:xfrm>
            <a:off x="3246120" y="896112"/>
            <a:ext cx="2651760" cy="731520"/>
          </a:xfrm>
          <a:prstGeom prst="rect">
            <a:avLst/>
          </a:prstGeom>
          <a:solidFill>
            <a:srgbClr val="253563"/>
          </a:solidFill>
          <a:ln w="12700">
            <a:solidFill>
              <a:srgbClr val="D4A843"/>
            </a:solidFill>
            <a:prstDash val="solid"/>
          </a:ln>
        </p:spPr>
      </p:sp>
      <p:sp>
        <p:nvSpPr>
          <p:cNvPr id="11" name="Text 9"/>
          <p:cNvSpPr/>
          <p:nvPr/>
        </p:nvSpPr>
        <p:spPr>
          <a:xfrm>
            <a:off x="3300984" y="932688"/>
            <a:ext cx="2542032" cy="237744"/>
          </a:xfrm>
          <a:prstGeom prst="rect">
            <a:avLst/>
          </a:prstGeom>
          <a:noFill/>
          <a:ln/>
        </p:spPr>
        <p:txBody>
          <a:bodyPr wrap="square" rtlCol="0" anchor="ctr"/>
          <a:lstStyle/>
          <a:p>
            <a:pPr algn="ctr" indent="0" marL="0">
              <a:buNone/>
            </a:pPr>
            <a:r>
              <a:rPr lang="en-US" sz="1100" b="1" dirty="0">
                <a:solidFill>
                  <a:srgbClr val="D4A843"/>
                </a:solidFill>
                <a:latin typeface="Calibri" pitchFamily="34" charset="0"/>
                <a:ea typeface="Calibri" pitchFamily="34" charset="-122"/>
                <a:cs typeface="Calibri" pitchFamily="34" charset="-120"/>
              </a:rPr>
              <a:t>End-2025</a:t>
            </a:r>
            <a:endParaRPr lang="en-US" sz="1100" dirty="0"/>
          </a:p>
        </p:txBody>
      </p:sp>
      <p:sp>
        <p:nvSpPr>
          <p:cNvPr id="12" name="Text 10"/>
          <p:cNvSpPr/>
          <p:nvPr/>
        </p:nvSpPr>
        <p:spPr>
          <a:xfrm>
            <a:off x="3300984" y="1170432"/>
            <a:ext cx="2542032" cy="402336"/>
          </a:xfrm>
          <a:prstGeom prst="rect">
            <a:avLst/>
          </a:prstGeom>
          <a:noFill/>
          <a:ln/>
        </p:spPr>
        <p:txBody>
          <a:bodyPr wrap="square" rtlCol="0" anchor="ctr"/>
          <a:lstStyle/>
          <a:p>
            <a:pPr algn="ctr" indent="0" marL="0">
              <a:lnSpc>
                <a:spcPct val="120000"/>
              </a:lnSpc>
              <a:buNone/>
            </a:pPr>
            <a:r>
              <a:rPr lang="en-US" sz="900" dirty="0">
                <a:solidFill>
                  <a:srgbClr val="D6E4F7"/>
                </a:solidFill>
                <a:latin typeface="Calibri" pitchFamily="34" charset="0"/>
                <a:ea typeface="Calibri" pitchFamily="34" charset="-122"/>
                <a:cs typeface="Calibri" pitchFamily="34" charset="-120"/>
              </a:rPr>
              <a:t>200+ aircraft equipped; customer availability live</a:t>
            </a:r>
            <a:endParaRPr lang="en-US" sz="900" dirty="0"/>
          </a:p>
        </p:txBody>
      </p:sp>
      <p:sp>
        <p:nvSpPr>
          <p:cNvPr id="13" name="Shape 11"/>
          <p:cNvSpPr/>
          <p:nvPr/>
        </p:nvSpPr>
        <p:spPr>
          <a:xfrm>
            <a:off x="6035040" y="896112"/>
            <a:ext cx="2651760" cy="731520"/>
          </a:xfrm>
          <a:prstGeom prst="rect">
            <a:avLst/>
          </a:prstGeom>
          <a:solidFill>
            <a:srgbClr val="253563"/>
          </a:solidFill>
          <a:ln w="12700">
            <a:solidFill>
              <a:srgbClr val="D4A843"/>
            </a:solidFill>
            <a:prstDash val="solid"/>
          </a:ln>
        </p:spPr>
      </p:sp>
      <p:sp>
        <p:nvSpPr>
          <p:cNvPr id="14" name="Text 12"/>
          <p:cNvSpPr/>
          <p:nvPr/>
        </p:nvSpPr>
        <p:spPr>
          <a:xfrm>
            <a:off x="6089904" y="932688"/>
            <a:ext cx="2542032" cy="237744"/>
          </a:xfrm>
          <a:prstGeom prst="rect">
            <a:avLst/>
          </a:prstGeom>
          <a:noFill/>
          <a:ln/>
        </p:spPr>
        <p:txBody>
          <a:bodyPr wrap="square" rtlCol="0" anchor="ctr"/>
          <a:lstStyle/>
          <a:p>
            <a:pPr algn="ctr" indent="0" marL="0">
              <a:buNone/>
            </a:pPr>
            <a:r>
              <a:rPr lang="en-US" sz="1100" b="1" dirty="0">
                <a:solidFill>
                  <a:srgbClr val="D4A843"/>
                </a:solidFill>
                <a:latin typeface="Calibri" pitchFamily="34" charset="0"/>
                <a:ea typeface="Calibri" pitchFamily="34" charset="-122"/>
                <a:cs typeface="Calibri" pitchFamily="34" charset="-120"/>
              </a:rPr>
              <a:t>2026 Full Fleet</a:t>
            </a:r>
            <a:endParaRPr lang="en-US" sz="1100" dirty="0"/>
          </a:p>
        </p:txBody>
      </p:sp>
      <p:sp>
        <p:nvSpPr>
          <p:cNvPr id="15" name="Text 13"/>
          <p:cNvSpPr/>
          <p:nvPr/>
        </p:nvSpPr>
        <p:spPr>
          <a:xfrm>
            <a:off x="6089904" y="1170432"/>
            <a:ext cx="2542032" cy="402336"/>
          </a:xfrm>
          <a:prstGeom prst="rect">
            <a:avLst/>
          </a:prstGeom>
          <a:noFill/>
          <a:ln/>
        </p:spPr>
        <p:txBody>
          <a:bodyPr wrap="square" rtlCol="0" anchor="ctr"/>
          <a:lstStyle/>
          <a:p>
            <a:pPr algn="ctr" indent="0" marL="0">
              <a:lnSpc>
                <a:spcPct val="120000"/>
              </a:lnSpc>
              <a:buNone/>
            </a:pPr>
            <a:r>
              <a:rPr lang="en-US" sz="900" dirty="0">
                <a:solidFill>
                  <a:srgbClr val="D6E4F7"/>
                </a:solidFill>
                <a:latin typeface="Calibri" pitchFamily="34" charset="0"/>
                <a:ea typeface="Calibri" pitchFamily="34" charset="-122"/>
                <a:cs typeface="Calibri" pitchFamily="34" charset="-120"/>
              </a:rPr>
              <a:t>Target: entire mainline fleet connected</a:t>
            </a:r>
            <a:endParaRPr lang="en-US" sz="900" dirty="0"/>
          </a:p>
        </p:txBody>
      </p:sp>
      <p:sp>
        <p:nvSpPr>
          <p:cNvPr id="16" name="Text 14"/>
          <p:cNvSpPr/>
          <p:nvPr/>
        </p:nvSpPr>
        <p:spPr>
          <a:xfrm>
            <a:off x="457200" y="1828800"/>
            <a:ext cx="8229600" cy="182880"/>
          </a:xfrm>
          <a:prstGeom prst="rect">
            <a:avLst/>
          </a:prstGeom>
          <a:noFill/>
          <a:ln/>
        </p:spPr>
        <p:txBody>
          <a:bodyPr wrap="square" rtlCol="0" anchor="ctr"/>
          <a:lstStyle/>
          <a:p>
            <a:pPr algn="l" indent="0" marL="0">
              <a:buNone/>
            </a:pPr>
            <a:r>
              <a:rPr lang="en-US" sz="900" b="1" dirty="0">
                <a:solidFill>
                  <a:srgbClr val="D4A843"/>
                </a:solidFill>
                <a:latin typeface="Calibri" pitchFamily="34" charset="0"/>
                <a:ea typeface="Calibri" pitchFamily="34" charset="-122"/>
                <a:cs typeface="Calibri" pitchFamily="34" charset="-120"/>
              </a:rPr>
              <a:t>KEY METRICS &amp; REVENUE OPPORTUNITY</a:t>
            </a:r>
            <a:endParaRPr lang="en-US" sz="900" dirty="0"/>
          </a:p>
        </p:txBody>
      </p:sp>
      <p:sp>
        <p:nvSpPr>
          <p:cNvPr id="17" name="Shape 15"/>
          <p:cNvSpPr/>
          <p:nvPr/>
        </p:nvSpPr>
        <p:spPr>
          <a:xfrm>
            <a:off x="457200" y="2048256"/>
            <a:ext cx="1954530" cy="960120"/>
          </a:xfrm>
          <a:prstGeom prst="rect">
            <a:avLst/>
          </a:prstGeom>
          <a:solidFill>
            <a:srgbClr val="253563"/>
          </a:solidFill>
          <a:ln w="12700">
            <a:solidFill>
              <a:srgbClr val="D4A843"/>
            </a:solidFill>
            <a:prstDash val="solid"/>
          </a:ln>
        </p:spPr>
      </p:sp>
      <p:sp>
        <p:nvSpPr>
          <p:cNvPr id="18" name="Text 16"/>
          <p:cNvSpPr/>
          <p:nvPr/>
        </p:nvSpPr>
        <p:spPr>
          <a:xfrm>
            <a:off x="457200" y="2144268"/>
            <a:ext cx="1954530" cy="480060"/>
          </a:xfrm>
          <a:prstGeom prst="rect">
            <a:avLst/>
          </a:prstGeom>
          <a:noFill/>
          <a:ln/>
        </p:spPr>
        <p:txBody>
          <a:bodyPr wrap="square" rtlCol="0" anchor="ctr"/>
          <a:lstStyle/>
          <a:p>
            <a:pPr algn="ctr" indent="0" marL="0">
              <a:buNone/>
            </a:pPr>
            <a:r>
              <a:rPr lang="en-US" sz="1500" b="1" dirty="0">
                <a:solidFill>
                  <a:srgbClr val="D4A843"/>
                </a:solidFill>
                <a:latin typeface="Calibri" pitchFamily="34" charset="0"/>
                <a:ea typeface="Calibri" pitchFamily="34" charset="-122"/>
                <a:cs typeface="Calibri" pitchFamily="34" charset="-120"/>
              </a:rPr>
              <a:t>100 Mbps</a:t>
            </a:r>
            <a:endParaRPr lang="en-US" sz="1500" dirty="0"/>
          </a:p>
        </p:txBody>
      </p:sp>
      <p:sp>
        <p:nvSpPr>
          <p:cNvPr id="19" name="Text 17"/>
          <p:cNvSpPr/>
          <p:nvPr/>
        </p:nvSpPr>
        <p:spPr>
          <a:xfrm>
            <a:off x="457200" y="2624328"/>
            <a:ext cx="1954530" cy="336042"/>
          </a:xfrm>
          <a:prstGeom prst="rect">
            <a:avLst/>
          </a:prstGeom>
          <a:noFill/>
          <a:ln/>
        </p:spPr>
        <p:txBody>
          <a:bodyPr wrap="square" rtlCol="0" anchor="t"/>
          <a:lstStyle/>
          <a:p>
            <a:pPr algn="ctr" indent="0" marL="0">
              <a:lnSpc>
                <a:spcPct val="110000"/>
              </a:lnSpc>
              <a:buNone/>
            </a:pPr>
            <a:r>
              <a:rPr lang="en-US" sz="1100" dirty="0">
                <a:solidFill>
                  <a:srgbClr val="D6E4F7"/>
                </a:solidFill>
                <a:latin typeface="Calibri" pitchFamily="34" charset="0"/>
                <a:ea typeface="Calibri" pitchFamily="34" charset="-122"/>
                <a:cs typeface="Calibri" pitchFamily="34" charset="-120"/>
              </a:rPr>
              <a:t>Per-aircraft bandwidth</a:t>
            </a:r>
            <a:endParaRPr lang="en-US" sz="1100" dirty="0"/>
          </a:p>
          <a:p>
            <a:pPr algn="ctr" indent="0" marL="0">
              <a:lnSpc>
                <a:spcPct val="110000"/>
              </a:lnSpc>
              <a:buNone/>
            </a:pPr>
            <a:r>
              <a:rPr lang="en-US" sz="1100" dirty="0">
                <a:solidFill>
                  <a:srgbClr val="D6E4F7"/>
                </a:solidFill>
                <a:latin typeface="Calibri" pitchFamily="34" charset="0"/>
                <a:ea typeface="Calibri" pitchFamily="34" charset="-122"/>
                <a:cs typeface="Calibri" pitchFamily="34" charset="-120"/>
              </a:rPr>
              <a:t>(SpaceX Starlink)</a:t>
            </a:r>
            <a:endParaRPr lang="en-US" sz="1100" dirty="0"/>
          </a:p>
        </p:txBody>
      </p:sp>
      <p:sp>
        <p:nvSpPr>
          <p:cNvPr id="20" name="Shape 18"/>
          <p:cNvSpPr/>
          <p:nvPr/>
        </p:nvSpPr>
        <p:spPr>
          <a:xfrm>
            <a:off x="2548890" y="2048256"/>
            <a:ext cx="1954530" cy="960120"/>
          </a:xfrm>
          <a:prstGeom prst="rect">
            <a:avLst/>
          </a:prstGeom>
          <a:solidFill>
            <a:srgbClr val="253563"/>
          </a:solidFill>
          <a:ln w="12700">
            <a:solidFill>
              <a:srgbClr val="D4A843"/>
            </a:solidFill>
            <a:prstDash val="solid"/>
          </a:ln>
        </p:spPr>
      </p:sp>
      <p:sp>
        <p:nvSpPr>
          <p:cNvPr id="21" name="Text 19"/>
          <p:cNvSpPr/>
          <p:nvPr/>
        </p:nvSpPr>
        <p:spPr>
          <a:xfrm>
            <a:off x="2548890" y="2144268"/>
            <a:ext cx="1954530" cy="480060"/>
          </a:xfrm>
          <a:prstGeom prst="rect">
            <a:avLst/>
          </a:prstGeom>
          <a:noFill/>
          <a:ln/>
        </p:spPr>
        <p:txBody>
          <a:bodyPr wrap="square" rtlCol="0" anchor="ctr"/>
          <a:lstStyle/>
          <a:p>
            <a:pPr algn="ctr" indent="0" marL="0">
              <a:buNone/>
            </a:pPr>
            <a:r>
              <a:rPr lang="en-US" sz="1500" b="1" dirty="0">
                <a:solidFill>
                  <a:srgbClr val="D4A843"/>
                </a:solidFill>
                <a:latin typeface="Calibri" pitchFamily="34" charset="0"/>
                <a:ea typeface="Calibri" pitchFamily="34" charset="-122"/>
                <a:cs typeface="Calibri" pitchFamily="34" charset="-120"/>
              </a:rPr>
              <a:t>$500M+</a:t>
            </a:r>
            <a:endParaRPr lang="en-US" sz="1500" dirty="0"/>
          </a:p>
        </p:txBody>
      </p:sp>
      <p:sp>
        <p:nvSpPr>
          <p:cNvPr id="22" name="Text 20"/>
          <p:cNvSpPr/>
          <p:nvPr/>
        </p:nvSpPr>
        <p:spPr>
          <a:xfrm>
            <a:off x="2548890" y="2624328"/>
            <a:ext cx="1954530" cy="336042"/>
          </a:xfrm>
          <a:prstGeom prst="rect">
            <a:avLst/>
          </a:prstGeom>
          <a:noFill/>
          <a:ln/>
        </p:spPr>
        <p:txBody>
          <a:bodyPr wrap="square" rtlCol="0" anchor="t"/>
          <a:lstStyle/>
          <a:p>
            <a:pPr algn="ctr" indent="0" marL="0">
              <a:lnSpc>
                <a:spcPct val="110000"/>
              </a:lnSpc>
              <a:buNone/>
            </a:pPr>
            <a:r>
              <a:rPr lang="en-US" sz="1100" dirty="0">
                <a:solidFill>
                  <a:srgbClr val="D6E4F7"/>
                </a:solidFill>
                <a:latin typeface="Calibri" pitchFamily="34" charset="0"/>
                <a:ea typeface="Calibri" pitchFamily="34" charset="-122"/>
                <a:cs typeface="Calibri" pitchFamily="34" charset="-120"/>
              </a:rPr>
              <a:t>Ancillary revenue</a:t>
            </a:r>
            <a:endParaRPr lang="en-US" sz="1100" dirty="0"/>
          </a:p>
          <a:p>
            <a:pPr algn="ctr" indent="0" marL="0">
              <a:lnSpc>
                <a:spcPct val="110000"/>
              </a:lnSpc>
              <a:buNone/>
            </a:pPr>
            <a:r>
              <a:rPr lang="en-US" sz="1100" dirty="0">
                <a:solidFill>
                  <a:srgbClr val="D6E4F7"/>
                </a:solidFill>
                <a:latin typeface="Calibri" pitchFamily="34" charset="0"/>
                <a:ea typeface="Calibri" pitchFamily="34" charset="-122"/>
                <a:cs typeface="Calibri" pitchFamily="34" charset="-120"/>
              </a:rPr>
              <a:t>opportunity (est.)</a:t>
            </a:r>
            <a:endParaRPr lang="en-US" sz="1100" dirty="0"/>
          </a:p>
        </p:txBody>
      </p:sp>
      <p:sp>
        <p:nvSpPr>
          <p:cNvPr id="23" name="Shape 21"/>
          <p:cNvSpPr/>
          <p:nvPr/>
        </p:nvSpPr>
        <p:spPr>
          <a:xfrm>
            <a:off x="4640580" y="2048256"/>
            <a:ext cx="1954530" cy="960120"/>
          </a:xfrm>
          <a:prstGeom prst="rect">
            <a:avLst/>
          </a:prstGeom>
          <a:solidFill>
            <a:srgbClr val="253563"/>
          </a:solidFill>
          <a:ln w="12700">
            <a:solidFill>
              <a:srgbClr val="D4A843"/>
            </a:solidFill>
            <a:prstDash val="solid"/>
          </a:ln>
        </p:spPr>
      </p:sp>
      <p:sp>
        <p:nvSpPr>
          <p:cNvPr id="24" name="Text 22"/>
          <p:cNvSpPr/>
          <p:nvPr/>
        </p:nvSpPr>
        <p:spPr>
          <a:xfrm>
            <a:off x="4640580" y="2144268"/>
            <a:ext cx="1954530" cy="480060"/>
          </a:xfrm>
          <a:prstGeom prst="rect">
            <a:avLst/>
          </a:prstGeom>
          <a:noFill/>
          <a:ln/>
        </p:spPr>
        <p:txBody>
          <a:bodyPr wrap="square" rtlCol="0" anchor="ctr"/>
          <a:lstStyle/>
          <a:p>
            <a:pPr algn="ctr" indent="0" marL="0">
              <a:buNone/>
            </a:pPr>
            <a:r>
              <a:rPr lang="en-US" sz="1500" b="1" dirty="0">
                <a:solidFill>
                  <a:srgbClr val="D4A843"/>
                </a:solidFill>
                <a:latin typeface="Calibri" pitchFamily="34" charset="0"/>
                <a:ea typeface="Calibri" pitchFamily="34" charset="-122"/>
                <a:cs typeface="Calibri" pitchFamily="34" charset="-120"/>
              </a:rPr>
              <a:t>~2,000+</a:t>
            </a:r>
            <a:endParaRPr lang="en-US" sz="1500" dirty="0"/>
          </a:p>
        </p:txBody>
      </p:sp>
      <p:sp>
        <p:nvSpPr>
          <p:cNvPr id="25" name="Text 23"/>
          <p:cNvSpPr/>
          <p:nvPr/>
        </p:nvSpPr>
        <p:spPr>
          <a:xfrm>
            <a:off x="4640580" y="2624328"/>
            <a:ext cx="1954530" cy="336042"/>
          </a:xfrm>
          <a:prstGeom prst="rect">
            <a:avLst/>
          </a:prstGeom>
          <a:noFill/>
          <a:ln/>
        </p:spPr>
        <p:txBody>
          <a:bodyPr wrap="square" rtlCol="0" anchor="t"/>
          <a:lstStyle/>
          <a:p>
            <a:pPr algn="ctr" indent="0" marL="0">
              <a:lnSpc>
                <a:spcPct val="110000"/>
              </a:lnSpc>
              <a:buNone/>
            </a:pPr>
            <a:r>
              <a:rPr lang="en-US" sz="1100" dirty="0">
                <a:solidFill>
                  <a:srgbClr val="D6E4F7"/>
                </a:solidFill>
                <a:latin typeface="Calibri" pitchFamily="34" charset="0"/>
                <a:ea typeface="Calibri" pitchFamily="34" charset="-122"/>
                <a:cs typeface="Calibri" pitchFamily="34" charset="-120"/>
              </a:rPr>
              <a:t>Planned aircraft</a:t>
            </a:r>
            <a:endParaRPr lang="en-US" sz="1100" dirty="0"/>
          </a:p>
          <a:p>
            <a:pPr algn="ctr" indent="0" marL="0">
              <a:lnSpc>
                <a:spcPct val="110000"/>
              </a:lnSpc>
              <a:buNone/>
            </a:pPr>
            <a:r>
              <a:rPr lang="en-US" sz="1100" dirty="0">
                <a:solidFill>
                  <a:srgbClr val="D6E4F7"/>
                </a:solidFill>
                <a:latin typeface="Calibri" pitchFamily="34" charset="0"/>
                <a:ea typeface="Calibri" pitchFamily="34" charset="-122"/>
                <a:cs typeface="Calibri" pitchFamily="34" charset="-120"/>
              </a:rPr>
              <a:t>by end-2026</a:t>
            </a:r>
            <a:endParaRPr lang="en-US" sz="1100" dirty="0"/>
          </a:p>
        </p:txBody>
      </p:sp>
      <p:sp>
        <p:nvSpPr>
          <p:cNvPr id="26" name="Shape 24"/>
          <p:cNvSpPr/>
          <p:nvPr/>
        </p:nvSpPr>
        <p:spPr>
          <a:xfrm>
            <a:off x="6732270" y="2048256"/>
            <a:ext cx="1954530" cy="960120"/>
          </a:xfrm>
          <a:prstGeom prst="rect">
            <a:avLst/>
          </a:prstGeom>
          <a:solidFill>
            <a:srgbClr val="253563"/>
          </a:solidFill>
          <a:ln w="12700">
            <a:solidFill>
              <a:srgbClr val="D4A843"/>
            </a:solidFill>
            <a:prstDash val="solid"/>
          </a:ln>
        </p:spPr>
      </p:sp>
      <p:sp>
        <p:nvSpPr>
          <p:cNvPr id="27" name="Text 25"/>
          <p:cNvSpPr/>
          <p:nvPr/>
        </p:nvSpPr>
        <p:spPr>
          <a:xfrm>
            <a:off x="6732270" y="2144268"/>
            <a:ext cx="1954530" cy="480060"/>
          </a:xfrm>
          <a:prstGeom prst="rect">
            <a:avLst/>
          </a:prstGeom>
          <a:noFill/>
          <a:ln/>
        </p:spPr>
        <p:txBody>
          <a:bodyPr wrap="square" rtlCol="0" anchor="ctr"/>
          <a:lstStyle/>
          <a:p>
            <a:pPr algn="ctr" indent="0" marL="0">
              <a:buNone/>
            </a:pPr>
            <a:r>
              <a:rPr lang="en-US" sz="1500" b="1" dirty="0">
                <a:solidFill>
                  <a:srgbClr val="D4A843"/>
                </a:solidFill>
                <a:latin typeface="Calibri" pitchFamily="34" charset="0"/>
                <a:ea typeface="Calibri" pitchFamily="34" charset="-122"/>
                <a:cs typeface="Calibri" pitchFamily="34" charset="-120"/>
              </a:rPr>
              <a:t>Free Wi-Fi</a:t>
            </a:r>
            <a:endParaRPr lang="en-US" sz="1500" dirty="0"/>
          </a:p>
        </p:txBody>
      </p:sp>
      <p:sp>
        <p:nvSpPr>
          <p:cNvPr id="28" name="Text 26"/>
          <p:cNvSpPr/>
          <p:nvPr/>
        </p:nvSpPr>
        <p:spPr>
          <a:xfrm>
            <a:off x="6732270" y="2624328"/>
            <a:ext cx="1954530" cy="336042"/>
          </a:xfrm>
          <a:prstGeom prst="rect">
            <a:avLst/>
          </a:prstGeom>
          <a:noFill/>
          <a:ln/>
        </p:spPr>
        <p:txBody>
          <a:bodyPr wrap="square" rtlCol="0" anchor="t"/>
          <a:lstStyle/>
          <a:p>
            <a:pPr algn="ctr" indent="0" marL="0">
              <a:lnSpc>
                <a:spcPct val="110000"/>
              </a:lnSpc>
              <a:buNone/>
            </a:pPr>
            <a:r>
              <a:rPr lang="en-US" sz="1100" dirty="0">
                <a:solidFill>
                  <a:srgbClr val="D6E4F7"/>
                </a:solidFill>
                <a:latin typeface="Calibri" pitchFamily="34" charset="0"/>
                <a:ea typeface="Calibri" pitchFamily="34" charset="-122"/>
                <a:cs typeface="Calibri" pitchFamily="34" charset="-120"/>
              </a:rPr>
              <a:t>For MileagePlus</a:t>
            </a:r>
            <a:endParaRPr lang="en-US" sz="1100" dirty="0"/>
          </a:p>
          <a:p>
            <a:pPr algn="ctr" indent="0" marL="0">
              <a:lnSpc>
                <a:spcPct val="110000"/>
              </a:lnSpc>
              <a:buNone/>
            </a:pPr>
            <a:r>
              <a:rPr lang="en-US" sz="1100" dirty="0">
                <a:solidFill>
                  <a:srgbClr val="D6E4F7"/>
                </a:solidFill>
                <a:latin typeface="Calibri" pitchFamily="34" charset="0"/>
                <a:ea typeface="Calibri" pitchFamily="34" charset="-122"/>
                <a:cs typeface="Calibri" pitchFamily="34" charset="-120"/>
              </a:rPr>
              <a:t>Elite members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457200" y="91440"/>
            <a:ext cx="8229600" cy="457200"/>
          </a:xfrm>
          <a:prstGeom prst="rect">
            <a:avLst/>
          </a:prstGeom>
          <a:noFill/>
          <a:ln/>
        </p:spPr>
        <p:txBody>
          <a:bodyPr wrap="square"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Operational Performance  |  FY2025</a:t>
            </a:r>
            <a:endParaRPr lang="en-US" sz="1500" dirty="0"/>
          </a:p>
        </p:txBody>
      </p:sp>
      <p:sp>
        <p:nvSpPr>
          <p:cNvPr id="4" name="Shape 2"/>
          <p:cNvSpPr/>
          <p:nvPr/>
        </p:nvSpPr>
        <p:spPr>
          <a:xfrm>
            <a:off x="0" y="4892040"/>
            <a:ext cx="9144000" cy="251460"/>
          </a:xfrm>
          <a:prstGeom prst="rect">
            <a:avLst/>
          </a:prstGeom>
          <a:solidFill>
            <a:srgbClr val="CBD5E0">
              <a:alpha val="60000"/>
            </a:srgbClr>
          </a:solidFill>
          <a:ln/>
        </p:spPr>
      </p:sp>
      <p:sp>
        <p:nvSpPr>
          <p:cNvPr id="5" name="Text 3"/>
          <p:cNvSpPr/>
          <p:nvPr/>
        </p:nvSpPr>
        <p:spPr>
          <a:xfrm>
            <a:off x="457200" y="4910328"/>
            <a:ext cx="8229600" cy="182880"/>
          </a:xfrm>
          <a:prstGeom prst="rect">
            <a:avLst/>
          </a:prstGeom>
          <a:noFill/>
          <a:ln/>
        </p:spPr>
        <p:txBody>
          <a:bodyPr wrap="square" rtlCol="0" anchor="ctr"/>
          <a:lstStyle/>
          <a:p>
            <a:pPr algn="l" indent="0" marL="0">
              <a:buNone/>
            </a:pPr>
            <a:r>
              <a:rPr lang="en-US" sz="700" dirty="0">
                <a:solidFill>
                  <a:srgbClr val="4A5568"/>
                </a:solidFill>
                <a:latin typeface="Calibri" pitchFamily="34" charset="0"/>
                <a:ea typeface="Calibri" pitchFamily="34" charset="-122"/>
                <a:cs typeface="Calibri" pitchFamily="34" charset="-120"/>
              </a:rPr>
              <a:t>United Airlines Holdings  |  NASDAQ: UAL  |  FY2025 Investor Presentation</a:t>
            </a:r>
            <a:endParaRPr lang="en-US" sz="700" dirty="0"/>
          </a:p>
        </p:txBody>
      </p:sp>
      <p:sp>
        <p:nvSpPr>
          <p:cNvPr id="6" name="Shape 4"/>
          <p:cNvSpPr/>
          <p:nvPr/>
        </p:nvSpPr>
        <p:spPr>
          <a:xfrm>
            <a:off x="457200" y="749808"/>
            <a:ext cx="1954530" cy="914400"/>
          </a:xfrm>
          <a:prstGeom prst="rect">
            <a:avLst/>
          </a:prstGeom>
          <a:solidFill>
            <a:srgbClr val="FFFFFF"/>
          </a:solidFill>
          <a:ln w="12700">
            <a:solidFill>
              <a:srgbClr val="CBD5E0"/>
            </a:solidFill>
            <a:prstDash val="solid"/>
          </a:ln>
        </p:spPr>
      </p:sp>
      <p:sp>
        <p:nvSpPr>
          <p:cNvPr id="7" name="Shape 5"/>
          <p:cNvSpPr/>
          <p:nvPr/>
        </p:nvSpPr>
        <p:spPr>
          <a:xfrm>
            <a:off x="457200" y="749808"/>
            <a:ext cx="1954530" cy="36576"/>
          </a:xfrm>
          <a:prstGeom prst="rect">
            <a:avLst/>
          </a:prstGeom>
          <a:solidFill>
            <a:srgbClr val="1A2744"/>
          </a:solidFill>
          <a:ln/>
        </p:spPr>
      </p:sp>
      <p:sp>
        <p:nvSpPr>
          <p:cNvPr id="8" name="Text 6"/>
          <p:cNvSpPr/>
          <p:nvPr/>
        </p:nvSpPr>
        <p:spPr>
          <a:xfrm>
            <a:off x="457200" y="822960"/>
            <a:ext cx="1954530" cy="475488"/>
          </a:xfrm>
          <a:prstGeom prst="rect">
            <a:avLst/>
          </a:prstGeom>
          <a:noFill/>
          <a:ln/>
        </p:spPr>
        <p:txBody>
          <a:bodyPr wrap="square" rtlCol="0" anchor="ctr"/>
          <a:lstStyle/>
          <a:p>
            <a:pPr algn="ctr" indent="0" marL="0">
              <a:buNone/>
            </a:pPr>
            <a:r>
              <a:rPr lang="en-US" sz="2000" b="1" dirty="0">
                <a:solidFill>
                  <a:srgbClr val="1A2744"/>
                </a:solidFill>
                <a:latin typeface="Calibri" pitchFamily="34" charset="0"/>
                <a:ea typeface="Calibri" pitchFamily="34" charset="-122"/>
                <a:cs typeface="Calibri" pitchFamily="34" charset="-120"/>
              </a:rPr>
              <a:t>83%</a:t>
            </a:r>
            <a:endParaRPr lang="en-US" sz="2000" dirty="0"/>
          </a:p>
        </p:txBody>
      </p:sp>
      <p:sp>
        <p:nvSpPr>
          <p:cNvPr id="9" name="Text 7"/>
          <p:cNvSpPr/>
          <p:nvPr/>
        </p:nvSpPr>
        <p:spPr>
          <a:xfrm>
            <a:off x="457200" y="1298448"/>
            <a:ext cx="1954530" cy="347472"/>
          </a:xfrm>
          <a:prstGeom prst="rect">
            <a:avLst/>
          </a:prstGeom>
          <a:noFill/>
          <a:ln/>
        </p:spPr>
        <p:txBody>
          <a:bodyPr wrap="square" rtlCol="0" anchor="t"/>
          <a:lstStyle/>
          <a:p>
            <a:pPr algn="ctr" indent="0" marL="0">
              <a:lnSpc>
                <a:spcPct val="110000"/>
              </a:lnSpc>
              <a:buNone/>
            </a:pPr>
            <a:r>
              <a:rPr lang="en-US" sz="900" dirty="0">
                <a:solidFill>
                  <a:srgbClr val="4A5568"/>
                </a:solidFill>
                <a:latin typeface="Calibri" pitchFamily="34" charset="0"/>
                <a:ea typeface="Calibri" pitchFamily="34" charset="-122"/>
                <a:cs typeface="Calibri" pitchFamily="34" charset="-120"/>
              </a:rPr>
              <a:t>On-Time Arrival</a:t>
            </a:r>
            <a:endParaRPr lang="en-US" sz="900" dirty="0"/>
          </a:p>
          <a:p>
            <a:pPr algn="ctr" indent="0" marL="0">
              <a:lnSpc>
                <a:spcPct val="110000"/>
              </a:lnSpc>
              <a:buNone/>
            </a:pPr>
            <a:r>
              <a:rPr lang="en-US" sz="900" dirty="0">
                <a:solidFill>
                  <a:srgbClr val="4A5568"/>
                </a:solidFill>
                <a:latin typeface="Calibri" pitchFamily="34" charset="0"/>
                <a:ea typeface="Calibri" pitchFamily="34" charset="-122"/>
                <a:cs typeface="Calibri" pitchFamily="34" charset="-120"/>
              </a:rPr>
              <a:t>(DOT A14)</a:t>
            </a:r>
            <a:endParaRPr lang="en-US" sz="900" dirty="0"/>
          </a:p>
        </p:txBody>
      </p:sp>
      <p:sp>
        <p:nvSpPr>
          <p:cNvPr id="10" name="Shape 8"/>
          <p:cNvSpPr/>
          <p:nvPr/>
        </p:nvSpPr>
        <p:spPr>
          <a:xfrm>
            <a:off x="2548890" y="749808"/>
            <a:ext cx="1954530" cy="914400"/>
          </a:xfrm>
          <a:prstGeom prst="rect">
            <a:avLst/>
          </a:prstGeom>
          <a:solidFill>
            <a:srgbClr val="FFFFFF"/>
          </a:solidFill>
          <a:ln w="12700">
            <a:solidFill>
              <a:srgbClr val="CBD5E0"/>
            </a:solidFill>
            <a:prstDash val="solid"/>
          </a:ln>
        </p:spPr>
      </p:sp>
      <p:sp>
        <p:nvSpPr>
          <p:cNvPr id="11" name="Shape 9"/>
          <p:cNvSpPr/>
          <p:nvPr/>
        </p:nvSpPr>
        <p:spPr>
          <a:xfrm>
            <a:off x="2548890" y="749808"/>
            <a:ext cx="1954530" cy="36576"/>
          </a:xfrm>
          <a:prstGeom prst="rect">
            <a:avLst/>
          </a:prstGeom>
          <a:solidFill>
            <a:srgbClr val="1A2744"/>
          </a:solidFill>
          <a:ln/>
        </p:spPr>
      </p:sp>
      <p:sp>
        <p:nvSpPr>
          <p:cNvPr id="12" name="Text 10"/>
          <p:cNvSpPr/>
          <p:nvPr/>
        </p:nvSpPr>
        <p:spPr>
          <a:xfrm>
            <a:off x="2548890" y="822960"/>
            <a:ext cx="1954530" cy="475488"/>
          </a:xfrm>
          <a:prstGeom prst="rect">
            <a:avLst/>
          </a:prstGeom>
          <a:noFill/>
          <a:ln/>
        </p:spPr>
        <p:txBody>
          <a:bodyPr wrap="square" rtlCol="0" anchor="ctr"/>
          <a:lstStyle/>
          <a:p>
            <a:pPr algn="ctr" indent="0" marL="0">
              <a:buNone/>
            </a:pPr>
            <a:r>
              <a:rPr lang="en-US" sz="2000" b="1" dirty="0">
                <a:solidFill>
                  <a:srgbClr val="1A2744"/>
                </a:solidFill>
                <a:latin typeface="Calibri" pitchFamily="34" charset="0"/>
                <a:ea typeface="Calibri" pitchFamily="34" charset="-122"/>
                <a:cs typeface="Calibri" pitchFamily="34" charset="-120"/>
              </a:rPr>
              <a:t>99.3%</a:t>
            </a:r>
            <a:endParaRPr lang="en-US" sz="2000" dirty="0"/>
          </a:p>
        </p:txBody>
      </p:sp>
      <p:sp>
        <p:nvSpPr>
          <p:cNvPr id="13" name="Text 11"/>
          <p:cNvSpPr/>
          <p:nvPr/>
        </p:nvSpPr>
        <p:spPr>
          <a:xfrm>
            <a:off x="2548890" y="1298448"/>
            <a:ext cx="1954530" cy="347472"/>
          </a:xfrm>
          <a:prstGeom prst="rect">
            <a:avLst/>
          </a:prstGeom>
          <a:noFill/>
          <a:ln/>
        </p:spPr>
        <p:txBody>
          <a:bodyPr wrap="square" rtlCol="0" anchor="t"/>
          <a:lstStyle/>
          <a:p>
            <a:pPr algn="ctr" indent="0" marL="0">
              <a:lnSpc>
                <a:spcPct val="110000"/>
              </a:lnSpc>
              <a:buNone/>
            </a:pPr>
            <a:r>
              <a:rPr lang="en-US" sz="900" dirty="0">
                <a:solidFill>
                  <a:srgbClr val="4A5568"/>
                </a:solidFill>
                <a:latin typeface="Calibri" pitchFamily="34" charset="0"/>
                <a:ea typeface="Calibri" pitchFamily="34" charset="-122"/>
                <a:cs typeface="Calibri" pitchFamily="34" charset="-120"/>
              </a:rPr>
              <a:t>Completion</a:t>
            </a:r>
            <a:endParaRPr lang="en-US" sz="900" dirty="0"/>
          </a:p>
          <a:p>
            <a:pPr algn="ctr" indent="0" marL="0">
              <a:lnSpc>
                <a:spcPct val="110000"/>
              </a:lnSpc>
              <a:buNone/>
            </a:pPr>
            <a:r>
              <a:rPr lang="en-US" sz="900" dirty="0">
                <a:solidFill>
                  <a:srgbClr val="4A5568"/>
                </a:solidFill>
                <a:latin typeface="Calibri" pitchFamily="34" charset="0"/>
                <a:ea typeface="Calibri" pitchFamily="34" charset="-122"/>
                <a:cs typeface="Calibri" pitchFamily="34" charset="-120"/>
              </a:rPr>
              <a:t>Factor</a:t>
            </a:r>
            <a:endParaRPr lang="en-US" sz="900" dirty="0"/>
          </a:p>
        </p:txBody>
      </p:sp>
      <p:sp>
        <p:nvSpPr>
          <p:cNvPr id="14" name="Shape 12"/>
          <p:cNvSpPr/>
          <p:nvPr/>
        </p:nvSpPr>
        <p:spPr>
          <a:xfrm>
            <a:off x="4640580" y="749808"/>
            <a:ext cx="1954530" cy="914400"/>
          </a:xfrm>
          <a:prstGeom prst="rect">
            <a:avLst/>
          </a:prstGeom>
          <a:solidFill>
            <a:srgbClr val="FFFFFF"/>
          </a:solidFill>
          <a:ln w="12700">
            <a:solidFill>
              <a:srgbClr val="CBD5E0"/>
            </a:solidFill>
            <a:prstDash val="solid"/>
          </a:ln>
        </p:spPr>
      </p:sp>
      <p:sp>
        <p:nvSpPr>
          <p:cNvPr id="15" name="Shape 13"/>
          <p:cNvSpPr/>
          <p:nvPr/>
        </p:nvSpPr>
        <p:spPr>
          <a:xfrm>
            <a:off x="4640580" y="749808"/>
            <a:ext cx="1954530" cy="36576"/>
          </a:xfrm>
          <a:prstGeom prst="rect">
            <a:avLst/>
          </a:prstGeom>
          <a:solidFill>
            <a:srgbClr val="1A2744"/>
          </a:solidFill>
          <a:ln/>
        </p:spPr>
      </p:sp>
      <p:sp>
        <p:nvSpPr>
          <p:cNvPr id="16" name="Text 14"/>
          <p:cNvSpPr/>
          <p:nvPr/>
        </p:nvSpPr>
        <p:spPr>
          <a:xfrm>
            <a:off x="4640580" y="822960"/>
            <a:ext cx="1954530" cy="475488"/>
          </a:xfrm>
          <a:prstGeom prst="rect">
            <a:avLst/>
          </a:prstGeom>
          <a:noFill/>
          <a:ln/>
        </p:spPr>
        <p:txBody>
          <a:bodyPr wrap="square" rtlCol="0" anchor="ctr"/>
          <a:lstStyle/>
          <a:p>
            <a:pPr algn="ctr" indent="0" marL="0">
              <a:buNone/>
            </a:pPr>
            <a:r>
              <a:rPr lang="en-US" sz="2000" b="1" dirty="0">
                <a:solidFill>
                  <a:srgbClr val="1A2744"/>
                </a:solidFill>
                <a:latin typeface="Calibri" pitchFamily="34" charset="0"/>
                <a:ea typeface="Calibri" pitchFamily="34" charset="-122"/>
                <a:cs typeface="Calibri" pitchFamily="34" charset="-120"/>
              </a:rPr>
              <a:t>#1</a:t>
            </a:r>
            <a:endParaRPr lang="en-US" sz="2000" dirty="0"/>
          </a:p>
        </p:txBody>
      </p:sp>
      <p:sp>
        <p:nvSpPr>
          <p:cNvPr id="17" name="Text 15"/>
          <p:cNvSpPr/>
          <p:nvPr/>
        </p:nvSpPr>
        <p:spPr>
          <a:xfrm>
            <a:off x="4640580" y="1298448"/>
            <a:ext cx="1954530" cy="347472"/>
          </a:xfrm>
          <a:prstGeom prst="rect">
            <a:avLst/>
          </a:prstGeom>
          <a:noFill/>
          <a:ln/>
        </p:spPr>
        <p:txBody>
          <a:bodyPr wrap="square" rtlCol="0" anchor="t"/>
          <a:lstStyle/>
          <a:p>
            <a:pPr algn="ctr" indent="0" marL="0">
              <a:lnSpc>
                <a:spcPct val="110000"/>
              </a:lnSpc>
              <a:buNone/>
            </a:pPr>
            <a:r>
              <a:rPr lang="en-US" sz="900" dirty="0">
                <a:solidFill>
                  <a:srgbClr val="4A5568"/>
                </a:solidFill>
                <a:latin typeface="Calibri" pitchFamily="34" charset="0"/>
                <a:ea typeface="Calibri" pitchFamily="34" charset="-122"/>
                <a:cs typeface="Calibri" pitchFamily="34" charset="-120"/>
              </a:rPr>
              <a:t>DOT Customer</a:t>
            </a:r>
            <a:endParaRPr lang="en-US" sz="900" dirty="0"/>
          </a:p>
          <a:p>
            <a:pPr algn="ctr" indent="0" marL="0">
              <a:lnSpc>
                <a:spcPct val="110000"/>
              </a:lnSpc>
              <a:buNone/>
            </a:pPr>
            <a:r>
              <a:rPr lang="en-US" sz="900" dirty="0">
                <a:solidFill>
                  <a:srgbClr val="4A5568"/>
                </a:solidFill>
                <a:latin typeface="Calibri" pitchFamily="34" charset="0"/>
                <a:ea typeface="Calibri" pitchFamily="34" charset="-122"/>
                <a:cs typeface="Calibri" pitchFamily="34" charset="-120"/>
              </a:rPr>
              <a:t>Complaints (major carriers)</a:t>
            </a:r>
            <a:endParaRPr lang="en-US" sz="900" dirty="0"/>
          </a:p>
        </p:txBody>
      </p:sp>
      <p:sp>
        <p:nvSpPr>
          <p:cNvPr id="18" name="Shape 16"/>
          <p:cNvSpPr/>
          <p:nvPr/>
        </p:nvSpPr>
        <p:spPr>
          <a:xfrm>
            <a:off x="6732270" y="749808"/>
            <a:ext cx="1954530" cy="914400"/>
          </a:xfrm>
          <a:prstGeom prst="rect">
            <a:avLst/>
          </a:prstGeom>
          <a:solidFill>
            <a:srgbClr val="FFFFFF"/>
          </a:solidFill>
          <a:ln w="12700">
            <a:solidFill>
              <a:srgbClr val="CBD5E0"/>
            </a:solidFill>
            <a:prstDash val="solid"/>
          </a:ln>
        </p:spPr>
      </p:sp>
      <p:sp>
        <p:nvSpPr>
          <p:cNvPr id="19" name="Shape 17"/>
          <p:cNvSpPr/>
          <p:nvPr/>
        </p:nvSpPr>
        <p:spPr>
          <a:xfrm>
            <a:off x="6732270" y="749808"/>
            <a:ext cx="1954530" cy="36576"/>
          </a:xfrm>
          <a:prstGeom prst="rect">
            <a:avLst/>
          </a:prstGeom>
          <a:solidFill>
            <a:srgbClr val="1A2744"/>
          </a:solidFill>
          <a:ln/>
        </p:spPr>
      </p:sp>
      <p:sp>
        <p:nvSpPr>
          <p:cNvPr id="20" name="Text 18"/>
          <p:cNvSpPr/>
          <p:nvPr/>
        </p:nvSpPr>
        <p:spPr>
          <a:xfrm>
            <a:off x="6732270" y="822960"/>
            <a:ext cx="1954530" cy="475488"/>
          </a:xfrm>
          <a:prstGeom prst="rect">
            <a:avLst/>
          </a:prstGeom>
          <a:noFill/>
          <a:ln/>
        </p:spPr>
        <p:txBody>
          <a:bodyPr wrap="square" rtlCol="0" anchor="ctr"/>
          <a:lstStyle/>
          <a:p>
            <a:pPr algn="ctr" indent="0" marL="0">
              <a:buNone/>
            </a:pPr>
            <a:r>
              <a:rPr lang="en-US" sz="2000" b="1" dirty="0">
                <a:solidFill>
                  <a:srgbClr val="1A2744"/>
                </a:solidFill>
                <a:latin typeface="Calibri" pitchFamily="34" charset="0"/>
                <a:ea typeface="Calibri" pitchFamily="34" charset="-122"/>
                <a:cs typeface="Calibri" pitchFamily="34" charset="-120"/>
              </a:rPr>
              <a:t>+6%</a:t>
            </a:r>
            <a:endParaRPr lang="en-US" sz="2000" dirty="0"/>
          </a:p>
        </p:txBody>
      </p:sp>
      <p:sp>
        <p:nvSpPr>
          <p:cNvPr id="21" name="Text 19"/>
          <p:cNvSpPr/>
          <p:nvPr/>
        </p:nvSpPr>
        <p:spPr>
          <a:xfrm>
            <a:off x="6732270" y="1298448"/>
            <a:ext cx="1954530" cy="347472"/>
          </a:xfrm>
          <a:prstGeom prst="rect">
            <a:avLst/>
          </a:prstGeom>
          <a:noFill/>
          <a:ln/>
        </p:spPr>
        <p:txBody>
          <a:bodyPr wrap="square" rtlCol="0" anchor="t"/>
          <a:lstStyle/>
          <a:p>
            <a:pPr algn="ctr" indent="0" marL="0">
              <a:lnSpc>
                <a:spcPct val="110000"/>
              </a:lnSpc>
              <a:buNone/>
            </a:pPr>
            <a:r>
              <a:rPr lang="en-US" sz="900" dirty="0">
                <a:solidFill>
                  <a:srgbClr val="4A5568"/>
                </a:solidFill>
                <a:latin typeface="Calibri" pitchFamily="34" charset="0"/>
                <a:ea typeface="Calibri" pitchFamily="34" charset="-122"/>
                <a:cs typeface="Calibri" pitchFamily="34" charset="-120"/>
              </a:rPr>
              <a:t>Corporate Travel</a:t>
            </a:r>
            <a:endParaRPr lang="en-US" sz="900" dirty="0"/>
          </a:p>
          <a:p>
            <a:pPr algn="ctr" indent="0" marL="0">
              <a:lnSpc>
                <a:spcPct val="110000"/>
              </a:lnSpc>
              <a:buNone/>
            </a:pPr>
            <a:r>
              <a:rPr lang="en-US" sz="900" dirty="0">
                <a:solidFill>
                  <a:srgbClr val="4A5568"/>
                </a:solidFill>
                <a:latin typeface="Calibri" pitchFamily="34" charset="0"/>
                <a:ea typeface="Calibri" pitchFamily="34" charset="-122"/>
                <a:cs typeface="Calibri" pitchFamily="34" charset="-120"/>
              </a:rPr>
              <a:t>Recovery YoY</a:t>
            </a:r>
            <a:endParaRPr lang="en-US" sz="900" dirty="0"/>
          </a:p>
        </p:txBody>
      </p:sp>
      <p:sp>
        <p:nvSpPr>
          <p:cNvPr id="22" name="Text 20"/>
          <p:cNvSpPr/>
          <p:nvPr/>
        </p:nvSpPr>
        <p:spPr>
          <a:xfrm>
            <a:off x="457200" y="1847088"/>
            <a:ext cx="8229600" cy="182880"/>
          </a:xfrm>
          <a:prstGeom prst="rect">
            <a:avLst/>
          </a:prstGeom>
          <a:noFill/>
          <a:ln/>
        </p:spPr>
        <p:txBody>
          <a:bodyPr wrap="square" rtlCol="0" anchor="ctr"/>
          <a:lstStyle/>
          <a:p>
            <a:pPr algn="l" indent="0" marL="0">
              <a:buNone/>
            </a:pPr>
            <a:r>
              <a:rPr lang="en-US" sz="900" b="1" dirty="0">
                <a:solidFill>
                  <a:srgbClr val="1A2744"/>
                </a:solidFill>
                <a:latin typeface="Calibri" pitchFamily="34" charset="0"/>
                <a:ea typeface="Calibri" pitchFamily="34" charset="-122"/>
                <a:cs typeface="Calibri" pitchFamily="34" charset="-120"/>
              </a:rPr>
              <a:t>DEMAND SIGNALS &amp; FORWARD INDICATORS</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2066544"/>
          <a:ext cx="8229600" cy="914400"/>
        </p:xfrm>
        <a:graphic>
          <a:graphicData uri="http://schemas.openxmlformats.org/drawingml/2006/table">
            <a:tbl>
              <a:tblPr/>
              <a:tblGrid>
                <a:gridCol w="2377440"/>
                <a:gridCol w="1463040"/>
                <a:gridCol w="4389120"/>
              </a:tblGrid>
              <a:tr h="256032">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Indicator</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Status</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Commentary</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r>
              <a:tr h="256032">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Forward Bookings</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+5–7% YoY</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Domestic and international leisure strong</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r>
              <a:tr h="256032">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Corporate Travel Recovery</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~95% of 2019</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Tech and financial services leading</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r h="256032">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Premium Cabin Load Factor</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81%</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Polaris and P+ running near full</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r>
              <a:tr h="256032">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International Long-Haul LF</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86%</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Trans-Pacific and Trans-Atlantic robust</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r h="256032">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Loyalty Enrollments</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+12% YoY</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MileagePlus 110M+ members</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457200" y="91440"/>
            <a:ext cx="8229600" cy="457200"/>
          </a:xfrm>
          <a:prstGeom prst="rect">
            <a:avLst/>
          </a:prstGeom>
          <a:noFill/>
          <a:ln/>
        </p:spPr>
        <p:txBody>
          <a:bodyPr wrap="square"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Balance Sheet &amp; Deleveraging Progress</a:t>
            </a:r>
            <a:endParaRPr lang="en-US" sz="1500" dirty="0"/>
          </a:p>
        </p:txBody>
      </p:sp>
      <p:sp>
        <p:nvSpPr>
          <p:cNvPr id="4" name="Shape 2"/>
          <p:cNvSpPr/>
          <p:nvPr/>
        </p:nvSpPr>
        <p:spPr>
          <a:xfrm>
            <a:off x="0" y="4892040"/>
            <a:ext cx="9144000" cy="251460"/>
          </a:xfrm>
          <a:prstGeom prst="rect">
            <a:avLst/>
          </a:prstGeom>
          <a:solidFill>
            <a:srgbClr val="CBD5E0">
              <a:alpha val="60000"/>
            </a:srgbClr>
          </a:solidFill>
          <a:ln/>
        </p:spPr>
      </p:sp>
      <p:sp>
        <p:nvSpPr>
          <p:cNvPr id="5" name="Text 3"/>
          <p:cNvSpPr/>
          <p:nvPr/>
        </p:nvSpPr>
        <p:spPr>
          <a:xfrm>
            <a:off x="457200" y="4910328"/>
            <a:ext cx="8229600" cy="182880"/>
          </a:xfrm>
          <a:prstGeom prst="rect">
            <a:avLst/>
          </a:prstGeom>
          <a:noFill/>
          <a:ln/>
        </p:spPr>
        <p:txBody>
          <a:bodyPr wrap="square" rtlCol="0" anchor="ctr"/>
          <a:lstStyle/>
          <a:p>
            <a:pPr algn="l" indent="0" marL="0">
              <a:buNone/>
            </a:pPr>
            <a:r>
              <a:rPr lang="en-US" sz="700" dirty="0">
                <a:solidFill>
                  <a:srgbClr val="4A5568"/>
                </a:solidFill>
                <a:latin typeface="Calibri" pitchFamily="34" charset="0"/>
                <a:ea typeface="Calibri" pitchFamily="34" charset="-122"/>
                <a:cs typeface="Calibri" pitchFamily="34" charset="-120"/>
              </a:rPr>
              <a:t>United Airlines Holdings  |  NASDAQ: UAL  |  FY2025 Investor Presentation</a:t>
            </a:r>
            <a:endParaRPr lang="en-US" sz="7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749808"/>
          <a:ext cx="6949440" cy="914400"/>
        </p:xfrm>
        <a:graphic>
          <a:graphicData uri="http://schemas.openxmlformats.org/drawingml/2006/table">
            <a:tbl>
              <a:tblPr/>
              <a:tblGrid>
                <a:gridCol w="2560320"/>
                <a:gridCol w="1463040"/>
                <a:gridCol w="1463040"/>
                <a:gridCol w="1463040"/>
              </a:tblGrid>
              <a:tr h="27432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Metric</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FY2023</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FY2024</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FY2025</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r>
              <a:tr h="274320">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Total Debt ($B)</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$33.8</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$31.5</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$29.2</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r>
              <a:tr h="274320">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Net Debt ($B)</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~$30.0</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~$27.8</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~$26.0</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r h="274320">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Adj Net Leverage (x)</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3.5x</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2.9x</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2.6x</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r>
              <a:tr h="274320">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Interest Coverage (x)</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3.1x</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3.8x</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4.5x</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r h="274320">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Cash &amp; Equivalents ($B)</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$6.0</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$6.3</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$6.8</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r>
            </a:tbl>
          </a:graphicData>
        </a:graphic>
      </p:graphicFrame>
      <p:sp>
        <p:nvSpPr>
          <p:cNvPr id="7" name="Shape 4"/>
          <p:cNvSpPr/>
          <p:nvPr/>
        </p:nvSpPr>
        <p:spPr>
          <a:xfrm>
            <a:off x="457200" y="2532888"/>
            <a:ext cx="8229600" cy="502920"/>
          </a:xfrm>
          <a:prstGeom prst="rect">
            <a:avLst/>
          </a:prstGeom>
          <a:solidFill>
            <a:srgbClr val="1A2744"/>
          </a:solidFill>
          <a:ln w="12700">
            <a:solidFill>
              <a:srgbClr val="D4A843"/>
            </a:solidFill>
            <a:prstDash val="solid"/>
          </a:ln>
        </p:spPr>
      </p:sp>
      <p:sp>
        <p:nvSpPr>
          <p:cNvPr id="8" name="Text 5"/>
          <p:cNvSpPr/>
          <p:nvPr/>
        </p:nvSpPr>
        <p:spPr>
          <a:xfrm>
            <a:off x="457200" y="2532888"/>
            <a:ext cx="8229600" cy="502920"/>
          </a:xfrm>
          <a:prstGeom prst="rect">
            <a:avLst/>
          </a:prstGeom>
          <a:noFill/>
          <a:ln/>
        </p:spPr>
        <p:txBody>
          <a:bodyPr wrap="square" lIns="50800" tIns="76200" rIns="76200" bIns="50800" rtlCol="0" anchor="ctr"/>
          <a:lstStyle/>
          <a:p>
            <a:pPr algn="ctr" indent="0" marL="0">
              <a:lnSpc>
                <a:spcPct val="120000"/>
              </a:lnSpc>
              <a:buNone/>
            </a:pPr>
            <a:r>
              <a:rPr lang="en-US" sz="1000" dirty="0">
                <a:solidFill>
                  <a:srgbClr val="FFFFFF"/>
                </a:solidFill>
                <a:latin typeface="Calibri" pitchFamily="34" charset="0"/>
                <a:ea typeface="Calibri" pitchFamily="34" charset="-122"/>
                <a:cs typeface="Calibri" pitchFamily="34" charset="-120"/>
              </a:rPr>
              <a:t>MileagePlus program: $20B+ estimated value — provides significant off-balance-sheet asset quality. Secured notes backed by MileagePlus IP and brand agreements.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457200" y="91440"/>
            <a:ext cx="8229600" cy="457200"/>
          </a:xfrm>
          <a:prstGeom prst="rect">
            <a:avLst/>
          </a:prstGeom>
          <a:noFill/>
          <a:ln/>
        </p:spPr>
        <p:txBody>
          <a:bodyPr wrap="square"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Cash Flow &amp; Capital Allocation  |  FY2025</a:t>
            </a:r>
            <a:endParaRPr lang="en-US" sz="1500" dirty="0"/>
          </a:p>
        </p:txBody>
      </p:sp>
      <p:sp>
        <p:nvSpPr>
          <p:cNvPr id="4" name="Shape 2"/>
          <p:cNvSpPr/>
          <p:nvPr/>
        </p:nvSpPr>
        <p:spPr>
          <a:xfrm>
            <a:off x="0" y="4892040"/>
            <a:ext cx="9144000" cy="251460"/>
          </a:xfrm>
          <a:prstGeom prst="rect">
            <a:avLst/>
          </a:prstGeom>
          <a:solidFill>
            <a:srgbClr val="CBD5E0">
              <a:alpha val="60000"/>
            </a:srgbClr>
          </a:solidFill>
          <a:ln/>
        </p:spPr>
      </p:sp>
      <p:sp>
        <p:nvSpPr>
          <p:cNvPr id="5" name="Text 3"/>
          <p:cNvSpPr/>
          <p:nvPr/>
        </p:nvSpPr>
        <p:spPr>
          <a:xfrm>
            <a:off x="457200" y="4910328"/>
            <a:ext cx="8229600" cy="182880"/>
          </a:xfrm>
          <a:prstGeom prst="rect">
            <a:avLst/>
          </a:prstGeom>
          <a:noFill/>
          <a:ln/>
        </p:spPr>
        <p:txBody>
          <a:bodyPr wrap="square" rtlCol="0" anchor="ctr"/>
          <a:lstStyle/>
          <a:p>
            <a:pPr algn="l" indent="0" marL="0">
              <a:buNone/>
            </a:pPr>
            <a:r>
              <a:rPr lang="en-US" sz="700" dirty="0">
                <a:solidFill>
                  <a:srgbClr val="4A5568"/>
                </a:solidFill>
                <a:latin typeface="Calibri" pitchFamily="34" charset="0"/>
                <a:ea typeface="Calibri" pitchFamily="34" charset="-122"/>
                <a:cs typeface="Calibri" pitchFamily="34" charset="-120"/>
              </a:rPr>
              <a:t>United Airlines Holdings  |  NASDAQ: UAL  |  FY2025 Investor Presentation</a:t>
            </a:r>
            <a:endParaRPr lang="en-US" sz="700" dirty="0"/>
          </a:p>
        </p:txBody>
      </p:sp>
      <p:sp>
        <p:nvSpPr>
          <p:cNvPr id="6" name="Shape 4"/>
          <p:cNvSpPr/>
          <p:nvPr/>
        </p:nvSpPr>
        <p:spPr>
          <a:xfrm>
            <a:off x="457200" y="749808"/>
            <a:ext cx="2286000" cy="914400"/>
          </a:xfrm>
          <a:prstGeom prst="rect">
            <a:avLst/>
          </a:prstGeom>
          <a:solidFill>
            <a:srgbClr val="FFFFFF"/>
          </a:solidFill>
          <a:ln w="12700">
            <a:solidFill>
              <a:srgbClr val="CBD5E0"/>
            </a:solidFill>
            <a:prstDash val="solid"/>
          </a:ln>
        </p:spPr>
      </p:sp>
      <p:sp>
        <p:nvSpPr>
          <p:cNvPr id="7" name="Shape 5"/>
          <p:cNvSpPr/>
          <p:nvPr/>
        </p:nvSpPr>
        <p:spPr>
          <a:xfrm>
            <a:off x="457200" y="749808"/>
            <a:ext cx="2286000" cy="36576"/>
          </a:xfrm>
          <a:prstGeom prst="rect">
            <a:avLst/>
          </a:prstGeom>
          <a:solidFill>
            <a:srgbClr val="1A2744"/>
          </a:solidFill>
          <a:ln/>
        </p:spPr>
      </p:sp>
      <p:sp>
        <p:nvSpPr>
          <p:cNvPr id="8" name="Text 6"/>
          <p:cNvSpPr/>
          <p:nvPr/>
        </p:nvSpPr>
        <p:spPr>
          <a:xfrm>
            <a:off x="457200" y="822960"/>
            <a:ext cx="2286000" cy="475488"/>
          </a:xfrm>
          <a:prstGeom prst="rect">
            <a:avLst/>
          </a:prstGeom>
          <a:noFill/>
          <a:ln/>
        </p:spPr>
        <p:txBody>
          <a:bodyPr wrap="square" rtlCol="0" anchor="ctr"/>
          <a:lstStyle/>
          <a:p>
            <a:pPr algn="ctr" indent="0" marL="0">
              <a:buNone/>
            </a:pPr>
            <a:r>
              <a:rPr lang="en-US" sz="2200" b="1" dirty="0">
                <a:solidFill>
                  <a:srgbClr val="1A2744"/>
                </a:solidFill>
                <a:latin typeface="Calibri" pitchFamily="34" charset="0"/>
                <a:ea typeface="Calibri" pitchFamily="34" charset="-122"/>
                <a:cs typeface="Calibri" pitchFamily="34" charset="-120"/>
              </a:rPr>
              <a:t>$5.8B</a:t>
            </a:r>
            <a:endParaRPr lang="en-US" sz="2200" dirty="0"/>
          </a:p>
        </p:txBody>
      </p:sp>
      <p:sp>
        <p:nvSpPr>
          <p:cNvPr id="9" name="Text 7"/>
          <p:cNvSpPr/>
          <p:nvPr/>
        </p:nvSpPr>
        <p:spPr>
          <a:xfrm>
            <a:off x="457200" y="1298448"/>
            <a:ext cx="2286000" cy="347472"/>
          </a:xfrm>
          <a:prstGeom prst="rect">
            <a:avLst/>
          </a:prstGeom>
          <a:noFill/>
          <a:ln/>
        </p:spPr>
        <p:txBody>
          <a:bodyPr wrap="square" rtlCol="0" anchor="t"/>
          <a:lstStyle/>
          <a:p>
            <a:pPr algn="ctr" indent="0" marL="0">
              <a:lnSpc>
                <a:spcPct val="110000"/>
              </a:lnSpc>
              <a:buNone/>
            </a:pPr>
            <a:r>
              <a:rPr lang="en-US" sz="900" dirty="0">
                <a:solidFill>
                  <a:srgbClr val="4A5568"/>
                </a:solidFill>
                <a:latin typeface="Calibri" pitchFamily="34" charset="0"/>
                <a:ea typeface="Calibri" pitchFamily="34" charset="-122"/>
                <a:cs typeface="Calibri" pitchFamily="34" charset="-120"/>
              </a:rPr>
              <a:t>Operating</a:t>
            </a:r>
            <a:endParaRPr lang="en-US" sz="900" dirty="0"/>
          </a:p>
          <a:p>
            <a:pPr algn="ctr" indent="0" marL="0">
              <a:lnSpc>
                <a:spcPct val="110000"/>
              </a:lnSpc>
              <a:buNone/>
            </a:pPr>
            <a:r>
              <a:rPr lang="en-US" sz="900" dirty="0">
                <a:solidFill>
                  <a:srgbClr val="4A5568"/>
                </a:solidFill>
                <a:latin typeface="Calibri" pitchFamily="34" charset="0"/>
                <a:ea typeface="Calibri" pitchFamily="34" charset="-122"/>
                <a:cs typeface="Calibri" pitchFamily="34" charset="-120"/>
              </a:rPr>
              <a:t>Cash Flow</a:t>
            </a:r>
            <a:endParaRPr lang="en-US" sz="900" dirty="0"/>
          </a:p>
        </p:txBody>
      </p:sp>
      <p:sp>
        <p:nvSpPr>
          <p:cNvPr id="10" name="Shape 8"/>
          <p:cNvSpPr/>
          <p:nvPr/>
        </p:nvSpPr>
        <p:spPr>
          <a:xfrm>
            <a:off x="3017520" y="749808"/>
            <a:ext cx="2286000" cy="914400"/>
          </a:xfrm>
          <a:prstGeom prst="rect">
            <a:avLst/>
          </a:prstGeom>
          <a:solidFill>
            <a:srgbClr val="FFFFFF"/>
          </a:solidFill>
          <a:ln w="12700">
            <a:solidFill>
              <a:srgbClr val="CBD5E0"/>
            </a:solidFill>
            <a:prstDash val="solid"/>
          </a:ln>
        </p:spPr>
      </p:sp>
      <p:sp>
        <p:nvSpPr>
          <p:cNvPr id="11" name="Shape 9"/>
          <p:cNvSpPr/>
          <p:nvPr/>
        </p:nvSpPr>
        <p:spPr>
          <a:xfrm>
            <a:off x="3017520" y="749808"/>
            <a:ext cx="2286000" cy="36576"/>
          </a:xfrm>
          <a:prstGeom prst="rect">
            <a:avLst/>
          </a:prstGeom>
          <a:solidFill>
            <a:srgbClr val="1A2744"/>
          </a:solidFill>
          <a:ln/>
        </p:spPr>
      </p:sp>
      <p:sp>
        <p:nvSpPr>
          <p:cNvPr id="12" name="Text 10"/>
          <p:cNvSpPr/>
          <p:nvPr/>
        </p:nvSpPr>
        <p:spPr>
          <a:xfrm>
            <a:off x="3017520" y="822960"/>
            <a:ext cx="2286000" cy="475488"/>
          </a:xfrm>
          <a:prstGeom prst="rect">
            <a:avLst/>
          </a:prstGeom>
          <a:noFill/>
          <a:ln/>
        </p:spPr>
        <p:txBody>
          <a:bodyPr wrap="square" rtlCol="0" anchor="ctr"/>
          <a:lstStyle/>
          <a:p>
            <a:pPr algn="ctr" indent="0" marL="0">
              <a:buNone/>
            </a:pPr>
            <a:r>
              <a:rPr lang="en-US" sz="2200" b="1" dirty="0">
                <a:solidFill>
                  <a:srgbClr val="1A2744"/>
                </a:solidFill>
                <a:latin typeface="Calibri" pitchFamily="34" charset="0"/>
                <a:ea typeface="Calibri" pitchFamily="34" charset="-122"/>
                <a:cs typeface="Calibri" pitchFamily="34" charset="-120"/>
              </a:rPr>
              <a:t>($3.7B)</a:t>
            </a:r>
            <a:endParaRPr lang="en-US" sz="2200" dirty="0"/>
          </a:p>
        </p:txBody>
      </p:sp>
      <p:sp>
        <p:nvSpPr>
          <p:cNvPr id="13" name="Text 11"/>
          <p:cNvSpPr/>
          <p:nvPr/>
        </p:nvSpPr>
        <p:spPr>
          <a:xfrm>
            <a:off x="3017520" y="1298448"/>
            <a:ext cx="2286000" cy="347472"/>
          </a:xfrm>
          <a:prstGeom prst="rect">
            <a:avLst/>
          </a:prstGeom>
          <a:noFill/>
          <a:ln/>
        </p:spPr>
        <p:txBody>
          <a:bodyPr wrap="square" rtlCol="0" anchor="t"/>
          <a:lstStyle/>
          <a:p>
            <a:pPr algn="ctr" indent="0" marL="0">
              <a:lnSpc>
                <a:spcPct val="110000"/>
              </a:lnSpc>
              <a:buNone/>
            </a:pPr>
            <a:r>
              <a:rPr lang="en-US" sz="900" dirty="0">
                <a:solidFill>
                  <a:srgbClr val="4A5568"/>
                </a:solidFill>
                <a:latin typeface="Calibri" pitchFamily="34" charset="0"/>
                <a:ea typeface="Calibri" pitchFamily="34" charset="-122"/>
                <a:cs typeface="Calibri" pitchFamily="34" charset="-120"/>
              </a:rPr>
              <a:t>Capital</a:t>
            </a:r>
            <a:endParaRPr lang="en-US" sz="900" dirty="0"/>
          </a:p>
          <a:p>
            <a:pPr algn="ctr" indent="0" marL="0">
              <a:lnSpc>
                <a:spcPct val="110000"/>
              </a:lnSpc>
              <a:buNone/>
            </a:pPr>
            <a:r>
              <a:rPr lang="en-US" sz="900" dirty="0">
                <a:solidFill>
                  <a:srgbClr val="4A5568"/>
                </a:solidFill>
                <a:latin typeface="Calibri" pitchFamily="34" charset="0"/>
                <a:ea typeface="Calibri" pitchFamily="34" charset="-122"/>
                <a:cs typeface="Calibri" pitchFamily="34" charset="-120"/>
              </a:rPr>
              <a:t>Expenditures</a:t>
            </a:r>
            <a:endParaRPr lang="en-US" sz="900" dirty="0"/>
          </a:p>
        </p:txBody>
      </p:sp>
      <p:sp>
        <p:nvSpPr>
          <p:cNvPr id="14" name="Shape 12"/>
          <p:cNvSpPr/>
          <p:nvPr/>
        </p:nvSpPr>
        <p:spPr>
          <a:xfrm>
            <a:off x="5577840" y="749808"/>
            <a:ext cx="2286000" cy="914400"/>
          </a:xfrm>
          <a:prstGeom prst="rect">
            <a:avLst/>
          </a:prstGeom>
          <a:solidFill>
            <a:srgbClr val="FFFFFF"/>
          </a:solidFill>
          <a:ln w="12700">
            <a:solidFill>
              <a:srgbClr val="CBD5E0"/>
            </a:solidFill>
            <a:prstDash val="solid"/>
          </a:ln>
        </p:spPr>
      </p:sp>
      <p:sp>
        <p:nvSpPr>
          <p:cNvPr id="15" name="Shape 13"/>
          <p:cNvSpPr/>
          <p:nvPr/>
        </p:nvSpPr>
        <p:spPr>
          <a:xfrm>
            <a:off x="5577840" y="749808"/>
            <a:ext cx="2286000" cy="36576"/>
          </a:xfrm>
          <a:prstGeom prst="rect">
            <a:avLst/>
          </a:prstGeom>
          <a:solidFill>
            <a:srgbClr val="2D7D46"/>
          </a:solidFill>
          <a:ln/>
        </p:spPr>
      </p:sp>
      <p:sp>
        <p:nvSpPr>
          <p:cNvPr id="16" name="Text 14"/>
          <p:cNvSpPr/>
          <p:nvPr/>
        </p:nvSpPr>
        <p:spPr>
          <a:xfrm>
            <a:off x="5577840" y="822960"/>
            <a:ext cx="2286000" cy="475488"/>
          </a:xfrm>
          <a:prstGeom prst="rect">
            <a:avLst/>
          </a:prstGeom>
          <a:noFill/>
          <a:ln/>
        </p:spPr>
        <p:txBody>
          <a:bodyPr wrap="square" rtlCol="0" anchor="ctr"/>
          <a:lstStyle/>
          <a:p>
            <a:pPr algn="ctr" indent="0" marL="0">
              <a:buNone/>
            </a:pPr>
            <a:r>
              <a:rPr lang="en-US" sz="2200" b="1" dirty="0">
                <a:solidFill>
                  <a:srgbClr val="1A2744"/>
                </a:solidFill>
                <a:latin typeface="Calibri" pitchFamily="34" charset="0"/>
                <a:ea typeface="Calibri" pitchFamily="34" charset="-122"/>
                <a:cs typeface="Calibri" pitchFamily="34" charset="-120"/>
              </a:rPr>
              <a:t>$2.1B</a:t>
            </a:r>
            <a:endParaRPr lang="en-US" sz="2200" dirty="0"/>
          </a:p>
        </p:txBody>
      </p:sp>
      <p:sp>
        <p:nvSpPr>
          <p:cNvPr id="17" name="Text 15"/>
          <p:cNvSpPr/>
          <p:nvPr/>
        </p:nvSpPr>
        <p:spPr>
          <a:xfrm>
            <a:off x="5577840" y="1298448"/>
            <a:ext cx="2286000" cy="347472"/>
          </a:xfrm>
          <a:prstGeom prst="rect">
            <a:avLst/>
          </a:prstGeom>
          <a:noFill/>
          <a:ln/>
        </p:spPr>
        <p:txBody>
          <a:bodyPr wrap="square" rtlCol="0" anchor="t"/>
          <a:lstStyle/>
          <a:p>
            <a:pPr algn="ctr" indent="0" marL="0">
              <a:lnSpc>
                <a:spcPct val="110000"/>
              </a:lnSpc>
              <a:buNone/>
            </a:pPr>
            <a:r>
              <a:rPr lang="en-US" sz="900" dirty="0">
                <a:solidFill>
                  <a:srgbClr val="4A5568"/>
                </a:solidFill>
                <a:latin typeface="Calibri" pitchFamily="34" charset="0"/>
                <a:ea typeface="Calibri" pitchFamily="34" charset="-122"/>
                <a:cs typeface="Calibri" pitchFamily="34" charset="-120"/>
              </a:rPr>
              <a:t>Free</a:t>
            </a:r>
            <a:endParaRPr lang="en-US" sz="900" dirty="0"/>
          </a:p>
          <a:p>
            <a:pPr algn="ctr" indent="0" marL="0">
              <a:lnSpc>
                <a:spcPct val="110000"/>
              </a:lnSpc>
              <a:buNone/>
            </a:pPr>
            <a:r>
              <a:rPr lang="en-US" sz="900" dirty="0">
                <a:solidFill>
                  <a:srgbClr val="4A5568"/>
                </a:solidFill>
                <a:latin typeface="Calibri" pitchFamily="34" charset="0"/>
                <a:ea typeface="Calibri" pitchFamily="34" charset="-122"/>
                <a:cs typeface="Calibri" pitchFamily="34" charset="-120"/>
              </a:rPr>
              <a:t>Cash Flow</a:t>
            </a:r>
            <a:endParaRPr lang="en-US" sz="900" dirty="0"/>
          </a:p>
        </p:txBody>
      </p:sp>
      <p:sp>
        <p:nvSpPr>
          <p:cNvPr id="18" name="Text 16"/>
          <p:cNvSpPr/>
          <p:nvPr/>
        </p:nvSpPr>
        <p:spPr>
          <a:xfrm>
            <a:off x="457200" y="1847088"/>
            <a:ext cx="8229600" cy="182880"/>
          </a:xfrm>
          <a:prstGeom prst="rect">
            <a:avLst/>
          </a:prstGeom>
          <a:noFill/>
          <a:ln/>
        </p:spPr>
        <p:txBody>
          <a:bodyPr wrap="square" rtlCol="0" anchor="ctr"/>
          <a:lstStyle/>
          <a:p>
            <a:pPr algn="l" indent="0" marL="0">
              <a:buNone/>
            </a:pPr>
            <a:r>
              <a:rPr lang="en-US" sz="900" b="1" dirty="0">
                <a:solidFill>
                  <a:srgbClr val="1A2744"/>
                </a:solidFill>
                <a:latin typeface="Calibri" pitchFamily="34" charset="0"/>
                <a:ea typeface="Calibri" pitchFamily="34" charset="-122"/>
                <a:cs typeface="Calibri" pitchFamily="34" charset="-120"/>
              </a:rPr>
              <a:t>CAPITAL ALLOCATION PRIORITY STACK</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066544"/>
          <a:ext cx="8229600" cy="914400"/>
        </p:xfrm>
        <a:graphic>
          <a:graphicData uri="http://schemas.openxmlformats.org/drawingml/2006/table">
            <a:tbl>
              <a:tblPr/>
              <a:tblGrid>
                <a:gridCol w="594360"/>
                <a:gridCol w="2560320"/>
                <a:gridCol w="1371600"/>
                <a:gridCol w="2788920"/>
              </a:tblGrid>
              <a:tr h="256032">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Priority</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Initiative</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FY2025 Deployed</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Rationale</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r>
              <a:tr h="256032">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1st</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Debt Reduction</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$2.3B</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De-lever to &lt;2.0x target by 2027</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r>
              <a:tr h="256032">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2nd</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Fleet Investment (Capex)</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$3.7B</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Efficiency &amp; growth capex</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r h="256032">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3rd</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Liquidity Buffer</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$0.5B</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Maintain $6B+ cash target</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r>
              <a:tr h="256032">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4th</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Share Buybacks</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$0.5B</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Authorized $1B program</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457200" y="109728"/>
            <a:ext cx="8229600" cy="45720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FY2026 Guidance</a:t>
            </a:r>
            <a:endParaRPr lang="en-US" sz="1800" dirty="0"/>
          </a:p>
        </p:txBody>
      </p:sp>
      <p:sp>
        <p:nvSpPr>
          <p:cNvPr id="4" name="Shape 2"/>
          <p:cNvSpPr/>
          <p:nvPr/>
        </p:nvSpPr>
        <p:spPr>
          <a:xfrm>
            <a:off x="0" y="4892040"/>
            <a:ext cx="9144000" cy="251460"/>
          </a:xfrm>
          <a:prstGeom prst="rect">
            <a:avLst/>
          </a:prstGeom>
          <a:solidFill>
            <a:srgbClr val="253563">
              <a:alpha val="40000"/>
            </a:srgbClr>
          </a:solidFill>
          <a:ln/>
        </p:spPr>
      </p:sp>
      <p:sp>
        <p:nvSpPr>
          <p:cNvPr id="5" name="Text 3"/>
          <p:cNvSpPr/>
          <p:nvPr/>
        </p:nvSpPr>
        <p:spPr>
          <a:xfrm>
            <a:off x="457200" y="4910328"/>
            <a:ext cx="8229600" cy="182880"/>
          </a:xfrm>
          <a:prstGeom prst="rect">
            <a:avLst/>
          </a:prstGeom>
          <a:noFill/>
          <a:ln/>
        </p:spPr>
        <p:txBody>
          <a:bodyPr wrap="square" rtlCol="0" anchor="ctr"/>
          <a:lstStyle/>
          <a:p>
            <a:pPr algn="l" indent="0" marL="0">
              <a:buNone/>
            </a:pPr>
            <a:r>
              <a:rPr lang="en-US" sz="700" dirty="0">
                <a:solidFill>
                  <a:srgbClr val="D6E4F7"/>
                </a:solidFill>
                <a:latin typeface="Calibri" pitchFamily="34" charset="0"/>
                <a:ea typeface="Calibri" pitchFamily="34" charset="-122"/>
                <a:cs typeface="Calibri" pitchFamily="34" charset="-120"/>
              </a:rPr>
              <a:t>United Airlines Holdings  |  NASDAQ: UAL  |  FY2025 Investor Presentation</a:t>
            </a:r>
            <a:endParaRPr lang="en-US" sz="700" dirty="0"/>
          </a:p>
        </p:txBody>
      </p:sp>
      <p:sp>
        <p:nvSpPr>
          <p:cNvPr id="6" name="Shape 4"/>
          <p:cNvSpPr/>
          <p:nvPr/>
        </p:nvSpPr>
        <p:spPr>
          <a:xfrm>
            <a:off x="457200" y="676656"/>
            <a:ext cx="2590800" cy="1938528"/>
          </a:xfrm>
          <a:prstGeom prst="rect">
            <a:avLst/>
          </a:prstGeom>
          <a:solidFill>
            <a:srgbClr val="253563"/>
          </a:solidFill>
          <a:ln w="12700">
            <a:solidFill>
              <a:srgbClr val="D4A843"/>
            </a:solidFill>
            <a:prstDash val="solid"/>
          </a:ln>
        </p:spPr>
      </p:sp>
      <p:sp>
        <p:nvSpPr>
          <p:cNvPr id="7" name="Text 5"/>
          <p:cNvSpPr/>
          <p:nvPr/>
        </p:nvSpPr>
        <p:spPr>
          <a:xfrm>
            <a:off x="457200" y="870509"/>
            <a:ext cx="2590800" cy="969264"/>
          </a:xfrm>
          <a:prstGeom prst="rect">
            <a:avLst/>
          </a:prstGeom>
          <a:noFill/>
          <a:ln/>
        </p:spPr>
        <p:txBody>
          <a:bodyPr wrap="square" rtlCol="0" anchor="ctr"/>
          <a:lstStyle/>
          <a:p>
            <a:pPr algn="ctr" indent="0" marL="0">
              <a:buNone/>
            </a:pPr>
            <a:r>
              <a:rPr lang="en-US" sz="2200" b="1" dirty="0">
                <a:solidFill>
                  <a:srgbClr val="D4A843"/>
                </a:solidFill>
                <a:latin typeface="Calibri" pitchFamily="34" charset="0"/>
                <a:ea typeface="Calibri" pitchFamily="34" charset="-122"/>
                <a:cs typeface="Calibri" pitchFamily="34" charset="-120"/>
              </a:rPr>
              <a:t>$12–14</a:t>
            </a:r>
            <a:endParaRPr lang="en-US" sz="2200" dirty="0"/>
          </a:p>
        </p:txBody>
      </p:sp>
      <p:sp>
        <p:nvSpPr>
          <p:cNvPr id="8" name="Text 6"/>
          <p:cNvSpPr/>
          <p:nvPr/>
        </p:nvSpPr>
        <p:spPr>
          <a:xfrm>
            <a:off x="457200" y="1839773"/>
            <a:ext cx="2590800" cy="678485"/>
          </a:xfrm>
          <a:prstGeom prst="rect">
            <a:avLst/>
          </a:prstGeom>
          <a:noFill/>
          <a:ln/>
        </p:spPr>
        <p:txBody>
          <a:bodyPr wrap="square" rtlCol="0" anchor="t"/>
          <a:lstStyle/>
          <a:p>
            <a:pPr algn="ctr" indent="0" marL="0">
              <a:lnSpc>
                <a:spcPct val="110000"/>
              </a:lnSpc>
              <a:buNone/>
            </a:pPr>
            <a:r>
              <a:rPr lang="en-US" sz="1100" dirty="0">
                <a:solidFill>
                  <a:srgbClr val="D6E4F7"/>
                </a:solidFill>
                <a:latin typeface="Calibri" pitchFamily="34" charset="0"/>
                <a:ea typeface="Calibri" pitchFamily="34" charset="-122"/>
                <a:cs typeface="Calibri" pitchFamily="34" charset="-120"/>
              </a:rPr>
              <a:t>Adjusted EPS</a:t>
            </a:r>
            <a:endParaRPr lang="en-US" sz="1100" dirty="0"/>
          </a:p>
          <a:p>
            <a:pPr algn="ctr" indent="0" marL="0">
              <a:lnSpc>
                <a:spcPct val="110000"/>
              </a:lnSpc>
              <a:buNone/>
            </a:pPr>
            <a:r>
              <a:rPr lang="en-US" sz="1100" dirty="0">
                <a:solidFill>
                  <a:srgbClr val="D6E4F7"/>
                </a:solidFill>
                <a:latin typeface="Calibri" pitchFamily="34" charset="0"/>
                <a:ea typeface="Calibri" pitchFamily="34" charset="-122"/>
                <a:cs typeface="Calibri" pitchFamily="34" charset="-120"/>
              </a:rPr>
              <a:t>Guidance Range</a:t>
            </a:r>
            <a:endParaRPr lang="en-US" sz="1100" dirty="0"/>
          </a:p>
        </p:txBody>
      </p:sp>
      <p:sp>
        <p:nvSpPr>
          <p:cNvPr id="9" name="Shape 7"/>
          <p:cNvSpPr/>
          <p:nvPr/>
        </p:nvSpPr>
        <p:spPr>
          <a:xfrm>
            <a:off x="3276600" y="676656"/>
            <a:ext cx="2590800" cy="1938528"/>
          </a:xfrm>
          <a:prstGeom prst="rect">
            <a:avLst/>
          </a:prstGeom>
          <a:solidFill>
            <a:srgbClr val="253563"/>
          </a:solidFill>
          <a:ln w="12700">
            <a:solidFill>
              <a:srgbClr val="D4A843"/>
            </a:solidFill>
            <a:prstDash val="solid"/>
          </a:ln>
        </p:spPr>
      </p:sp>
      <p:sp>
        <p:nvSpPr>
          <p:cNvPr id="10" name="Text 8"/>
          <p:cNvSpPr/>
          <p:nvPr/>
        </p:nvSpPr>
        <p:spPr>
          <a:xfrm>
            <a:off x="3276600" y="870509"/>
            <a:ext cx="2590800" cy="969264"/>
          </a:xfrm>
          <a:prstGeom prst="rect">
            <a:avLst/>
          </a:prstGeom>
          <a:noFill/>
          <a:ln/>
        </p:spPr>
        <p:txBody>
          <a:bodyPr wrap="square" rtlCol="0" anchor="ctr"/>
          <a:lstStyle/>
          <a:p>
            <a:pPr algn="ctr" indent="0" marL="0">
              <a:buNone/>
            </a:pPr>
            <a:r>
              <a:rPr lang="en-US" sz="2200" b="1" dirty="0">
                <a:solidFill>
                  <a:srgbClr val="D4A843"/>
                </a:solidFill>
                <a:latin typeface="Calibri" pitchFamily="34" charset="0"/>
                <a:ea typeface="Calibri" pitchFamily="34" charset="-122"/>
                <a:cs typeface="Calibri" pitchFamily="34" charset="-120"/>
              </a:rPr>
              <a:t>~5.5%</a:t>
            </a:r>
            <a:endParaRPr lang="en-US" sz="2200" dirty="0"/>
          </a:p>
        </p:txBody>
      </p:sp>
      <p:sp>
        <p:nvSpPr>
          <p:cNvPr id="11" name="Text 9"/>
          <p:cNvSpPr/>
          <p:nvPr/>
        </p:nvSpPr>
        <p:spPr>
          <a:xfrm>
            <a:off x="3276600" y="1839773"/>
            <a:ext cx="2590800" cy="678485"/>
          </a:xfrm>
          <a:prstGeom prst="rect">
            <a:avLst/>
          </a:prstGeom>
          <a:noFill/>
          <a:ln/>
        </p:spPr>
        <p:txBody>
          <a:bodyPr wrap="square" rtlCol="0" anchor="t"/>
          <a:lstStyle/>
          <a:p>
            <a:pPr algn="ctr" indent="0" marL="0">
              <a:lnSpc>
                <a:spcPct val="110000"/>
              </a:lnSpc>
              <a:buNone/>
            </a:pPr>
            <a:r>
              <a:rPr lang="en-US" sz="1100" dirty="0">
                <a:solidFill>
                  <a:srgbClr val="D6E4F7"/>
                </a:solidFill>
                <a:latin typeface="Calibri" pitchFamily="34" charset="0"/>
                <a:ea typeface="Calibri" pitchFamily="34" charset="-122"/>
                <a:cs typeface="Calibri" pitchFamily="34" charset="-120"/>
              </a:rPr>
              <a:t>Capacity Growth</a:t>
            </a:r>
            <a:endParaRPr lang="en-US" sz="1100" dirty="0"/>
          </a:p>
          <a:p>
            <a:pPr algn="ctr" indent="0" marL="0">
              <a:lnSpc>
                <a:spcPct val="110000"/>
              </a:lnSpc>
              <a:buNone/>
            </a:pPr>
            <a:r>
              <a:rPr lang="en-US" sz="1100" dirty="0">
                <a:solidFill>
                  <a:srgbClr val="D6E4F7"/>
                </a:solidFill>
                <a:latin typeface="Calibri" pitchFamily="34" charset="0"/>
                <a:ea typeface="Calibri" pitchFamily="34" charset="-122"/>
                <a:cs typeface="Calibri" pitchFamily="34" charset="-120"/>
              </a:rPr>
              <a:t>(ASM YoY)</a:t>
            </a:r>
            <a:endParaRPr lang="en-US" sz="1100" dirty="0"/>
          </a:p>
        </p:txBody>
      </p:sp>
      <p:sp>
        <p:nvSpPr>
          <p:cNvPr id="12" name="Shape 10"/>
          <p:cNvSpPr/>
          <p:nvPr/>
        </p:nvSpPr>
        <p:spPr>
          <a:xfrm>
            <a:off x="6096000" y="676656"/>
            <a:ext cx="2590800" cy="1938528"/>
          </a:xfrm>
          <a:prstGeom prst="rect">
            <a:avLst/>
          </a:prstGeom>
          <a:solidFill>
            <a:srgbClr val="253563"/>
          </a:solidFill>
          <a:ln w="12700">
            <a:solidFill>
              <a:srgbClr val="D4A843"/>
            </a:solidFill>
            <a:prstDash val="solid"/>
          </a:ln>
        </p:spPr>
      </p:sp>
      <p:sp>
        <p:nvSpPr>
          <p:cNvPr id="13" name="Text 11"/>
          <p:cNvSpPr/>
          <p:nvPr/>
        </p:nvSpPr>
        <p:spPr>
          <a:xfrm>
            <a:off x="6096000" y="870509"/>
            <a:ext cx="2590800" cy="969264"/>
          </a:xfrm>
          <a:prstGeom prst="rect">
            <a:avLst/>
          </a:prstGeom>
          <a:noFill/>
          <a:ln/>
        </p:spPr>
        <p:txBody>
          <a:bodyPr wrap="square" rtlCol="0" anchor="ctr"/>
          <a:lstStyle/>
          <a:p>
            <a:pPr algn="ctr" indent="0" marL="0">
              <a:buNone/>
            </a:pPr>
            <a:r>
              <a:rPr lang="en-US" sz="2200" b="1" dirty="0">
                <a:solidFill>
                  <a:srgbClr val="D4A843"/>
                </a:solidFill>
                <a:latin typeface="Calibri" pitchFamily="34" charset="0"/>
                <a:ea typeface="Calibri" pitchFamily="34" charset="-122"/>
                <a:cs typeface="Calibri" pitchFamily="34" charset="-120"/>
              </a:rPr>
              <a:t>+LSD%</a:t>
            </a:r>
            <a:endParaRPr lang="en-US" sz="2200" dirty="0"/>
          </a:p>
        </p:txBody>
      </p:sp>
      <p:sp>
        <p:nvSpPr>
          <p:cNvPr id="14" name="Text 12"/>
          <p:cNvSpPr/>
          <p:nvPr/>
        </p:nvSpPr>
        <p:spPr>
          <a:xfrm>
            <a:off x="6096000" y="1839773"/>
            <a:ext cx="2590800" cy="678485"/>
          </a:xfrm>
          <a:prstGeom prst="rect">
            <a:avLst/>
          </a:prstGeom>
          <a:noFill/>
          <a:ln/>
        </p:spPr>
        <p:txBody>
          <a:bodyPr wrap="square" rtlCol="0" anchor="t"/>
          <a:lstStyle/>
          <a:p>
            <a:pPr algn="ctr" indent="0" marL="0">
              <a:lnSpc>
                <a:spcPct val="110000"/>
              </a:lnSpc>
              <a:buNone/>
            </a:pPr>
            <a:r>
              <a:rPr lang="en-US" sz="1100" dirty="0">
                <a:solidFill>
                  <a:srgbClr val="D6E4F7"/>
                </a:solidFill>
                <a:latin typeface="Calibri" pitchFamily="34" charset="0"/>
                <a:ea typeface="Calibri" pitchFamily="34" charset="-122"/>
                <a:cs typeface="Calibri" pitchFamily="34" charset="-120"/>
              </a:rPr>
              <a:t>CASM ex-Fuel</a:t>
            </a:r>
            <a:endParaRPr lang="en-US" sz="1100" dirty="0"/>
          </a:p>
          <a:p>
            <a:pPr algn="ctr" indent="0" marL="0">
              <a:lnSpc>
                <a:spcPct val="110000"/>
              </a:lnSpc>
              <a:buNone/>
            </a:pPr>
            <a:r>
              <a:rPr lang="en-US" sz="1100" dirty="0">
                <a:solidFill>
                  <a:srgbClr val="D6E4F7"/>
                </a:solidFill>
                <a:latin typeface="Calibri" pitchFamily="34" charset="0"/>
                <a:ea typeface="Calibri" pitchFamily="34" charset="-122"/>
                <a:cs typeface="Calibri" pitchFamily="34" charset="-120"/>
              </a:rPr>
              <a:t>Growth (low single digits)</a:t>
            </a:r>
            <a:endParaRPr lang="en-US" sz="1100" dirty="0"/>
          </a:p>
        </p:txBody>
      </p:sp>
      <p:sp>
        <p:nvSpPr>
          <p:cNvPr id="15" name="Shape 13"/>
          <p:cNvSpPr/>
          <p:nvPr/>
        </p:nvSpPr>
        <p:spPr>
          <a:xfrm>
            <a:off x="457200" y="2706624"/>
            <a:ext cx="2590800" cy="1938528"/>
          </a:xfrm>
          <a:prstGeom prst="rect">
            <a:avLst/>
          </a:prstGeom>
          <a:solidFill>
            <a:srgbClr val="253563"/>
          </a:solidFill>
          <a:ln w="12700">
            <a:solidFill>
              <a:srgbClr val="D4A843"/>
            </a:solidFill>
            <a:prstDash val="solid"/>
          </a:ln>
        </p:spPr>
      </p:sp>
      <p:sp>
        <p:nvSpPr>
          <p:cNvPr id="16" name="Text 14"/>
          <p:cNvSpPr/>
          <p:nvPr/>
        </p:nvSpPr>
        <p:spPr>
          <a:xfrm>
            <a:off x="457200" y="2900477"/>
            <a:ext cx="2590800" cy="969264"/>
          </a:xfrm>
          <a:prstGeom prst="rect">
            <a:avLst/>
          </a:prstGeom>
          <a:noFill/>
          <a:ln/>
        </p:spPr>
        <p:txBody>
          <a:bodyPr wrap="square" rtlCol="0" anchor="ctr"/>
          <a:lstStyle/>
          <a:p>
            <a:pPr algn="ctr" indent="0" marL="0">
              <a:buNone/>
            </a:pPr>
            <a:r>
              <a:rPr lang="en-US" sz="2200" b="1" dirty="0">
                <a:solidFill>
                  <a:srgbClr val="D4A843"/>
                </a:solidFill>
                <a:latin typeface="Calibri" pitchFamily="34" charset="0"/>
                <a:ea typeface="Calibri" pitchFamily="34" charset="-122"/>
                <a:cs typeface="Calibri" pitchFamily="34" charset="-120"/>
              </a:rPr>
              <a:t>~15%+</a:t>
            </a:r>
            <a:endParaRPr lang="en-US" sz="2200" dirty="0"/>
          </a:p>
        </p:txBody>
      </p:sp>
      <p:sp>
        <p:nvSpPr>
          <p:cNvPr id="17" name="Text 15"/>
          <p:cNvSpPr/>
          <p:nvPr/>
        </p:nvSpPr>
        <p:spPr>
          <a:xfrm>
            <a:off x="457200" y="3869741"/>
            <a:ext cx="2590800" cy="678485"/>
          </a:xfrm>
          <a:prstGeom prst="rect">
            <a:avLst/>
          </a:prstGeom>
          <a:noFill/>
          <a:ln/>
        </p:spPr>
        <p:txBody>
          <a:bodyPr wrap="square" rtlCol="0" anchor="t"/>
          <a:lstStyle/>
          <a:p>
            <a:pPr algn="ctr" indent="0" marL="0">
              <a:lnSpc>
                <a:spcPct val="110000"/>
              </a:lnSpc>
              <a:buNone/>
            </a:pPr>
            <a:r>
              <a:rPr lang="en-US" sz="1100" dirty="0">
                <a:solidFill>
                  <a:srgbClr val="D6E4F7"/>
                </a:solidFill>
                <a:latin typeface="Calibri" pitchFamily="34" charset="0"/>
                <a:ea typeface="Calibri" pitchFamily="34" charset="-122"/>
                <a:cs typeface="Calibri" pitchFamily="34" charset="-120"/>
              </a:rPr>
              <a:t>Adj EBITDA</a:t>
            </a:r>
            <a:endParaRPr lang="en-US" sz="1100" dirty="0"/>
          </a:p>
          <a:p>
            <a:pPr algn="ctr" indent="0" marL="0">
              <a:lnSpc>
                <a:spcPct val="110000"/>
              </a:lnSpc>
              <a:buNone/>
            </a:pPr>
            <a:r>
              <a:rPr lang="en-US" sz="1100" dirty="0">
                <a:solidFill>
                  <a:srgbClr val="D6E4F7"/>
                </a:solidFill>
                <a:latin typeface="Calibri" pitchFamily="34" charset="0"/>
                <a:ea typeface="Calibri" pitchFamily="34" charset="-122"/>
                <a:cs typeface="Calibri" pitchFamily="34" charset="-120"/>
              </a:rPr>
              <a:t>Margin Target</a:t>
            </a:r>
            <a:endParaRPr lang="en-US" sz="1100" dirty="0"/>
          </a:p>
        </p:txBody>
      </p:sp>
      <p:sp>
        <p:nvSpPr>
          <p:cNvPr id="18" name="Shape 16"/>
          <p:cNvSpPr/>
          <p:nvPr/>
        </p:nvSpPr>
        <p:spPr>
          <a:xfrm>
            <a:off x="3276600" y="2706624"/>
            <a:ext cx="2590800" cy="1938528"/>
          </a:xfrm>
          <a:prstGeom prst="rect">
            <a:avLst/>
          </a:prstGeom>
          <a:solidFill>
            <a:srgbClr val="253563"/>
          </a:solidFill>
          <a:ln w="12700">
            <a:solidFill>
              <a:srgbClr val="D4A843"/>
            </a:solidFill>
            <a:prstDash val="solid"/>
          </a:ln>
        </p:spPr>
      </p:sp>
      <p:sp>
        <p:nvSpPr>
          <p:cNvPr id="19" name="Text 17"/>
          <p:cNvSpPr/>
          <p:nvPr/>
        </p:nvSpPr>
        <p:spPr>
          <a:xfrm>
            <a:off x="3276600" y="2900477"/>
            <a:ext cx="2590800" cy="969264"/>
          </a:xfrm>
          <a:prstGeom prst="rect">
            <a:avLst/>
          </a:prstGeom>
          <a:noFill/>
          <a:ln/>
        </p:spPr>
        <p:txBody>
          <a:bodyPr wrap="square" rtlCol="0" anchor="ctr"/>
          <a:lstStyle/>
          <a:p>
            <a:pPr algn="ctr" indent="0" marL="0">
              <a:buNone/>
            </a:pPr>
            <a:r>
              <a:rPr lang="en-US" sz="2200" b="1" dirty="0">
                <a:solidFill>
                  <a:srgbClr val="D4A843"/>
                </a:solidFill>
                <a:latin typeface="Calibri" pitchFamily="34" charset="0"/>
                <a:ea typeface="Calibri" pitchFamily="34" charset="-122"/>
                <a:cs typeface="Calibri" pitchFamily="34" charset="-120"/>
              </a:rPr>
              <a:t>~5–6%</a:t>
            </a:r>
            <a:endParaRPr lang="en-US" sz="2200" dirty="0"/>
          </a:p>
        </p:txBody>
      </p:sp>
      <p:sp>
        <p:nvSpPr>
          <p:cNvPr id="20" name="Text 18"/>
          <p:cNvSpPr/>
          <p:nvPr/>
        </p:nvSpPr>
        <p:spPr>
          <a:xfrm>
            <a:off x="3276600" y="3869741"/>
            <a:ext cx="2590800" cy="678485"/>
          </a:xfrm>
          <a:prstGeom prst="rect">
            <a:avLst/>
          </a:prstGeom>
          <a:noFill/>
          <a:ln/>
        </p:spPr>
        <p:txBody>
          <a:bodyPr wrap="square" rtlCol="0" anchor="t"/>
          <a:lstStyle/>
          <a:p>
            <a:pPr algn="ctr" indent="0" marL="0">
              <a:lnSpc>
                <a:spcPct val="110000"/>
              </a:lnSpc>
              <a:buNone/>
            </a:pPr>
            <a:r>
              <a:rPr lang="en-US" sz="1100" dirty="0">
                <a:solidFill>
                  <a:srgbClr val="D6E4F7"/>
                </a:solidFill>
                <a:latin typeface="Calibri" pitchFamily="34" charset="0"/>
                <a:ea typeface="Calibri" pitchFamily="34" charset="-122"/>
                <a:cs typeface="Calibri" pitchFamily="34" charset="-120"/>
              </a:rPr>
              <a:t>Revenue Growth</a:t>
            </a:r>
            <a:endParaRPr lang="en-US" sz="1100" dirty="0"/>
          </a:p>
          <a:p>
            <a:pPr algn="ctr" indent="0" marL="0">
              <a:lnSpc>
                <a:spcPct val="110000"/>
              </a:lnSpc>
              <a:buNone/>
            </a:pPr>
            <a:r>
              <a:rPr lang="en-US" sz="1100" dirty="0">
                <a:solidFill>
                  <a:srgbClr val="D6E4F7"/>
                </a:solidFill>
                <a:latin typeface="Calibri" pitchFamily="34" charset="0"/>
                <a:ea typeface="Calibri" pitchFamily="34" charset="-122"/>
                <a:cs typeface="Calibri" pitchFamily="34" charset="-120"/>
              </a:rPr>
              <a:t>YoY</a:t>
            </a:r>
            <a:endParaRPr lang="en-US" sz="1100" dirty="0"/>
          </a:p>
        </p:txBody>
      </p:sp>
      <p:sp>
        <p:nvSpPr>
          <p:cNvPr id="21" name="Shape 19"/>
          <p:cNvSpPr/>
          <p:nvPr/>
        </p:nvSpPr>
        <p:spPr>
          <a:xfrm>
            <a:off x="6096000" y="2706624"/>
            <a:ext cx="2590800" cy="1938528"/>
          </a:xfrm>
          <a:prstGeom prst="rect">
            <a:avLst/>
          </a:prstGeom>
          <a:solidFill>
            <a:srgbClr val="253563"/>
          </a:solidFill>
          <a:ln w="12700">
            <a:solidFill>
              <a:srgbClr val="D4A843"/>
            </a:solidFill>
            <a:prstDash val="solid"/>
          </a:ln>
        </p:spPr>
      </p:sp>
      <p:sp>
        <p:nvSpPr>
          <p:cNvPr id="22" name="Text 20"/>
          <p:cNvSpPr/>
          <p:nvPr/>
        </p:nvSpPr>
        <p:spPr>
          <a:xfrm>
            <a:off x="6096000" y="2900477"/>
            <a:ext cx="2590800" cy="969264"/>
          </a:xfrm>
          <a:prstGeom prst="rect">
            <a:avLst/>
          </a:prstGeom>
          <a:noFill/>
          <a:ln/>
        </p:spPr>
        <p:txBody>
          <a:bodyPr wrap="square" rtlCol="0" anchor="ctr"/>
          <a:lstStyle/>
          <a:p>
            <a:pPr algn="ctr" indent="0" marL="0">
              <a:buNone/>
            </a:pPr>
            <a:r>
              <a:rPr lang="en-US" sz="2200" b="1" dirty="0">
                <a:solidFill>
                  <a:srgbClr val="D4A843"/>
                </a:solidFill>
                <a:latin typeface="Calibri" pitchFamily="34" charset="0"/>
                <a:ea typeface="Calibri" pitchFamily="34" charset="-122"/>
                <a:cs typeface="Calibri" pitchFamily="34" charset="-120"/>
              </a:rPr>
              <a:t>~$4.5B</a:t>
            </a:r>
            <a:endParaRPr lang="en-US" sz="2200" dirty="0"/>
          </a:p>
        </p:txBody>
      </p:sp>
      <p:sp>
        <p:nvSpPr>
          <p:cNvPr id="23" name="Text 21"/>
          <p:cNvSpPr/>
          <p:nvPr/>
        </p:nvSpPr>
        <p:spPr>
          <a:xfrm>
            <a:off x="6096000" y="3869741"/>
            <a:ext cx="2590800" cy="678485"/>
          </a:xfrm>
          <a:prstGeom prst="rect">
            <a:avLst/>
          </a:prstGeom>
          <a:noFill/>
          <a:ln/>
        </p:spPr>
        <p:txBody>
          <a:bodyPr wrap="square" rtlCol="0" anchor="t"/>
          <a:lstStyle/>
          <a:p>
            <a:pPr algn="ctr" indent="0" marL="0">
              <a:lnSpc>
                <a:spcPct val="110000"/>
              </a:lnSpc>
              <a:buNone/>
            </a:pPr>
            <a:r>
              <a:rPr lang="en-US" sz="1100" dirty="0">
                <a:solidFill>
                  <a:srgbClr val="D6E4F7"/>
                </a:solidFill>
                <a:latin typeface="Calibri" pitchFamily="34" charset="0"/>
                <a:ea typeface="Calibri" pitchFamily="34" charset="-122"/>
                <a:cs typeface="Calibri" pitchFamily="34" charset="-120"/>
              </a:rPr>
              <a:t>Capital</a:t>
            </a:r>
            <a:endParaRPr lang="en-US" sz="1100" dirty="0"/>
          </a:p>
          <a:p>
            <a:pPr algn="ctr" indent="0" marL="0">
              <a:lnSpc>
                <a:spcPct val="110000"/>
              </a:lnSpc>
              <a:buNone/>
            </a:pPr>
            <a:r>
              <a:rPr lang="en-US" sz="1100" dirty="0">
                <a:solidFill>
                  <a:srgbClr val="D6E4F7"/>
                </a:solidFill>
                <a:latin typeface="Calibri" pitchFamily="34" charset="0"/>
                <a:ea typeface="Calibri" pitchFamily="34" charset="-122"/>
                <a:cs typeface="Calibri" pitchFamily="34" charset="-120"/>
              </a:rPr>
              <a:t>Expenditures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457200" y="91440"/>
            <a:ext cx="8229600" cy="457200"/>
          </a:xfrm>
          <a:prstGeom prst="rect">
            <a:avLst/>
          </a:prstGeom>
          <a:noFill/>
          <a:ln/>
        </p:spPr>
        <p:txBody>
          <a:bodyPr wrap="square"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Risk Matrix  |  FY2026 Key Risks</a:t>
            </a:r>
            <a:endParaRPr lang="en-US" sz="1500" dirty="0"/>
          </a:p>
        </p:txBody>
      </p:sp>
      <p:sp>
        <p:nvSpPr>
          <p:cNvPr id="4" name="Shape 2"/>
          <p:cNvSpPr/>
          <p:nvPr/>
        </p:nvSpPr>
        <p:spPr>
          <a:xfrm>
            <a:off x="0" y="4892040"/>
            <a:ext cx="9144000" cy="251460"/>
          </a:xfrm>
          <a:prstGeom prst="rect">
            <a:avLst/>
          </a:prstGeom>
          <a:solidFill>
            <a:srgbClr val="CBD5E0">
              <a:alpha val="60000"/>
            </a:srgbClr>
          </a:solidFill>
          <a:ln/>
        </p:spPr>
      </p:sp>
      <p:sp>
        <p:nvSpPr>
          <p:cNvPr id="5" name="Text 3"/>
          <p:cNvSpPr/>
          <p:nvPr/>
        </p:nvSpPr>
        <p:spPr>
          <a:xfrm>
            <a:off x="457200" y="4910328"/>
            <a:ext cx="8229600" cy="182880"/>
          </a:xfrm>
          <a:prstGeom prst="rect">
            <a:avLst/>
          </a:prstGeom>
          <a:noFill/>
          <a:ln/>
        </p:spPr>
        <p:txBody>
          <a:bodyPr wrap="square" rtlCol="0" anchor="ctr"/>
          <a:lstStyle/>
          <a:p>
            <a:pPr algn="l" indent="0" marL="0">
              <a:buNone/>
            </a:pPr>
            <a:r>
              <a:rPr lang="en-US" sz="700" dirty="0">
                <a:solidFill>
                  <a:srgbClr val="4A5568"/>
                </a:solidFill>
                <a:latin typeface="Calibri" pitchFamily="34" charset="0"/>
                <a:ea typeface="Calibri" pitchFamily="34" charset="-122"/>
                <a:cs typeface="Calibri" pitchFamily="34" charset="-120"/>
              </a:rPr>
              <a:t>United Airlines Holdings  |  NASDAQ: UAL  |  FY2025 Investor Presentation</a:t>
            </a:r>
            <a:endParaRPr lang="en-US" sz="7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749808"/>
          <a:ext cx="8229600" cy="914400"/>
        </p:xfrm>
        <a:graphic>
          <a:graphicData uri="http://schemas.openxmlformats.org/drawingml/2006/table">
            <a:tbl>
              <a:tblPr/>
              <a:tblGrid>
                <a:gridCol w="2011680"/>
                <a:gridCol w="1097280"/>
                <a:gridCol w="822960"/>
                <a:gridCol w="4297680"/>
              </a:tblGrid>
              <a:tr h="27432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Risk</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Likelihood</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Impact</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Mitigation</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r>
              <a:tr h="274320">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Fuel Price Spike</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Fuel hedging program; fuel efficient fleet investments</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r>
              <a:tr h="274320">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Boeing Delivery Delays</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Leasing optionality; retaining older MAX capacity</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r h="274320">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Macro Recession / Demand</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Low-Medium</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Premium/loyalty revenue diversification; flex capacity</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r>
              <a:tr h="274320">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Labor Disruption</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Low</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New contracts settled 2024–25; stable through 2027+</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r h="274320">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Premium Competition</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Product differentiation; MileagePlus loyalty moat</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r>
              <a:tr h="274320">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Regulatory / Policy Changes</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Low</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Low</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Proactive government engagement; legal reserves maintained</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457200" y="91440"/>
            <a:ext cx="8229600" cy="457200"/>
          </a:xfrm>
          <a:prstGeom prst="rect">
            <a:avLst/>
          </a:prstGeom>
          <a:noFill/>
          <a:ln/>
        </p:spPr>
        <p:txBody>
          <a:bodyPr wrap="square"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ESG &amp; Sustainability  |  Progress to 2030 Targets</a:t>
            </a:r>
            <a:endParaRPr lang="en-US" sz="1500" dirty="0"/>
          </a:p>
        </p:txBody>
      </p:sp>
      <p:sp>
        <p:nvSpPr>
          <p:cNvPr id="4" name="Shape 2"/>
          <p:cNvSpPr/>
          <p:nvPr/>
        </p:nvSpPr>
        <p:spPr>
          <a:xfrm>
            <a:off x="0" y="4892040"/>
            <a:ext cx="9144000" cy="251460"/>
          </a:xfrm>
          <a:prstGeom prst="rect">
            <a:avLst/>
          </a:prstGeom>
          <a:solidFill>
            <a:srgbClr val="CBD5E0">
              <a:alpha val="60000"/>
            </a:srgbClr>
          </a:solidFill>
          <a:ln/>
        </p:spPr>
      </p:sp>
      <p:sp>
        <p:nvSpPr>
          <p:cNvPr id="5" name="Text 3"/>
          <p:cNvSpPr/>
          <p:nvPr/>
        </p:nvSpPr>
        <p:spPr>
          <a:xfrm>
            <a:off x="457200" y="4910328"/>
            <a:ext cx="8229600" cy="182880"/>
          </a:xfrm>
          <a:prstGeom prst="rect">
            <a:avLst/>
          </a:prstGeom>
          <a:noFill/>
          <a:ln/>
        </p:spPr>
        <p:txBody>
          <a:bodyPr wrap="square" rtlCol="0" anchor="ctr"/>
          <a:lstStyle/>
          <a:p>
            <a:pPr algn="l" indent="0" marL="0">
              <a:buNone/>
            </a:pPr>
            <a:r>
              <a:rPr lang="en-US" sz="700" dirty="0">
                <a:solidFill>
                  <a:srgbClr val="4A5568"/>
                </a:solidFill>
                <a:latin typeface="Calibri" pitchFamily="34" charset="0"/>
                <a:ea typeface="Calibri" pitchFamily="34" charset="-122"/>
                <a:cs typeface="Calibri" pitchFamily="34" charset="-120"/>
              </a:rPr>
              <a:t>United Airlines Holdings  |  NASDAQ: UAL  |  FY2025 Investor Presentation</a:t>
            </a:r>
            <a:endParaRPr lang="en-US" sz="7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749808"/>
          <a:ext cx="8229600" cy="914400"/>
        </p:xfrm>
        <a:graphic>
          <a:graphicData uri="http://schemas.openxmlformats.org/drawingml/2006/table">
            <a:tbl>
              <a:tblPr/>
              <a:tblGrid>
                <a:gridCol w="2560320"/>
                <a:gridCol w="1371600"/>
                <a:gridCol w="1371600"/>
                <a:gridCol w="2926080"/>
              </a:tblGrid>
              <a:tr h="256032">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Metric</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FY2023</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FY2025</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2030 Target</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r>
              <a:tr h="256032">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CO2 Emissions (MT, millions)</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99.4</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101.2</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Target: -50% vs 2019</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r>
              <a:tr h="256032">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SAF Usage (% of fuel)</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0.1%</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0.5%</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10% by 2030</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r h="256032">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Fleet Fuel Efficiency Idx</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Base 100</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94.3</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85 (15% improvement)</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r>
              <a:tr h="256032">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Scope 1 CO2 per ASM (g)</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71.4</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68.9</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~55 by 2030</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r h="256032">
                <a:tc>
                  <a:txBody>
                    <a:bodyPr/>
                    <a:lstStyle/>
                    <a:p>
                      <a:pPr algn="l" indent="0" marL="0">
                        <a:buNone/>
                      </a:pPr>
                      <a:r>
                        <a:rPr lang="en-US" sz="900" b="1" dirty="0">
                          <a:solidFill>
                            <a:srgbClr val="1A2744"/>
                          </a:solidFill>
                          <a:latin typeface="Calibri" pitchFamily="34" charset="0"/>
                          <a:ea typeface="Calibri" pitchFamily="34" charset="-122"/>
                          <a:cs typeface="Calibri" pitchFamily="34" charset="-120"/>
                        </a:rPr>
                        <a:t>Carbon Offsets Purchased</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~2.0M ton</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~3.5M ton</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900" dirty="0">
                          <a:solidFill>
                            <a:srgbClr val="4A5568"/>
                          </a:solidFill>
                          <a:latin typeface="Calibri" pitchFamily="34" charset="0"/>
                          <a:ea typeface="Calibri" pitchFamily="34" charset="-122"/>
                          <a:cs typeface="Calibri" pitchFamily="34" charset="-120"/>
                        </a:rPr>
                        <a:t>Growing program</a:t>
                      </a:r>
                      <a:endParaRPr lang="en-US" sz="90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r>
            </a:tbl>
          </a:graphicData>
        </a:graphic>
      </p:graphicFrame>
      <p:sp>
        <p:nvSpPr>
          <p:cNvPr id="7" name="Shape 4"/>
          <p:cNvSpPr/>
          <p:nvPr/>
        </p:nvSpPr>
        <p:spPr>
          <a:xfrm>
            <a:off x="457200" y="2468880"/>
            <a:ext cx="2682240" cy="914400"/>
          </a:xfrm>
          <a:prstGeom prst="rect">
            <a:avLst/>
          </a:prstGeom>
          <a:solidFill>
            <a:srgbClr val="FFFFFF"/>
          </a:solidFill>
          <a:ln w="12700">
            <a:solidFill>
              <a:srgbClr val="CBD5E0"/>
            </a:solidFill>
            <a:prstDash val="solid"/>
          </a:ln>
        </p:spPr>
      </p:sp>
      <p:sp>
        <p:nvSpPr>
          <p:cNvPr id="8" name="Shape 5"/>
          <p:cNvSpPr/>
          <p:nvPr/>
        </p:nvSpPr>
        <p:spPr>
          <a:xfrm>
            <a:off x="457200" y="2468880"/>
            <a:ext cx="2682240" cy="36576"/>
          </a:xfrm>
          <a:prstGeom prst="rect">
            <a:avLst/>
          </a:prstGeom>
          <a:solidFill>
            <a:srgbClr val="2D7D46"/>
          </a:solidFill>
          <a:ln/>
        </p:spPr>
      </p:sp>
      <p:sp>
        <p:nvSpPr>
          <p:cNvPr id="9" name="Text 6"/>
          <p:cNvSpPr/>
          <p:nvPr/>
        </p:nvSpPr>
        <p:spPr>
          <a:xfrm>
            <a:off x="530352" y="2514600"/>
            <a:ext cx="2535936" cy="201168"/>
          </a:xfrm>
          <a:prstGeom prst="rect">
            <a:avLst/>
          </a:prstGeom>
          <a:noFill/>
          <a:ln/>
        </p:spPr>
        <p:txBody>
          <a:bodyPr wrap="square" rtlCol="0" anchor="ctr"/>
          <a:lstStyle/>
          <a:p>
            <a:pPr algn="l" indent="0" marL="0">
              <a:buNone/>
            </a:pPr>
            <a:r>
              <a:rPr lang="en-US" sz="1000" b="1" dirty="0">
                <a:solidFill>
                  <a:srgbClr val="1A2744"/>
                </a:solidFill>
                <a:latin typeface="Calibri" pitchFamily="34" charset="0"/>
                <a:ea typeface="Calibri" pitchFamily="34" charset="-122"/>
                <a:cs typeface="Calibri" pitchFamily="34" charset="-120"/>
              </a:rPr>
              <a:t>SAF Partnerships</a:t>
            </a:r>
            <a:endParaRPr lang="en-US" sz="1000" dirty="0"/>
          </a:p>
        </p:txBody>
      </p:sp>
      <p:sp>
        <p:nvSpPr>
          <p:cNvPr id="10" name="Text 7"/>
          <p:cNvSpPr/>
          <p:nvPr/>
        </p:nvSpPr>
        <p:spPr>
          <a:xfrm>
            <a:off x="530352" y="2734056"/>
            <a:ext cx="2535936" cy="585216"/>
          </a:xfrm>
          <a:prstGeom prst="rect">
            <a:avLst/>
          </a:prstGeom>
          <a:noFill/>
          <a:ln/>
        </p:spPr>
        <p:txBody>
          <a:bodyPr wrap="square" rtlCol="0" anchor="ctr"/>
          <a:lstStyle/>
          <a:p>
            <a:pPr algn="l" indent="0" marL="0">
              <a:lnSpc>
                <a:spcPct val="120000"/>
              </a:lnSpc>
              <a:buNone/>
            </a:pPr>
            <a:r>
              <a:rPr lang="en-US" sz="900" dirty="0">
                <a:solidFill>
                  <a:srgbClr val="4A5568"/>
                </a:solidFill>
                <a:latin typeface="Calibri" pitchFamily="34" charset="0"/>
                <a:ea typeface="Calibri" pitchFamily="34" charset="-122"/>
                <a:cs typeface="Calibri" pitchFamily="34" charset="-120"/>
              </a:rPr>
              <a:t>Long-term SAF offtake agreements with Neste, World Energy, and others. Path to 10% SAF by 2030.</a:t>
            </a:r>
            <a:endParaRPr lang="en-US" sz="900" dirty="0"/>
          </a:p>
        </p:txBody>
      </p:sp>
      <p:sp>
        <p:nvSpPr>
          <p:cNvPr id="11" name="Shape 8"/>
          <p:cNvSpPr/>
          <p:nvPr/>
        </p:nvSpPr>
        <p:spPr>
          <a:xfrm>
            <a:off x="3230880" y="2468880"/>
            <a:ext cx="2682240" cy="914400"/>
          </a:xfrm>
          <a:prstGeom prst="rect">
            <a:avLst/>
          </a:prstGeom>
          <a:solidFill>
            <a:srgbClr val="FFFFFF"/>
          </a:solidFill>
          <a:ln w="12700">
            <a:solidFill>
              <a:srgbClr val="CBD5E0"/>
            </a:solidFill>
            <a:prstDash val="solid"/>
          </a:ln>
        </p:spPr>
      </p:sp>
      <p:sp>
        <p:nvSpPr>
          <p:cNvPr id="12" name="Shape 9"/>
          <p:cNvSpPr/>
          <p:nvPr/>
        </p:nvSpPr>
        <p:spPr>
          <a:xfrm>
            <a:off x="3230880" y="2468880"/>
            <a:ext cx="2682240" cy="36576"/>
          </a:xfrm>
          <a:prstGeom prst="rect">
            <a:avLst/>
          </a:prstGeom>
          <a:solidFill>
            <a:srgbClr val="2D7D46"/>
          </a:solidFill>
          <a:ln/>
        </p:spPr>
      </p:sp>
      <p:sp>
        <p:nvSpPr>
          <p:cNvPr id="13" name="Text 10"/>
          <p:cNvSpPr/>
          <p:nvPr/>
        </p:nvSpPr>
        <p:spPr>
          <a:xfrm>
            <a:off x="3304032" y="2514600"/>
            <a:ext cx="2535936" cy="201168"/>
          </a:xfrm>
          <a:prstGeom prst="rect">
            <a:avLst/>
          </a:prstGeom>
          <a:noFill/>
          <a:ln/>
        </p:spPr>
        <p:txBody>
          <a:bodyPr wrap="square" rtlCol="0" anchor="ctr"/>
          <a:lstStyle/>
          <a:p>
            <a:pPr algn="l" indent="0" marL="0">
              <a:buNone/>
            </a:pPr>
            <a:r>
              <a:rPr lang="en-US" sz="1000" b="1" dirty="0">
                <a:solidFill>
                  <a:srgbClr val="1A2744"/>
                </a:solidFill>
                <a:latin typeface="Calibri" pitchFamily="34" charset="0"/>
                <a:ea typeface="Calibri" pitchFamily="34" charset="-122"/>
                <a:cs typeface="Calibri" pitchFamily="34" charset="-120"/>
              </a:rPr>
              <a:t>Carbon Offsets</a:t>
            </a:r>
            <a:endParaRPr lang="en-US" sz="1000" dirty="0"/>
          </a:p>
        </p:txBody>
      </p:sp>
      <p:sp>
        <p:nvSpPr>
          <p:cNvPr id="14" name="Text 11"/>
          <p:cNvSpPr/>
          <p:nvPr/>
        </p:nvSpPr>
        <p:spPr>
          <a:xfrm>
            <a:off x="3304032" y="2734056"/>
            <a:ext cx="2535936" cy="585216"/>
          </a:xfrm>
          <a:prstGeom prst="rect">
            <a:avLst/>
          </a:prstGeom>
          <a:noFill/>
          <a:ln/>
        </p:spPr>
        <p:txBody>
          <a:bodyPr wrap="square" rtlCol="0" anchor="ctr"/>
          <a:lstStyle/>
          <a:p>
            <a:pPr algn="l" indent="0" marL="0">
              <a:lnSpc>
                <a:spcPct val="120000"/>
              </a:lnSpc>
              <a:buNone/>
            </a:pPr>
            <a:r>
              <a:rPr lang="en-US" sz="900" dirty="0">
                <a:solidFill>
                  <a:srgbClr val="4A5568"/>
                </a:solidFill>
                <a:latin typeface="Calibri" pitchFamily="34" charset="0"/>
                <a:ea typeface="Calibri" pitchFamily="34" charset="-122"/>
                <a:cs typeface="Calibri" pitchFamily="34" charset="-120"/>
              </a:rPr>
              <a:t>Nature-based and technology-based carbon removal portfolio. Verified Verra/Gold Standard credits.</a:t>
            </a:r>
            <a:endParaRPr lang="en-US" sz="900" dirty="0"/>
          </a:p>
        </p:txBody>
      </p:sp>
      <p:sp>
        <p:nvSpPr>
          <p:cNvPr id="15" name="Shape 12"/>
          <p:cNvSpPr/>
          <p:nvPr/>
        </p:nvSpPr>
        <p:spPr>
          <a:xfrm>
            <a:off x="6004560" y="2468880"/>
            <a:ext cx="2682240" cy="914400"/>
          </a:xfrm>
          <a:prstGeom prst="rect">
            <a:avLst/>
          </a:prstGeom>
          <a:solidFill>
            <a:srgbClr val="FFFFFF"/>
          </a:solidFill>
          <a:ln w="12700">
            <a:solidFill>
              <a:srgbClr val="CBD5E0"/>
            </a:solidFill>
            <a:prstDash val="solid"/>
          </a:ln>
        </p:spPr>
      </p:sp>
      <p:sp>
        <p:nvSpPr>
          <p:cNvPr id="16" name="Shape 13"/>
          <p:cNvSpPr/>
          <p:nvPr/>
        </p:nvSpPr>
        <p:spPr>
          <a:xfrm>
            <a:off x="6004560" y="2468880"/>
            <a:ext cx="2682240" cy="36576"/>
          </a:xfrm>
          <a:prstGeom prst="rect">
            <a:avLst/>
          </a:prstGeom>
          <a:solidFill>
            <a:srgbClr val="2D7D46"/>
          </a:solidFill>
          <a:ln/>
        </p:spPr>
      </p:sp>
      <p:sp>
        <p:nvSpPr>
          <p:cNvPr id="17" name="Text 14"/>
          <p:cNvSpPr/>
          <p:nvPr/>
        </p:nvSpPr>
        <p:spPr>
          <a:xfrm>
            <a:off x="6077712" y="2514600"/>
            <a:ext cx="2535936" cy="201168"/>
          </a:xfrm>
          <a:prstGeom prst="rect">
            <a:avLst/>
          </a:prstGeom>
          <a:noFill/>
          <a:ln/>
        </p:spPr>
        <p:txBody>
          <a:bodyPr wrap="square" rtlCol="0" anchor="ctr"/>
          <a:lstStyle/>
          <a:p>
            <a:pPr algn="l" indent="0" marL="0">
              <a:buNone/>
            </a:pPr>
            <a:r>
              <a:rPr lang="en-US" sz="1000" b="1" dirty="0">
                <a:solidFill>
                  <a:srgbClr val="1A2744"/>
                </a:solidFill>
                <a:latin typeface="Calibri" pitchFamily="34" charset="0"/>
                <a:ea typeface="Calibri" pitchFamily="34" charset="-122"/>
                <a:cs typeface="Calibri" pitchFamily="34" charset="-120"/>
              </a:rPr>
              <a:t>Fleet Efficiency</a:t>
            </a:r>
            <a:endParaRPr lang="en-US" sz="1000" dirty="0"/>
          </a:p>
        </p:txBody>
      </p:sp>
      <p:sp>
        <p:nvSpPr>
          <p:cNvPr id="18" name="Text 15"/>
          <p:cNvSpPr/>
          <p:nvPr/>
        </p:nvSpPr>
        <p:spPr>
          <a:xfrm>
            <a:off x="6077712" y="2734056"/>
            <a:ext cx="2535936" cy="585216"/>
          </a:xfrm>
          <a:prstGeom prst="rect">
            <a:avLst/>
          </a:prstGeom>
          <a:noFill/>
          <a:ln/>
        </p:spPr>
        <p:txBody>
          <a:bodyPr wrap="square" rtlCol="0" anchor="ctr"/>
          <a:lstStyle/>
          <a:p>
            <a:pPr algn="l" indent="0" marL="0">
              <a:lnSpc>
                <a:spcPct val="120000"/>
              </a:lnSpc>
              <a:buNone/>
            </a:pPr>
            <a:r>
              <a:rPr lang="en-US" sz="900" dirty="0">
                <a:solidFill>
                  <a:srgbClr val="4A5568"/>
                </a:solidFill>
                <a:latin typeface="Calibri" pitchFamily="34" charset="0"/>
                <a:ea typeface="Calibri" pitchFamily="34" charset="-122"/>
                <a:cs typeface="Calibri" pitchFamily="34" charset="-120"/>
              </a:rPr>
              <a:t>Boeing MAX and A321neo average 15–20% better fuel burn than replaced aircraft types.</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457200" y="91440"/>
            <a:ext cx="8229600" cy="457200"/>
          </a:xfrm>
          <a:prstGeom prst="rect">
            <a:avLst/>
          </a:prstGeom>
          <a:noFill/>
          <a:ln/>
        </p:spPr>
        <p:txBody>
          <a:bodyPr wrap="square"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Appendix  |  Reference Data</a:t>
            </a:r>
            <a:endParaRPr lang="en-US" sz="1500" dirty="0"/>
          </a:p>
        </p:txBody>
      </p:sp>
      <p:sp>
        <p:nvSpPr>
          <p:cNvPr id="4" name="Shape 2"/>
          <p:cNvSpPr/>
          <p:nvPr/>
        </p:nvSpPr>
        <p:spPr>
          <a:xfrm>
            <a:off x="0" y="4892040"/>
            <a:ext cx="9144000" cy="251460"/>
          </a:xfrm>
          <a:prstGeom prst="rect">
            <a:avLst/>
          </a:prstGeom>
          <a:solidFill>
            <a:srgbClr val="CBD5E0">
              <a:alpha val="60000"/>
            </a:srgbClr>
          </a:solidFill>
          <a:ln/>
        </p:spPr>
      </p:sp>
      <p:sp>
        <p:nvSpPr>
          <p:cNvPr id="5" name="Text 3"/>
          <p:cNvSpPr/>
          <p:nvPr/>
        </p:nvSpPr>
        <p:spPr>
          <a:xfrm>
            <a:off x="457200" y="4910328"/>
            <a:ext cx="8229600" cy="182880"/>
          </a:xfrm>
          <a:prstGeom prst="rect">
            <a:avLst/>
          </a:prstGeom>
          <a:noFill/>
          <a:ln/>
        </p:spPr>
        <p:txBody>
          <a:bodyPr wrap="square" rtlCol="0" anchor="ctr"/>
          <a:lstStyle/>
          <a:p>
            <a:pPr algn="l" indent="0" marL="0">
              <a:buNone/>
            </a:pPr>
            <a:r>
              <a:rPr lang="en-US" sz="700" dirty="0">
                <a:solidFill>
                  <a:srgbClr val="4A5568"/>
                </a:solidFill>
                <a:latin typeface="Calibri" pitchFamily="34" charset="0"/>
                <a:ea typeface="Calibri" pitchFamily="34" charset="-122"/>
                <a:cs typeface="Calibri" pitchFamily="34" charset="-120"/>
              </a:rPr>
              <a:t>United Airlines Holdings  |  NASDAQ: UAL  |  FY2025 Investor Presentation</a:t>
            </a:r>
            <a:endParaRPr lang="en-US" sz="700" dirty="0"/>
          </a:p>
        </p:txBody>
      </p:sp>
      <p:sp>
        <p:nvSpPr>
          <p:cNvPr id="6" name="Text 4"/>
          <p:cNvSpPr/>
          <p:nvPr/>
        </p:nvSpPr>
        <p:spPr>
          <a:xfrm>
            <a:off x="457200" y="749808"/>
            <a:ext cx="8229600" cy="182880"/>
          </a:xfrm>
          <a:prstGeom prst="rect">
            <a:avLst/>
          </a:prstGeom>
          <a:noFill/>
          <a:ln/>
        </p:spPr>
        <p:txBody>
          <a:bodyPr wrap="square" rtlCol="0" anchor="ctr"/>
          <a:lstStyle/>
          <a:p>
            <a:pPr algn="l" indent="0" marL="0">
              <a:buNone/>
            </a:pPr>
            <a:r>
              <a:rPr lang="en-US" sz="900" b="1" dirty="0">
                <a:solidFill>
                  <a:srgbClr val="1A2744"/>
                </a:solidFill>
                <a:latin typeface="Calibri" pitchFamily="34" charset="0"/>
                <a:ea typeface="Calibri" pitchFamily="34" charset="-122"/>
                <a:cs typeface="Calibri" pitchFamily="34" charset="-120"/>
              </a:rPr>
              <a:t>HUB NETWORK</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969264"/>
          <a:ext cx="6858000" cy="914400"/>
        </p:xfrm>
        <a:graphic>
          <a:graphicData uri="http://schemas.openxmlformats.org/drawingml/2006/table">
            <a:tbl>
              <a:tblPr/>
              <a:tblGrid>
                <a:gridCol w="2194560"/>
                <a:gridCol w="640080"/>
                <a:gridCol w="2194560"/>
                <a:gridCol w="1828800"/>
              </a:tblGrid>
              <a:tr h="246888">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Hub</a:t>
                      </a:r>
                      <a:endParaRPr lang="en-US" sz="85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IATA</a:t>
                      </a:r>
                      <a:endParaRPr lang="en-US" sz="85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Role</a:t>
                      </a:r>
                      <a:endParaRPr lang="en-US" sz="85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Daily Departures (est.)</a:t>
                      </a:r>
                      <a:endParaRPr lang="en-US" sz="85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2744"/>
                    </a:solidFill>
                  </a:tcPr>
                </a:tc>
              </a:tr>
              <a:tr h="246888">
                <a:tc>
                  <a:txBody>
                    <a:bodyPr/>
                    <a:lstStyle/>
                    <a:p>
                      <a:pPr algn="l" indent="0" marL="0">
                        <a:buNone/>
                      </a:pPr>
                      <a:r>
                        <a:rPr lang="en-US" sz="850" b="1" dirty="0">
                          <a:solidFill>
                            <a:srgbClr val="1A2744"/>
                          </a:solidFill>
                          <a:latin typeface="Calibri" pitchFamily="34" charset="0"/>
                          <a:ea typeface="Calibri" pitchFamily="34" charset="-122"/>
                          <a:cs typeface="Calibri" pitchFamily="34" charset="-120"/>
                        </a:rPr>
                        <a:t>Chicago O'Hare</a:t>
                      </a:r>
                      <a:endParaRPr lang="en-US" sz="85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850" dirty="0">
                          <a:solidFill>
                            <a:srgbClr val="4A5568"/>
                          </a:solidFill>
                          <a:latin typeface="Calibri" pitchFamily="34" charset="0"/>
                          <a:ea typeface="Calibri" pitchFamily="34" charset="-122"/>
                          <a:cs typeface="Calibri" pitchFamily="34" charset="-120"/>
                        </a:rPr>
                        <a:t>ORD</a:t>
                      </a:r>
                      <a:endParaRPr lang="en-US" sz="85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850" dirty="0">
                          <a:solidFill>
                            <a:srgbClr val="4A5568"/>
                          </a:solidFill>
                          <a:latin typeface="Calibri" pitchFamily="34" charset="0"/>
                          <a:ea typeface="Calibri" pitchFamily="34" charset="-122"/>
                          <a:cs typeface="Calibri" pitchFamily="34" charset="-120"/>
                        </a:rPr>
                        <a:t>Primary domestic/intl</a:t>
                      </a:r>
                      <a:endParaRPr lang="en-US" sz="85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850" dirty="0">
                          <a:solidFill>
                            <a:srgbClr val="4A5568"/>
                          </a:solidFill>
                          <a:latin typeface="Calibri" pitchFamily="34" charset="0"/>
                          <a:ea typeface="Calibri" pitchFamily="34" charset="-122"/>
                          <a:cs typeface="Calibri" pitchFamily="34" charset="-120"/>
                        </a:rPr>
                        <a:t>~500</a:t>
                      </a:r>
                      <a:endParaRPr lang="en-US" sz="85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r>
              <a:tr h="246888">
                <a:tc>
                  <a:txBody>
                    <a:bodyPr/>
                    <a:lstStyle/>
                    <a:p>
                      <a:pPr algn="l" indent="0" marL="0">
                        <a:buNone/>
                      </a:pPr>
                      <a:r>
                        <a:rPr lang="en-US" sz="850" b="1" dirty="0">
                          <a:solidFill>
                            <a:srgbClr val="1A2744"/>
                          </a:solidFill>
                          <a:latin typeface="Calibri" pitchFamily="34" charset="0"/>
                          <a:ea typeface="Calibri" pitchFamily="34" charset="-122"/>
                          <a:cs typeface="Calibri" pitchFamily="34" charset="-120"/>
                        </a:rPr>
                        <a:t>Newark/New York</a:t>
                      </a:r>
                      <a:endParaRPr lang="en-US" sz="85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4A5568"/>
                          </a:solidFill>
                          <a:latin typeface="Calibri" pitchFamily="34" charset="0"/>
                          <a:ea typeface="Calibri" pitchFamily="34" charset="-122"/>
                          <a:cs typeface="Calibri" pitchFamily="34" charset="-120"/>
                        </a:rPr>
                        <a:t>EWR</a:t>
                      </a:r>
                      <a:endParaRPr lang="en-US" sz="85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4A5568"/>
                          </a:solidFill>
                          <a:latin typeface="Calibri" pitchFamily="34" charset="0"/>
                          <a:ea typeface="Calibri" pitchFamily="34" charset="-122"/>
                          <a:cs typeface="Calibri" pitchFamily="34" charset="-120"/>
                        </a:rPr>
                        <a:t>Northeast gateway</a:t>
                      </a:r>
                      <a:endParaRPr lang="en-US" sz="85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4A5568"/>
                          </a:solidFill>
                          <a:latin typeface="Calibri" pitchFamily="34" charset="0"/>
                          <a:ea typeface="Calibri" pitchFamily="34" charset="-122"/>
                          <a:cs typeface="Calibri" pitchFamily="34" charset="-120"/>
                        </a:rPr>
                        <a:t>~400</a:t>
                      </a:r>
                      <a:endParaRPr lang="en-US" sz="85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r h="246888">
                <a:tc>
                  <a:txBody>
                    <a:bodyPr/>
                    <a:lstStyle/>
                    <a:p>
                      <a:pPr algn="l" indent="0" marL="0">
                        <a:buNone/>
                      </a:pPr>
                      <a:r>
                        <a:rPr lang="en-US" sz="850" b="1" dirty="0">
                          <a:solidFill>
                            <a:srgbClr val="1A2744"/>
                          </a:solidFill>
                          <a:latin typeface="Calibri" pitchFamily="34" charset="0"/>
                          <a:ea typeface="Calibri" pitchFamily="34" charset="-122"/>
                          <a:cs typeface="Calibri" pitchFamily="34" charset="-120"/>
                        </a:rPr>
                        <a:t>Houston Intercontinental</a:t>
                      </a:r>
                      <a:endParaRPr lang="en-US" sz="85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850" dirty="0">
                          <a:solidFill>
                            <a:srgbClr val="4A5568"/>
                          </a:solidFill>
                          <a:latin typeface="Calibri" pitchFamily="34" charset="0"/>
                          <a:ea typeface="Calibri" pitchFamily="34" charset="-122"/>
                          <a:cs typeface="Calibri" pitchFamily="34" charset="-120"/>
                        </a:rPr>
                        <a:t>IAH</a:t>
                      </a:r>
                      <a:endParaRPr lang="en-US" sz="85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850" dirty="0">
                          <a:solidFill>
                            <a:srgbClr val="4A5568"/>
                          </a:solidFill>
                          <a:latin typeface="Calibri" pitchFamily="34" charset="0"/>
                          <a:ea typeface="Calibri" pitchFamily="34" charset="-122"/>
                          <a:cs typeface="Calibri" pitchFamily="34" charset="-120"/>
                        </a:rPr>
                        <a:t>Latin America/Gulf</a:t>
                      </a:r>
                      <a:endParaRPr lang="en-US" sz="85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850" dirty="0">
                          <a:solidFill>
                            <a:srgbClr val="4A5568"/>
                          </a:solidFill>
                          <a:latin typeface="Calibri" pitchFamily="34" charset="0"/>
                          <a:ea typeface="Calibri" pitchFamily="34" charset="-122"/>
                          <a:cs typeface="Calibri" pitchFamily="34" charset="-120"/>
                        </a:rPr>
                        <a:t>~350</a:t>
                      </a:r>
                      <a:endParaRPr lang="en-US" sz="85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r>
              <a:tr h="246888">
                <a:tc>
                  <a:txBody>
                    <a:bodyPr/>
                    <a:lstStyle/>
                    <a:p>
                      <a:pPr algn="l" indent="0" marL="0">
                        <a:buNone/>
                      </a:pPr>
                      <a:r>
                        <a:rPr lang="en-US" sz="850" b="1" dirty="0">
                          <a:solidFill>
                            <a:srgbClr val="1A2744"/>
                          </a:solidFill>
                          <a:latin typeface="Calibri" pitchFamily="34" charset="0"/>
                          <a:ea typeface="Calibri" pitchFamily="34" charset="-122"/>
                          <a:cs typeface="Calibri" pitchFamily="34" charset="-120"/>
                        </a:rPr>
                        <a:t>Denver</a:t>
                      </a:r>
                      <a:endParaRPr lang="en-US" sz="85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4A5568"/>
                          </a:solidFill>
                          <a:latin typeface="Calibri" pitchFamily="34" charset="0"/>
                          <a:ea typeface="Calibri" pitchFamily="34" charset="-122"/>
                          <a:cs typeface="Calibri" pitchFamily="34" charset="-120"/>
                        </a:rPr>
                        <a:t>DEN</a:t>
                      </a:r>
                      <a:endParaRPr lang="en-US" sz="85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4A5568"/>
                          </a:solidFill>
                          <a:latin typeface="Calibri" pitchFamily="34" charset="0"/>
                          <a:ea typeface="Calibri" pitchFamily="34" charset="-122"/>
                          <a:cs typeface="Calibri" pitchFamily="34" charset="-120"/>
                        </a:rPr>
                        <a:t>Mountain West hub</a:t>
                      </a:r>
                      <a:endParaRPr lang="en-US" sz="85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4A5568"/>
                          </a:solidFill>
                          <a:latin typeface="Calibri" pitchFamily="34" charset="0"/>
                          <a:ea typeface="Calibri" pitchFamily="34" charset="-122"/>
                          <a:cs typeface="Calibri" pitchFamily="34" charset="-120"/>
                        </a:rPr>
                        <a:t>~280</a:t>
                      </a:r>
                      <a:endParaRPr lang="en-US" sz="85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r h="246888">
                <a:tc>
                  <a:txBody>
                    <a:bodyPr/>
                    <a:lstStyle/>
                    <a:p>
                      <a:pPr algn="l" indent="0" marL="0">
                        <a:buNone/>
                      </a:pPr>
                      <a:r>
                        <a:rPr lang="en-US" sz="850" b="1" dirty="0">
                          <a:solidFill>
                            <a:srgbClr val="1A2744"/>
                          </a:solidFill>
                          <a:latin typeface="Calibri" pitchFamily="34" charset="0"/>
                          <a:ea typeface="Calibri" pitchFamily="34" charset="-122"/>
                          <a:cs typeface="Calibri" pitchFamily="34" charset="-120"/>
                        </a:rPr>
                        <a:t>San Francisco</a:t>
                      </a:r>
                      <a:endParaRPr lang="en-US" sz="85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850" dirty="0">
                          <a:solidFill>
                            <a:srgbClr val="4A5568"/>
                          </a:solidFill>
                          <a:latin typeface="Calibri" pitchFamily="34" charset="0"/>
                          <a:ea typeface="Calibri" pitchFamily="34" charset="-122"/>
                          <a:cs typeface="Calibri" pitchFamily="34" charset="-120"/>
                        </a:rPr>
                        <a:t>SFO</a:t>
                      </a:r>
                      <a:endParaRPr lang="en-US" sz="85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850" dirty="0">
                          <a:solidFill>
                            <a:srgbClr val="4A5568"/>
                          </a:solidFill>
                          <a:latin typeface="Calibri" pitchFamily="34" charset="0"/>
                          <a:ea typeface="Calibri" pitchFamily="34" charset="-122"/>
                          <a:cs typeface="Calibri" pitchFamily="34" charset="-120"/>
                        </a:rPr>
                        <a:t>Trans-Pacific gateway</a:t>
                      </a:r>
                      <a:endParaRPr lang="en-US" sz="85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850" dirty="0">
                          <a:solidFill>
                            <a:srgbClr val="4A5568"/>
                          </a:solidFill>
                          <a:latin typeface="Calibri" pitchFamily="34" charset="0"/>
                          <a:ea typeface="Calibri" pitchFamily="34" charset="-122"/>
                          <a:cs typeface="Calibri" pitchFamily="34" charset="-120"/>
                        </a:rPr>
                        <a:t>~260</a:t>
                      </a:r>
                      <a:endParaRPr lang="en-US" sz="85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r>
              <a:tr h="246888">
                <a:tc>
                  <a:txBody>
                    <a:bodyPr/>
                    <a:lstStyle/>
                    <a:p>
                      <a:pPr algn="l" indent="0" marL="0">
                        <a:buNone/>
                      </a:pPr>
                      <a:r>
                        <a:rPr lang="en-US" sz="850" b="1" dirty="0">
                          <a:solidFill>
                            <a:srgbClr val="1A2744"/>
                          </a:solidFill>
                          <a:latin typeface="Calibri" pitchFamily="34" charset="0"/>
                          <a:ea typeface="Calibri" pitchFamily="34" charset="-122"/>
                          <a:cs typeface="Calibri" pitchFamily="34" charset="-120"/>
                        </a:rPr>
                        <a:t>Los Angeles</a:t>
                      </a:r>
                      <a:endParaRPr lang="en-US" sz="85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4A5568"/>
                          </a:solidFill>
                          <a:latin typeface="Calibri" pitchFamily="34" charset="0"/>
                          <a:ea typeface="Calibri" pitchFamily="34" charset="-122"/>
                          <a:cs typeface="Calibri" pitchFamily="34" charset="-120"/>
                        </a:rPr>
                        <a:t>LAX</a:t>
                      </a:r>
                      <a:endParaRPr lang="en-US" sz="85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4A5568"/>
                          </a:solidFill>
                          <a:latin typeface="Calibri" pitchFamily="34" charset="0"/>
                          <a:ea typeface="Calibri" pitchFamily="34" charset="-122"/>
                          <a:cs typeface="Calibri" pitchFamily="34" charset="-120"/>
                        </a:rPr>
                        <a:t>West Coast hub</a:t>
                      </a:r>
                      <a:endParaRPr lang="en-US" sz="85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4A5568"/>
                          </a:solidFill>
                          <a:latin typeface="Calibri" pitchFamily="34" charset="0"/>
                          <a:ea typeface="Calibri" pitchFamily="34" charset="-122"/>
                          <a:cs typeface="Calibri" pitchFamily="34" charset="-120"/>
                        </a:rPr>
                        <a:t>~200</a:t>
                      </a:r>
                      <a:endParaRPr lang="en-US" sz="85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r h="246888">
                <a:tc>
                  <a:txBody>
                    <a:bodyPr/>
                    <a:lstStyle/>
                    <a:p>
                      <a:pPr algn="l" indent="0" marL="0">
                        <a:buNone/>
                      </a:pPr>
                      <a:r>
                        <a:rPr lang="en-US" sz="850" b="1" dirty="0">
                          <a:solidFill>
                            <a:srgbClr val="1A2744"/>
                          </a:solidFill>
                          <a:latin typeface="Calibri" pitchFamily="34" charset="0"/>
                          <a:ea typeface="Calibri" pitchFamily="34" charset="-122"/>
                          <a:cs typeface="Calibri" pitchFamily="34" charset="-120"/>
                        </a:rPr>
                        <a:t>Washington Dulles</a:t>
                      </a:r>
                      <a:endParaRPr lang="en-US" sz="85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850" dirty="0">
                          <a:solidFill>
                            <a:srgbClr val="4A5568"/>
                          </a:solidFill>
                          <a:latin typeface="Calibri" pitchFamily="34" charset="0"/>
                          <a:ea typeface="Calibri" pitchFamily="34" charset="-122"/>
                          <a:cs typeface="Calibri" pitchFamily="34" charset="-120"/>
                        </a:rPr>
                        <a:t>IAD</a:t>
                      </a:r>
                      <a:endParaRPr lang="en-US" sz="85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850" dirty="0">
                          <a:solidFill>
                            <a:srgbClr val="4A5568"/>
                          </a:solidFill>
                          <a:latin typeface="Calibri" pitchFamily="34" charset="0"/>
                          <a:ea typeface="Calibri" pitchFamily="34" charset="-122"/>
                          <a:cs typeface="Calibri" pitchFamily="34" charset="-120"/>
                        </a:rPr>
                        <a:t>Government/premium</a:t>
                      </a:r>
                      <a:endParaRPr lang="en-US" sz="85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c>
                  <a:txBody>
                    <a:bodyPr/>
                    <a:lstStyle/>
                    <a:p>
                      <a:pPr algn="ctr" indent="0" marL="0">
                        <a:buNone/>
                      </a:pPr>
                      <a:r>
                        <a:rPr lang="en-US" sz="850" dirty="0">
                          <a:solidFill>
                            <a:srgbClr val="4A5568"/>
                          </a:solidFill>
                          <a:latin typeface="Calibri" pitchFamily="34" charset="0"/>
                          <a:ea typeface="Calibri" pitchFamily="34" charset="-122"/>
                          <a:cs typeface="Calibri" pitchFamily="34" charset="-120"/>
                        </a:rPr>
                        <a:t>~180</a:t>
                      </a:r>
                      <a:endParaRPr lang="en-US" sz="850" dirty="0">
                        <a:latin typeface="Calibri" charset="0"/>
                        <a:ea typeface="Calibri" charset="0"/>
                        <a:cs typeface="Calibri" charset="0"/>
                      </a:endParaRPr>
                    </a:p>
                  </a:txBody>
                  <a:tcPr marL="50800" marR="50800" marT="25400" marB="2540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0FA"/>
                    </a:solidFill>
                  </a:tcPr>
                </a:tc>
              </a:tr>
            </a:tbl>
          </a:graphicData>
        </a:graphic>
      </p:graphicFrame>
      <p:sp>
        <p:nvSpPr>
          <p:cNvPr id="8" name="Text 5"/>
          <p:cNvSpPr/>
          <p:nvPr/>
        </p:nvSpPr>
        <p:spPr>
          <a:xfrm>
            <a:off x="457200" y="3063240"/>
            <a:ext cx="8229600" cy="182880"/>
          </a:xfrm>
          <a:prstGeom prst="rect">
            <a:avLst/>
          </a:prstGeom>
          <a:noFill/>
          <a:ln/>
        </p:spPr>
        <p:txBody>
          <a:bodyPr wrap="square" rtlCol="0" anchor="ctr"/>
          <a:lstStyle/>
          <a:p>
            <a:pPr algn="l" indent="0" marL="0">
              <a:buNone/>
            </a:pPr>
            <a:r>
              <a:rPr lang="en-US" sz="900" b="1" dirty="0">
                <a:solidFill>
                  <a:srgbClr val="1A2744"/>
                </a:solidFill>
                <a:latin typeface="Calibri" pitchFamily="34" charset="0"/>
                <a:ea typeface="Calibri" pitchFamily="34" charset="-122"/>
                <a:cs typeface="Calibri" pitchFamily="34" charset="-120"/>
              </a:rPr>
              <a:t>WORKFORCE &amp; LONG-TERM TARGETS</a:t>
            </a:r>
            <a:endParaRPr lang="en-US" sz="900" dirty="0"/>
          </a:p>
        </p:txBody>
      </p:sp>
      <p:sp>
        <p:nvSpPr>
          <p:cNvPr id="9" name="Text 6"/>
          <p:cNvSpPr/>
          <p:nvPr/>
        </p:nvSpPr>
        <p:spPr>
          <a:xfrm>
            <a:off x="457200" y="3282696"/>
            <a:ext cx="8229600" cy="960120"/>
          </a:xfrm>
          <a:prstGeom prst="rect">
            <a:avLst/>
          </a:prstGeom>
          <a:noFill/>
          <a:ln/>
        </p:spPr>
        <p:txBody>
          <a:bodyPr wrap="square" rtlCol="0" anchor="ctr"/>
          <a:lstStyle/>
          <a:p>
            <a:pPr algn="l" indent="0" marL="0">
              <a:lnSpc>
                <a:spcPct val="130000"/>
              </a:lnSpc>
              <a:buNone/>
            </a:pPr>
            <a:r>
              <a:rPr lang="en-US" sz="900" dirty="0">
                <a:solidFill>
                  <a:srgbClr val="4A5568"/>
                </a:solidFill>
                <a:latin typeface="Calibri" pitchFamily="34" charset="0"/>
                <a:ea typeface="Calibri" pitchFamily="34" charset="-122"/>
                <a:cs typeface="Calibri" pitchFamily="34" charset="-120"/>
              </a:rPr>
              <a:t>Employees: ~100,000 (FY2025)</a:t>
            </a:r>
            <a:endParaRPr lang="en-US" sz="900" dirty="0"/>
          </a:p>
          <a:p>
            <a:pPr algn="l" indent="0" marL="0">
              <a:lnSpc>
                <a:spcPct val="130000"/>
              </a:lnSpc>
              <a:buNone/>
            </a:pPr>
            <a:r>
              <a:rPr lang="en-US" sz="900" dirty="0">
                <a:solidFill>
                  <a:srgbClr val="4A5568"/>
                </a:solidFill>
                <a:latin typeface="Calibri" pitchFamily="34" charset="0"/>
                <a:ea typeface="Calibri" pitchFamily="34" charset="-122"/>
                <a:cs typeface="Calibri" pitchFamily="34" charset="-120"/>
              </a:rPr>
              <a:t>Unionized: ~84%</a:t>
            </a:r>
            <a:endParaRPr lang="en-US" sz="900" dirty="0"/>
          </a:p>
          <a:p>
            <a:pPr algn="l" indent="0" marL="0">
              <a:lnSpc>
                <a:spcPct val="130000"/>
              </a:lnSpc>
              <a:buNone/>
            </a:pPr>
            <a:r>
              <a:rPr lang="en-US" sz="900" dirty="0">
                <a:solidFill>
                  <a:srgbClr val="4A5568"/>
                </a:solidFill>
                <a:latin typeface="Calibri" pitchFamily="34" charset="0"/>
                <a:ea typeface="Calibri" pitchFamily="34" charset="-122"/>
                <a:cs typeface="Calibri" pitchFamily="34" charset="-120"/>
              </a:rPr>
              <a:t>Pilot headcount: ~16,000+</a:t>
            </a:r>
            <a:endParaRPr lang="en-US" sz="900" dirty="0"/>
          </a:p>
          <a:p>
            <a:pPr algn="l" indent="0" marL="0">
              <a:lnSpc>
                <a:spcPct val="130000"/>
              </a:lnSpc>
              <a:buNone/>
            </a:pPr>
            <a:r>
              <a:rPr lang="en-US" sz="900" dirty="0">
                <a:solidFill>
                  <a:srgbClr val="4A5568"/>
                </a:solidFill>
                <a:latin typeface="Calibri" pitchFamily="34" charset="0"/>
                <a:ea typeface="Calibri" pitchFamily="34" charset="-122"/>
                <a:cs typeface="Calibri" pitchFamily="34" charset="-120"/>
              </a:rPr>
              <a:t>New contracts settled: ALPA, IAM, AFA (2024-25)</a:t>
            </a:r>
            <a:endParaRPr lang="en-US" sz="900" dirty="0"/>
          </a:p>
          <a:p>
            <a:pPr algn="l" indent="0" marL="0">
              <a:lnSpc>
                <a:spcPct val="130000"/>
              </a:lnSpc>
              <a:buNone/>
            </a:pPr>
            <a:endParaRPr lang="en-US" sz="900" dirty="0"/>
          </a:p>
          <a:p>
            <a:pPr algn="l" indent="0" marL="0">
              <a:lnSpc>
                <a:spcPct val="130000"/>
              </a:lnSpc>
              <a:buNone/>
            </a:pPr>
            <a:r>
              <a:rPr lang="en-US" sz="900" dirty="0">
                <a:solidFill>
                  <a:srgbClr val="4A5568"/>
                </a:solidFill>
                <a:latin typeface="Calibri" pitchFamily="34" charset="0"/>
                <a:ea typeface="Calibri" pitchFamily="34" charset="-122"/>
                <a:cs typeface="Calibri" pitchFamily="34" charset="-120"/>
              </a:rPr>
              <a:t>Long-term targets:</a:t>
            </a:r>
            <a:endParaRPr lang="en-US" sz="900" dirty="0"/>
          </a:p>
          <a:p>
            <a:pPr algn="l" indent="0" marL="0">
              <a:lnSpc>
                <a:spcPct val="130000"/>
              </a:lnSpc>
              <a:buNone/>
            </a:pPr>
            <a:r>
              <a:rPr lang="en-US" sz="900" dirty="0">
                <a:solidFill>
                  <a:srgbClr val="4A5568"/>
                </a:solidFill>
                <a:latin typeface="Calibri" pitchFamily="34" charset="0"/>
                <a:ea typeface="Calibri" pitchFamily="34" charset="-122"/>
                <a:cs typeface="Calibri" pitchFamily="34" charset="-120"/>
              </a:rPr>
              <a:t>• Adj EPS $15+ by 2028</a:t>
            </a:r>
            <a:endParaRPr lang="en-US" sz="900" dirty="0"/>
          </a:p>
          <a:p>
            <a:pPr algn="l" indent="0" marL="0">
              <a:lnSpc>
                <a:spcPct val="130000"/>
              </a:lnSpc>
              <a:buNone/>
            </a:pPr>
            <a:r>
              <a:rPr lang="en-US" sz="900" dirty="0">
                <a:solidFill>
                  <a:srgbClr val="4A5568"/>
                </a:solidFill>
                <a:latin typeface="Calibri" pitchFamily="34" charset="0"/>
                <a:ea typeface="Calibri" pitchFamily="34" charset="-122"/>
                <a:cs typeface="Calibri" pitchFamily="34" charset="-120"/>
              </a:rPr>
              <a:t>• Net leverage &lt;2.0x by 2027</a:t>
            </a:r>
            <a:endParaRPr lang="en-US" sz="900" dirty="0"/>
          </a:p>
          <a:p>
            <a:pPr algn="l" indent="0" marL="0">
              <a:lnSpc>
                <a:spcPct val="130000"/>
              </a:lnSpc>
              <a:buNone/>
            </a:pPr>
            <a:r>
              <a:rPr lang="en-US" sz="900" dirty="0">
                <a:solidFill>
                  <a:srgbClr val="4A5568"/>
                </a:solidFill>
                <a:latin typeface="Calibri" pitchFamily="34" charset="0"/>
                <a:ea typeface="Calibri" pitchFamily="34" charset="-122"/>
                <a:cs typeface="Calibri" pitchFamily="34" charset="-120"/>
              </a:rPr>
              <a:t>• CASM ex-fuel flat to -1% by 2027</a:t>
            </a:r>
            <a:endParaRPr lang="en-US" sz="900" dirty="0"/>
          </a:p>
          <a:p>
            <a:pPr algn="l" indent="0" marL="0">
              <a:lnSpc>
                <a:spcPct val="130000"/>
              </a:lnSpc>
              <a:buNone/>
            </a:pPr>
            <a:r>
              <a:rPr lang="en-US" sz="900" dirty="0">
                <a:solidFill>
                  <a:srgbClr val="4A5568"/>
                </a:solidFill>
                <a:latin typeface="Calibri" pitchFamily="34" charset="0"/>
                <a:ea typeface="Calibri" pitchFamily="34" charset="-122"/>
                <a:cs typeface="Calibri" pitchFamily="34" charset="-120"/>
              </a:rPr>
              <a:t>• ASM growth 4–6% annually</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UAL FY2025 Results &amp; 2026 Outlook</dc:title>
  <dc:subject>PptxGenJS Presentation</dc:subject>
  <dc:creator>United Airlines Holdings, Inc.</dc:creator>
  <cp:lastModifiedBy>United Airlines Holdings, Inc.</cp:lastModifiedBy>
  <cp:revision>1</cp:revision>
  <dcterms:created xsi:type="dcterms:W3CDTF">2026-03-30T21:35:17Z</dcterms:created>
  <dcterms:modified xsi:type="dcterms:W3CDTF">2026-03-30T21:35:17Z</dcterms:modified>
</cp:coreProperties>
</file>