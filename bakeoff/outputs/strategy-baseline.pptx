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($M)</c:v>
                </c:pt>
              </c:strCache>
            </c:strRef>
          </c:tx>
          <c:spPr>
            <a:solidFill>
              <a:srgbClr val="2E7FD9"/>
            </a:solidFill>
            <a:ln w="31750" cap="flat">
              <a:solidFill>
                <a:srgbClr val="2E7FD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7FD9"/>
              </a:solidFill>
              <a:ln w="9525" cap="flat">
                <a:solidFill>
                  <a:srgbClr val="2E7FD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Q1'25</c:v>
                  </c:pt>
                  <c:pt idx="1">
                    <c:v>Q2'25</c:v>
                  </c:pt>
                  <c:pt idx="2">
                    <c:v>Q3'25</c:v>
                  </c:pt>
                  <c:pt idx="3">
                    <c:v>Q4'25</c:v>
                  </c:pt>
                  <c:pt idx="4">
                    <c:v>Q1'26</c:v>
                  </c:pt>
                  <c:pt idx="5">
                    <c:v>Q2'26</c:v>
                  </c:pt>
                  <c:pt idx="6">
                    <c:v>Q3'26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7.2</c:v>
                </c:pt>
                <c:pt idx="1">
                  <c:v>8.5</c:v>
                </c:pt>
                <c:pt idx="2">
                  <c:v>9.8</c:v>
                </c:pt>
                <c:pt idx="3">
                  <c:v>11.4</c:v>
                </c:pt>
                <c:pt idx="4">
                  <c:v>12.8</c:v>
                </c:pt>
                <c:pt idx="5">
                  <c:v>14.1</c:v>
                </c:pt>
                <c:pt idx="6">
                  <c:v>15.6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 w="12700" cap="flat">
      <a:solidFill>
        <a:srgbClr val="E2E8F0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Subscription</c:v>
                </c:pt>
              </c:strCache>
            </c:strRef>
          </c:tx>
          <c:spPr>
            <a:solidFill>
              <a:srgbClr val="2E7FD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Q1'26</c:v>
                  </c:pt>
                  <c:pt idx="1">
                    <c:v>Q2'26</c:v>
                  </c:pt>
                  <c:pt idx="2">
                    <c:v>Q3'26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3.1</c:v>
                </c:pt>
                <c:pt idx="1">
                  <c:v>3.4</c:v>
                </c:pt>
                <c:pt idx="2">
                  <c:v>3.8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Services</c:v>
                </c:pt>
              </c:strCache>
            </c:strRef>
          </c:tx>
          <c:spPr>
            <a:solidFill>
              <a:srgbClr val="93C5F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Q1'26</c:v>
                  </c:pt>
                  <c:pt idx="1">
                    <c:v>Q2'26</c:v>
                  </c:pt>
                  <c:pt idx="2">
                    <c:v>Q3'26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0.3</c:v>
                </c:pt>
                <c:pt idx="1">
                  <c:v>0.3</c:v>
                </c:pt>
                <c:pt idx="2">
                  <c:v>0.3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 w="12700" cap="flat">
      <a:solidFill>
        <a:srgbClr val="E2E8F0"/>
      </a:solidFill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Blended</c:v>
                </c:pt>
              </c:strCache>
            </c:strRef>
          </c:tx>
          <c:spPr>
            <a:solidFill>
              <a:srgbClr val="2E7FD9"/>
            </a:solidFill>
            <a:ln w="25400" cap="flat">
              <a:solidFill>
                <a:srgbClr val="2E7FD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7FD9"/>
              </a:solidFill>
              <a:ln w="9525" cap="flat">
                <a:solidFill>
                  <a:srgbClr val="2E7FD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Q1'25</c:v>
                  </c:pt>
                  <c:pt idx="1">
                    <c:v>Q2'25</c:v>
                  </c:pt>
                  <c:pt idx="2">
                    <c:v>Q3'25</c:v>
                  </c:pt>
                  <c:pt idx="3">
                    <c:v>Q4'25</c:v>
                  </c:pt>
                  <c:pt idx="4">
                    <c:v>Q1'26</c:v>
                  </c:pt>
                  <c:pt idx="5">
                    <c:v>Q2'26</c:v>
                  </c:pt>
                  <c:pt idx="6">
                    <c:v>Q3'26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22.4</c:v>
                </c:pt>
                <c:pt idx="1">
                  <c:v>20.1</c:v>
                </c:pt>
                <c:pt idx="2">
                  <c:v>19.8</c:v>
                </c:pt>
                <c:pt idx="3">
                  <c:v>18.2</c:v>
                </c:pt>
                <c:pt idx="4">
                  <c:v>17.6</c:v>
                </c:pt>
                <c:pt idx="5">
                  <c:v>16.4</c:v>
                </c:pt>
                <c:pt idx="6">
                  <c:v>15.8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Enterprise</c:v>
                </c:pt>
              </c:strCache>
            </c:strRef>
          </c:tx>
          <c:spPr>
            <a:solidFill>
              <a:srgbClr val="0D9488"/>
            </a:solidFill>
            <a:ln w="2540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Q1'25</c:v>
                  </c:pt>
                  <c:pt idx="1">
                    <c:v>Q2'25</c:v>
                  </c:pt>
                  <c:pt idx="2">
                    <c:v>Q3'25</c:v>
                  </c:pt>
                  <c:pt idx="3">
                    <c:v>Q4'25</c:v>
                  </c:pt>
                  <c:pt idx="4">
                    <c:v>Q1'26</c:v>
                  </c:pt>
                  <c:pt idx="5">
                    <c:v>Q2'26</c:v>
                  </c:pt>
                  <c:pt idx="6">
                    <c:v>Q3'26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38.2</c:v>
                </c:pt>
                <c:pt idx="1">
                  <c:v>34.6</c:v>
                </c:pt>
                <c:pt idx="2">
                  <c:v>32.1</c:v>
                </c:pt>
                <c:pt idx="3">
                  <c:v>28.4</c:v>
                </c:pt>
                <c:pt idx="4">
                  <c:v>26.8</c:v>
                </c:pt>
                <c:pt idx="5">
                  <c:v>24.2</c:v>
                </c:pt>
                <c:pt idx="6">
                  <c:v>22.6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Mid-Market</c:v>
                </c:pt>
              </c:strCache>
            </c:strRef>
          </c:tx>
          <c:spPr>
            <a:solidFill>
              <a:srgbClr val="D97706"/>
            </a:solidFill>
            <a:ln w="25400" cap="flat">
              <a:solidFill>
                <a:srgbClr val="D9770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97706"/>
              </a:solidFill>
              <a:ln w="9525" cap="flat">
                <a:solidFill>
                  <a:srgbClr val="D9770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Q1'25</c:v>
                  </c:pt>
                  <c:pt idx="1">
                    <c:v>Q2'25</c:v>
                  </c:pt>
                  <c:pt idx="2">
                    <c:v>Q3'25</c:v>
                  </c:pt>
                  <c:pt idx="3">
                    <c:v>Q4'25</c:v>
                  </c:pt>
                  <c:pt idx="4">
                    <c:v>Q1'26</c:v>
                  </c:pt>
                  <c:pt idx="5">
                    <c:v>Q2'26</c:v>
                  </c:pt>
                  <c:pt idx="6">
                    <c:v>Q3'26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14.8</c:v>
                </c:pt>
                <c:pt idx="1">
                  <c:v>13.2</c:v>
                </c:pt>
                <c:pt idx="2">
                  <c:v>13.6</c:v>
                </c:pt>
                <c:pt idx="3">
                  <c:v>12.4</c:v>
                </c:pt>
                <c:pt idx="4">
                  <c:v>12.1</c:v>
                </c:pt>
                <c:pt idx="5">
                  <c:v>11.8</c:v>
                </c:pt>
                <c:pt idx="6">
                  <c:v>11.2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75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 w="12700" cap="flat">
      <a:solidFill>
        <a:srgbClr val="E2E8F0"/>
      </a:solidFill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Q3 2026</c:v>
                </c:pt>
              </c:strCache>
            </c:strRef>
          </c:tx>
          <c:spPr>
            <a:solidFill>
              <a:srgbClr val="2E7FD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Eng</c:v>
                  </c:pt>
                  <c:pt idx="1">
                    <c:v>Prod</c:v>
                  </c:pt>
                  <c:pt idx="2">
                    <c:v>Sales</c:v>
                  </c:pt>
                  <c:pt idx="3">
                    <c:v>CS</c:v>
                  </c:pt>
                  <c:pt idx="4">
                    <c:v>Mktg</c:v>
                  </c:pt>
                  <c:pt idx="5">
                    <c:v>G&amp;A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46</c:v>
                </c:pt>
                <c:pt idx="1">
                  <c:v>9</c:v>
                </c:pt>
                <c:pt idx="2">
                  <c:v>22</c:v>
                </c:pt>
                <c:pt idx="3">
                  <c:v>14</c:v>
                </c:pt>
                <c:pt idx="4">
                  <c:v>9</c:v>
                </c:pt>
                <c:pt idx="5">
                  <c:v>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Q4 Target</c:v>
                </c:pt>
              </c:strCache>
            </c:strRef>
          </c:tx>
          <c:spPr>
            <a:solidFill>
              <a:srgbClr val="93C5F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Eng</c:v>
                  </c:pt>
                  <c:pt idx="1">
                    <c:v>Prod</c:v>
                  </c:pt>
                  <c:pt idx="2">
                    <c:v>Sales</c:v>
                  </c:pt>
                  <c:pt idx="3">
                    <c:v>CS</c:v>
                  </c:pt>
                  <c:pt idx="4">
                    <c:v>Mktg</c:v>
                  </c:pt>
                  <c:pt idx="5">
                    <c:v>G&amp;A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50</c:v>
                </c:pt>
                <c:pt idx="1">
                  <c:v>10</c:v>
                </c:pt>
                <c:pt idx="2">
                  <c:v>25</c:v>
                </c:pt>
                <c:pt idx="3">
                  <c:v>16</c:v>
                </c:pt>
                <c:pt idx="4">
                  <c:v>10</c:v>
                </c:pt>
                <c:pt idx="5">
                  <c:v>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 w="12700" cap="flat">
      <a:solidFill>
        <a:srgbClr val="E2E8F0"/>
      </a:solidFill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Burn ($K)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Q1'26</c:v>
                  </c:pt>
                  <c:pt idx="1">
                    <c:v>Q2'26</c:v>
                  </c:pt>
                  <c:pt idx="2">
                    <c:v>Q3'26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193</c:v>
                </c:pt>
                <c:pt idx="1">
                  <c:v>233</c:v>
                </c:pt>
                <c:pt idx="2">
                  <c:v>223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 w="12700" cap="flat">
      <a:solidFill>
        <a:srgbClr val="E2E8F0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7FD9"/>
          </a:solidFill>
          <a:ln w="12700">
            <a:solidFill>
              <a:srgbClr val="2E7F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57200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</a:rPr>
              <a:t>Q3 2026 STRATEGIC REVIEW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93268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7C7"/>
                </a:solidFill>
              </a:rPr>
              <a:t>NovaCrest  ·  Board of Directors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20700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9B"/>
                </a:solidFill>
              </a:rPr>
              <a:t>March 31, 2026  ·  Confidential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572768"/>
            <a:ext cx="4754880" cy="27432"/>
          </a:xfrm>
          <a:prstGeom prst="rect">
            <a:avLst/>
          </a:prstGeom>
          <a:solidFill>
            <a:srgbClr val="2E7FD9"/>
          </a:solidFill>
          <a:ln w="12700">
            <a:solidFill>
              <a:srgbClr val="2E7F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627632"/>
            <a:ext cx="1143000" cy="621792"/>
          </a:xfrm>
          <a:prstGeom prst="rect">
            <a:avLst/>
          </a:prstGeom>
          <a:solidFill>
            <a:srgbClr val="0D1E3A"/>
          </a:solidFill>
          <a:ln w="6350">
            <a:solidFill>
              <a:srgbClr val="2E7F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66420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FD9"/>
                </a:solidFill>
              </a:rPr>
              <a:t>$15.6M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4048" y="192024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ARR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508760" y="1627632"/>
            <a:ext cx="1143000" cy="621792"/>
          </a:xfrm>
          <a:prstGeom prst="rect">
            <a:avLst/>
          </a:prstGeom>
          <a:solidFill>
            <a:srgbClr val="0D1E3A"/>
          </a:solidFill>
          <a:ln w="6350">
            <a:solidFill>
              <a:srgbClr val="2E7F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72768" y="166420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FD9"/>
                </a:solidFill>
              </a:rPr>
              <a:t>Series 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72768" y="192024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Stage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697480" y="1627632"/>
            <a:ext cx="1143000" cy="621792"/>
          </a:xfrm>
          <a:prstGeom prst="rect">
            <a:avLst/>
          </a:prstGeom>
          <a:solidFill>
            <a:srgbClr val="0D1E3A"/>
          </a:solidFill>
          <a:ln w="6350">
            <a:solidFill>
              <a:srgbClr val="2E7F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61488" y="166420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FD9"/>
                </a:solidFill>
              </a:rPr>
              <a:t>112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61488" y="192024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Headcount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886200" y="1627632"/>
            <a:ext cx="1143000" cy="621792"/>
          </a:xfrm>
          <a:prstGeom prst="rect">
            <a:avLst/>
          </a:prstGeom>
          <a:solidFill>
            <a:srgbClr val="0D1E3A"/>
          </a:solidFill>
          <a:ln w="6350">
            <a:solidFill>
              <a:srgbClr val="2E7F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50208" y="166420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FD9"/>
                </a:solidFill>
              </a:rPr>
              <a:t>2021, SF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950208" y="192024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Founded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20040" y="235915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B"/>
                </a:solidFill>
              </a:rPr>
              <a:t>CEO: Sarah Chen  ·  CFO: David Park  ·  CTO: Marcus Williams  ·  VP Sales: Rachel Torres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0040" y="2596896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9B"/>
                </a:solidFill>
              </a:rPr>
              <a:t>Board: Jeff Blackwell (Insight), Priya Sharma (Accel), Tom Nguyen (Independent)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40680" y="256032"/>
            <a:ext cx="347472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32120" y="256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✓  Q3 KEY WINS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532120" y="493776"/>
            <a:ext cx="3383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→  ARR +10.6% QoQ → $15.6M  (+4.2% vs plan)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532120" y="786384"/>
            <a:ext cx="3383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→  Pipeline $8.6M — best quarter ever; win rate 28.4%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532120" y="1078992"/>
            <a:ext cx="3383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→  VP CS + Head of Partnerships + 2 ML PhDs hired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440680" y="1426464"/>
            <a:ext cx="3474720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32120" y="142646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⚠  CONCERNS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532120" y="1664208"/>
            <a:ext cx="3383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D580"/>
                </a:solidFill>
              </a:rPr>
              <a:t>→  Churn spike: $500K in Q3 (+66% QoQ); 58% preventable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532120" y="1956816"/>
            <a:ext cx="3383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D580"/>
                </a:solidFill>
              </a:rPr>
              <a:t>→  Competitive: DataForge SMB module; Zenith fundraise + hiring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440680" y="2340864"/>
            <a:ext cx="3474720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32120" y="234086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●  BOARD DECISION REQUIRED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532120" y="2578608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CA5A5"/>
                </a:solidFill>
              </a:rPr>
              <a:t>→  Approve $2.5M CS investment to address preventable churn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A5A5"/>
                </a:solidFill>
              </a:rPr>
              <a:t>→  Approve usage-based SMB pricing tier ($499/mo)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A5A5"/>
                </a:solidFill>
              </a:rPr>
              <a:t>→  Discuss Series C timing (Q2 2027 vs $30M ARR milestone)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440680" y="3383280"/>
            <a:ext cx="3474720" cy="201168"/>
          </a:xfrm>
          <a:prstGeom prst="rect">
            <a:avLst/>
          </a:prstGeom>
          <a:solidFill>
            <a:srgbClr val="162A4A"/>
          </a:solidFill>
          <a:ln w="6350">
            <a:solidFill>
              <a:srgbClr val="2E7F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32120" y="338328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7FD9"/>
                </a:solidFill>
              </a:rPr>
              <a:t>AGENDA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532120" y="362102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  Revenue Dashboard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532120" y="385876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2  GTM + Customer Health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532120" y="409651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3  Product + Team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532120" y="433425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4  Financial Outlook + Competitive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532120" y="457200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5  Board Asks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80F1C"/>
          </a:solidFill>
          <a:ln w="12700">
            <a:solidFill>
              <a:srgbClr val="080F1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5470"/>
                </a:solidFill>
              </a:rPr>
              <a:t>NovaCrest  |  Q3 2026 Board Review  | 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75488"/>
            <a:ext cx="9144000" cy="27432"/>
          </a:xfrm>
          <a:prstGeom prst="rect">
            <a:avLst/>
          </a:prstGeom>
          <a:solidFill>
            <a:srgbClr val="2E7FD9"/>
          </a:solidFill>
          <a:ln w="12700">
            <a:solidFill>
              <a:srgbClr val="2E7F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SLIDE 2  ·  Revenue Dashboard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0" y="0"/>
            <a:ext cx="8869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A7C7"/>
                </a:solidFill>
              </a:rPr>
              <a:t>Q3 2026 Actuals vs Plan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874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2A0"/>
                </a:solidFill>
              </a:rPr>
              <a:t>NovaCrest  |  Q3 2026 Board Review  |  CONFIDENTIAL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0" y="4887468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82A0"/>
                </a:solidFill>
              </a:rPr>
              <a:t>March 31, 2026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37160" y="594360"/>
            <a:ext cx="1700784" cy="749808"/>
          </a:xfrm>
          <a:prstGeom prst="rect">
            <a:avLst/>
          </a:prstGeom>
          <a:solidFill>
            <a:srgbClr val="F4F6FA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" y="594360"/>
            <a:ext cx="64008" cy="749808"/>
          </a:xfrm>
          <a:prstGeom prst="rect">
            <a:avLst/>
          </a:prstGeom>
          <a:solidFill>
            <a:srgbClr val="2E7FD9"/>
          </a:solidFill>
          <a:ln w="12700">
            <a:solidFill>
              <a:srgbClr val="2E7F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" y="667512"/>
            <a:ext cx="1536192" cy="359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E7FD9"/>
                </a:solidFill>
              </a:rPr>
              <a:t>$15.6M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265176" y="984260"/>
            <a:ext cx="1536192" cy="19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</a:rPr>
              <a:t>ARR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65176" y="1149218"/>
            <a:ext cx="1536192" cy="164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+10.6% QoQ  ·  +4.2% vs plan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911096" y="594360"/>
            <a:ext cx="1700784" cy="749808"/>
          </a:xfrm>
          <a:prstGeom prst="rect">
            <a:avLst/>
          </a:prstGeom>
          <a:solidFill>
            <a:srgbClr val="F4F6FA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11096" y="594360"/>
            <a:ext cx="64008" cy="7498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39112" y="667512"/>
            <a:ext cx="1536192" cy="359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97706"/>
                </a:solidFill>
              </a:rPr>
              <a:t>118%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2039112" y="984260"/>
            <a:ext cx="1536192" cy="19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</a:rPr>
              <a:t>Net Revenue Retention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039112" y="1149218"/>
            <a:ext cx="1536192" cy="164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Target 120%+  ·  ↓ from 121% (churn)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85032" y="594360"/>
            <a:ext cx="1700784" cy="749808"/>
          </a:xfrm>
          <a:prstGeom prst="rect">
            <a:avLst/>
          </a:prstGeom>
          <a:solidFill>
            <a:srgbClr val="F4F6FA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85032" y="594360"/>
            <a:ext cx="6400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13048" y="667512"/>
            <a:ext cx="1536192" cy="359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9488"/>
                </a:solidFill>
              </a:rPr>
              <a:t>78.2%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3813048" y="984260"/>
            <a:ext cx="1536192" cy="19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</a:rPr>
              <a:t>Gross Margin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813048" y="1149218"/>
            <a:ext cx="1536192" cy="164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Target 80%+  ·  Improving ↑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58968" y="594360"/>
            <a:ext cx="1700784" cy="749808"/>
          </a:xfrm>
          <a:prstGeom prst="rect">
            <a:avLst/>
          </a:prstGeom>
          <a:solidFill>
            <a:srgbClr val="F4F6FA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58968" y="594360"/>
            <a:ext cx="6400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86984" y="667512"/>
            <a:ext cx="1536192" cy="359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9488"/>
                </a:solidFill>
              </a:rPr>
              <a:t>1.12x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5586984" y="984260"/>
            <a:ext cx="1536192" cy="19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</a:rPr>
              <a:t>Magic Number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586984" y="1149218"/>
            <a:ext cx="1536192" cy="164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Q2: 0.98  ·  Target &gt;0.75  ·  Strong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232904" y="594360"/>
            <a:ext cx="1700784" cy="749808"/>
          </a:xfrm>
          <a:prstGeom prst="rect">
            <a:avLst/>
          </a:prstGeom>
          <a:solidFill>
            <a:srgbClr val="F4F6FA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232904" y="594360"/>
            <a:ext cx="6400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60920" y="667512"/>
            <a:ext cx="1536192" cy="359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9488"/>
                </a:solidFill>
              </a:rPr>
              <a:t>13.2 mo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7360920" y="984260"/>
            <a:ext cx="1536192" cy="19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</a:rPr>
              <a:t>CAC Payback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360920" y="1149218"/>
            <a:ext cx="1536192" cy="164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Target &lt;16 mo  ·  Improving ↑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37160" y="1435608"/>
            <a:ext cx="3200400" cy="201168"/>
          </a:xfrm>
          <a:prstGeom prst="rect">
            <a:avLst/>
          </a:prstGeom>
          <a:solidFill>
            <a:srgbClr val="2E7FD9"/>
          </a:solidFill>
          <a:ln w="12700">
            <a:solidFill>
              <a:srgbClr val="2E7F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0312" y="143560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ARR TREND  ($M)  ·  Q1 2025 – Q3 2026</a:t>
            </a:r>
            <a:endParaRPr lang="en-US" sz="800" dirty="0"/>
          </a:p>
        </p:txBody>
      </p:sp>
      <p:graphicFrame>
        <p:nvGraphicFramePr>
          <p:cNvPr id="37" name="Chart 0" descr=""/>
          <p:cNvGraphicFramePr/>
          <p:nvPr/>
        </p:nvGraphicFramePr>
        <p:xfrm>
          <a:off x="137160" y="1673352"/>
          <a:ext cx="3246120" cy="212140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8" name="Shape 35"/>
          <p:cNvSpPr/>
          <p:nvPr/>
        </p:nvSpPr>
        <p:spPr>
          <a:xfrm>
            <a:off x="3520440" y="1435608"/>
            <a:ext cx="2651760" cy="201168"/>
          </a:xfrm>
          <a:prstGeom prst="rect">
            <a:avLst/>
          </a:prstGeom>
          <a:solidFill>
            <a:srgbClr val="2E7FD9"/>
          </a:solidFill>
          <a:ln w="12700">
            <a:solidFill>
              <a:srgbClr val="2E7FD9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593592" y="14356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QUARTERLY REVENUE  ($M)</a:t>
            </a:r>
            <a:endParaRPr lang="en-US" sz="800" dirty="0"/>
          </a:p>
        </p:txBody>
      </p:sp>
      <p:graphicFrame>
        <p:nvGraphicFramePr>
          <p:cNvPr id="40" name="Chart 1" descr=""/>
          <p:cNvGraphicFramePr/>
          <p:nvPr/>
        </p:nvGraphicFramePr>
        <p:xfrm>
          <a:off x="3520440" y="1673352"/>
          <a:ext cx="2651760" cy="212140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1" name="Shape 37"/>
          <p:cNvSpPr/>
          <p:nvPr/>
        </p:nvSpPr>
        <p:spPr>
          <a:xfrm>
            <a:off x="6144768" y="1435608"/>
            <a:ext cx="2862072" cy="201168"/>
          </a:xfrm>
          <a:prstGeom prst="rect">
            <a:avLst/>
          </a:prstGeom>
          <a:solidFill>
            <a:srgbClr val="2E7FD9"/>
          </a:solidFill>
          <a:ln w="12700">
            <a:solidFill>
              <a:srgbClr val="2E7FD9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6217920" y="1435608"/>
            <a:ext cx="2770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UNIT ECONOMICS</a:t>
            </a:r>
            <a:endParaRPr lang="en-US" sz="800" dirty="0"/>
          </a:p>
        </p:txBody>
      </p:sp>
      <p:sp>
        <p:nvSpPr>
          <p:cNvPr id="43" name="Shape 39"/>
          <p:cNvSpPr/>
          <p:nvPr/>
        </p:nvSpPr>
        <p:spPr>
          <a:xfrm>
            <a:off x="6144768" y="1673352"/>
            <a:ext cx="777240" cy="274320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6199632" y="1673352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Metric</a:t>
            </a:r>
            <a:endParaRPr lang="en-US" sz="900" dirty="0"/>
          </a:p>
        </p:txBody>
      </p:sp>
      <p:sp>
        <p:nvSpPr>
          <p:cNvPr id="45" name="Shape 41"/>
          <p:cNvSpPr/>
          <p:nvPr/>
        </p:nvSpPr>
        <p:spPr>
          <a:xfrm>
            <a:off x="6922008" y="1673352"/>
            <a:ext cx="521208" cy="274320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6976872" y="1673352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Q3 2026</a:t>
            </a:r>
            <a:endParaRPr lang="en-US" sz="900" dirty="0"/>
          </a:p>
        </p:txBody>
      </p:sp>
      <p:sp>
        <p:nvSpPr>
          <p:cNvPr id="47" name="Shape 43"/>
          <p:cNvSpPr/>
          <p:nvPr/>
        </p:nvSpPr>
        <p:spPr>
          <a:xfrm>
            <a:off x="7443216" y="1673352"/>
            <a:ext cx="521208" cy="274320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7498080" y="1673352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Q2 2026</a:t>
            </a:r>
            <a:endParaRPr lang="en-US" sz="900" dirty="0"/>
          </a:p>
        </p:txBody>
      </p:sp>
      <p:sp>
        <p:nvSpPr>
          <p:cNvPr id="49" name="Shape 45"/>
          <p:cNvSpPr/>
          <p:nvPr/>
        </p:nvSpPr>
        <p:spPr>
          <a:xfrm>
            <a:off x="7964424" y="1673352"/>
            <a:ext cx="521208" cy="274320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8019288" y="1673352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Target</a:t>
            </a:r>
            <a:endParaRPr lang="en-US" sz="900" dirty="0"/>
          </a:p>
        </p:txBody>
      </p:sp>
      <p:sp>
        <p:nvSpPr>
          <p:cNvPr id="51" name="Shape 47"/>
          <p:cNvSpPr/>
          <p:nvPr/>
        </p:nvSpPr>
        <p:spPr>
          <a:xfrm>
            <a:off x="8485632" y="1673352"/>
            <a:ext cx="521208" cy="274320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8540496" y="1673352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Trend</a:t>
            </a:r>
            <a:endParaRPr lang="en-US" sz="900" dirty="0"/>
          </a:p>
        </p:txBody>
      </p:sp>
      <p:sp>
        <p:nvSpPr>
          <p:cNvPr id="53" name="Shape 49"/>
          <p:cNvSpPr/>
          <p:nvPr/>
        </p:nvSpPr>
        <p:spPr>
          <a:xfrm>
            <a:off x="6144768" y="1947672"/>
            <a:ext cx="777240" cy="274320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6199632" y="1947672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Gross Margin</a:t>
            </a:r>
            <a:endParaRPr lang="en-US" sz="900" dirty="0"/>
          </a:p>
        </p:txBody>
      </p:sp>
      <p:sp>
        <p:nvSpPr>
          <p:cNvPr id="55" name="Shape 51"/>
          <p:cNvSpPr/>
          <p:nvPr/>
        </p:nvSpPr>
        <p:spPr>
          <a:xfrm>
            <a:off x="6922008" y="1947672"/>
            <a:ext cx="521208" cy="274320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6976872" y="1947672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78.2%</a:t>
            </a:r>
            <a:endParaRPr lang="en-US" sz="900" dirty="0"/>
          </a:p>
        </p:txBody>
      </p:sp>
      <p:sp>
        <p:nvSpPr>
          <p:cNvPr id="57" name="Shape 53"/>
          <p:cNvSpPr/>
          <p:nvPr/>
        </p:nvSpPr>
        <p:spPr>
          <a:xfrm>
            <a:off x="7443216" y="1947672"/>
            <a:ext cx="521208" cy="274320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7498080" y="1947672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77.5%</a:t>
            </a:r>
            <a:endParaRPr lang="en-US" sz="900" dirty="0"/>
          </a:p>
        </p:txBody>
      </p:sp>
      <p:sp>
        <p:nvSpPr>
          <p:cNvPr id="59" name="Shape 55"/>
          <p:cNvSpPr/>
          <p:nvPr/>
        </p:nvSpPr>
        <p:spPr>
          <a:xfrm>
            <a:off x="7964424" y="1947672"/>
            <a:ext cx="521208" cy="274320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6"/>
          <p:cNvSpPr/>
          <p:nvPr/>
        </p:nvSpPr>
        <p:spPr>
          <a:xfrm>
            <a:off x="8019288" y="1947672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80%+</a:t>
            </a:r>
            <a:endParaRPr lang="en-US" sz="900" dirty="0"/>
          </a:p>
        </p:txBody>
      </p:sp>
      <p:sp>
        <p:nvSpPr>
          <p:cNvPr id="61" name="Shape 57"/>
          <p:cNvSpPr/>
          <p:nvPr/>
        </p:nvSpPr>
        <p:spPr>
          <a:xfrm>
            <a:off x="8485632" y="1947672"/>
            <a:ext cx="521208" cy="274320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58"/>
          <p:cNvSpPr/>
          <p:nvPr/>
        </p:nvSpPr>
        <p:spPr>
          <a:xfrm>
            <a:off x="8540496" y="1947672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↑ Improving</a:t>
            </a:r>
            <a:endParaRPr lang="en-US" sz="900" dirty="0"/>
          </a:p>
        </p:txBody>
      </p:sp>
      <p:sp>
        <p:nvSpPr>
          <p:cNvPr id="63" name="Shape 59"/>
          <p:cNvSpPr/>
          <p:nvPr/>
        </p:nvSpPr>
        <p:spPr>
          <a:xfrm>
            <a:off x="6144768" y="2221992"/>
            <a:ext cx="7772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0"/>
          <p:cNvSpPr/>
          <p:nvPr/>
        </p:nvSpPr>
        <p:spPr>
          <a:xfrm>
            <a:off x="6199632" y="2221992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NRR</a:t>
            </a:r>
            <a:endParaRPr lang="en-US" sz="900" dirty="0"/>
          </a:p>
        </p:txBody>
      </p:sp>
      <p:sp>
        <p:nvSpPr>
          <p:cNvPr id="65" name="Shape 61"/>
          <p:cNvSpPr/>
          <p:nvPr/>
        </p:nvSpPr>
        <p:spPr>
          <a:xfrm>
            <a:off x="6922008" y="2221992"/>
            <a:ext cx="52120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2"/>
          <p:cNvSpPr/>
          <p:nvPr/>
        </p:nvSpPr>
        <p:spPr>
          <a:xfrm>
            <a:off x="6976872" y="2221992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118%</a:t>
            </a:r>
            <a:endParaRPr lang="en-US" sz="900" dirty="0"/>
          </a:p>
        </p:txBody>
      </p:sp>
      <p:sp>
        <p:nvSpPr>
          <p:cNvPr id="67" name="Shape 63"/>
          <p:cNvSpPr/>
          <p:nvPr/>
        </p:nvSpPr>
        <p:spPr>
          <a:xfrm>
            <a:off x="7443216" y="2221992"/>
            <a:ext cx="52120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4"/>
          <p:cNvSpPr/>
          <p:nvPr/>
        </p:nvSpPr>
        <p:spPr>
          <a:xfrm>
            <a:off x="7498080" y="2221992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121%</a:t>
            </a:r>
            <a:endParaRPr lang="en-US" sz="900" dirty="0"/>
          </a:p>
        </p:txBody>
      </p:sp>
      <p:sp>
        <p:nvSpPr>
          <p:cNvPr id="69" name="Shape 65"/>
          <p:cNvSpPr/>
          <p:nvPr/>
        </p:nvSpPr>
        <p:spPr>
          <a:xfrm>
            <a:off x="7964424" y="2221992"/>
            <a:ext cx="52120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6"/>
          <p:cNvSpPr/>
          <p:nvPr/>
        </p:nvSpPr>
        <p:spPr>
          <a:xfrm>
            <a:off x="8019288" y="2221992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120%+</a:t>
            </a:r>
            <a:endParaRPr lang="en-US" sz="900" dirty="0"/>
          </a:p>
        </p:txBody>
      </p:sp>
      <p:sp>
        <p:nvSpPr>
          <p:cNvPr id="71" name="Shape 67"/>
          <p:cNvSpPr/>
          <p:nvPr/>
        </p:nvSpPr>
        <p:spPr>
          <a:xfrm>
            <a:off x="8485632" y="2221992"/>
            <a:ext cx="52120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68"/>
          <p:cNvSpPr/>
          <p:nvPr/>
        </p:nvSpPr>
        <p:spPr>
          <a:xfrm>
            <a:off x="8540496" y="2221992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7706"/>
                </a:solidFill>
              </a:rPr>
              <a:t>↓ Churn</a:t>
            </a:r>
            <a:endParaRPr lang="en-US" sz="900" dirty="0"/>
          </a:p>
        </p:txBody>
      </p:sp>
      <p:sp>
        <p:nvSpPr>
          <p:cNvPr id="73" name="Shape 69"/>
          <p:cNvSpPr/>
          <p:nvPr/>
        </p:nvSpPr>
        <p:spPr>
          <a:xfrm>
            <a:off x="6144768" y="2496312"/>
            <a:ext cx="777240" cy="274320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0"/>
          <p:cNvSpPr/>
          <p:nvPr/>
        </p:nvSpPr>
        <p:spPr>
          <a:xfrm>
            <a:off x="6199632" y="2496312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Logo Retention</a:t>
            </a:r>
            <a:endParaRPr lang="en-US" sz="900" dirty="0"/>
          </a:p>
        </p:txBody>
      </p:sp>
      <p:sp>
        <p:nvSpPr>
          <p:cNvPr id="75" name="Shape 71"/>
          <p:cNvSpPr/>
          <p:nvPr/>
        </p:nvSpPr>
        <p:spPr>
          <a:xfrm>
            <a:off x="6922008" y="2496312"/>
            <a:ext cx="521208" cy="274320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2"/>
          <p:cNvSpPr/>
          <p:nvPr/>
        </p:nvSpPr>
        <p:spPr>
          <a:xfrm>
            <a:off x="6976872" y="2496312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92.4%</a:t>
            </a:r>
            <a:endParaRPr lang="en-US" sz="900" dirty="0"/>
          </a:p>
        </p:txBody>
      </p:sp>
      <p:sp>
        <p:nvSpPr>
          <p:cNvPr id="77" name="Shape 73"/>
          <p:cNvSpPr/>
          <p:nvPr/>
        </p:nvSpPr>
        <p:spPr>
          <a:xfrm>
            <a:off x="7443216" y="2496312"/>
            <a:ext cx="521208" cy="274320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8" name="Text 74"/>
          <p:cNvSpPr/>
          <p:nvPr/>
        </p:nvSpPr>
        <p:spPr>
          <a:xfrm>
            <a:off x="7498080" y="2496312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94.1%</a:t>
            </a:r>
            <a:endParaRPr lang="en-US" sz="900" dirty="0"/>
          </a:p>
        </p:txBody>
      </p:sp>
      <p:sp>
        <p:nvSpPr>
          <p:cNvPr id="79" name="Shape 75"/>
          <p:cNvSpPr/>
          <p:nvPr/>
        </p:nvSpPr>
        <p:spPr>
          <a:xfrm>
            <a:off x="7964424" y="2496312"/>
            <a:ext cx="521208" cy="274320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6"/>
          <p:cNvSpPr/>
          <p:nvPr/>
        </p:nvSpPr>
        <p:spPr>
          <a:xfrm>
            <a:off x="8019288" y="2496312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95%+</a:t>
            </a:r>
            <a:endParaRPr lang="en-US" sz="900" dirty="0"/>
          </a:p>
        </p:txBody>
      </p:sp>
      <p:sp>
        <p:nvSpPr>
          <p:cNvPr id="81" name="Shape 77"/>
          <p:cNvSpPr/>
          <p:nvPr/>
        </p:nvSpPr>
        <p:spPr>
          <a:xfrm>
            <a:off x="8485632" y="2496312"/>
            <a:ext cx="521208" cy="274320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2" name="Text 78"/>
          <p:cNvSpPr/>
          <p:nvPr/>
        </p:nvSpPr>
        <p:spPr>
          <a:xfrm>
            <a:off x="8540496" y="2496312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↓ Risk</a:t>
            </a:r>
            <a:endParaRPr lang="en-US" sz="900" dirty="0"/>
          </a:p>
        </p:txBody>
      </p:sp>
      <p:sp>
        <p:nvSpPr>
          <p:cNvPr id="83" name="Shape 79"/>
          <p:cNvSpPr/>
          <p:nvPr/>
        </p:nvSpPr>
        <p:spPr>
          <a:xfrm>
            <a:off x="6144768" y="2770632"/>
            <a:ext cx="7772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4" name="Text 80"/>
          <p:cNvSpPr/>
          <p:nvPr/>
        </p:nvSpPr>
        <p:spPr>
          <a:xfrm>
            <a:off x="6199632" y="2770632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LTV:CAC</a:t>
            </a:r>
            <a:endParaRPr lang="en-US" sz="900" dirty="0"/>
          </a:p>
        </p:txBody>
      </p:sp>
      <p:sp>
        <p:nvSpPr>
          <p:cNvPr id="85" name="Shape 81"/>
          <p:cNvSpPr/>
          <p:nvPr/>
        </p:nvSpPr>
        <p:spPr>
          <a:xfrm>
            <a:off x="6922008" y="2770632"/>
            <a:ext cx="52120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6" name="Text 82"/>
          <p:cNvSpPr/>
          <p:nvPr/>
        </p:nvSpPr>
        <p:spPr>
          <a:xfrm>
            <a:off x="6976872" y="2770632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4.8x</a:t>
            </a:r>
            <a:endParaRPr lang="en-US" sz="900" dirty="0"/>
          </a:p>
        </p:txBody>
      </p:sp>
      <p:sp>
        <p:nvSpPr>
          <p:cNvPr id="87" name="Shape 83"/>
          <p:cNvSpPr/>
          <p:nvPr/>
        </p:nvSpPr>
        <p:spPr>
          <a:xfrm>
            <a:off x="7443216" y="2770632"/>
            <a:ext cx="52120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8" name="Text 84"/>
          <p:cNvSpPr/>
          <p:nvPr/>
        </p:nvSpPr>
        <p:spPr>
          <a:xfrm>
            <a:off x="7498080" y="2770632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4.6x</a:t>
            </a:r>
            <a:endParaRPr lang="en-US" sz="900" dirty="0"/>
          </a:p>
        </p:txBody>
      </p:sp>
      <p:sp>
        <p:nvSpPr>
          <p:cNvPr id="89" name="Shape 85"/>
          <p:cNvSpPr/>
          <p:nvPr/>
        </p:nvSpPr>
        <p:spPr>
          <a:xfrm>
            <a:off x="7964424" y="2770632"/>
            <a:ext cx="52120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0" name="Text 86"/>
          <p:cNvSpPr/>
          <p:nvPr/>
        </p:nvSpPr>
        <p:spPr>
          <a:xfrm>
            <a:off x="8019288" y="2770632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4.0x+</a:t>
            </a:r>
            <a:endParaRPr lang="en-US" sz="900" dirty="0"/>
          </a:p>
        </p:txBody>
      </p:sp>
      <p:sp>
        <p:nvSpPr>
          <p:cNvPr id="91" name="Shape 87"/>
          <p:cNvSpPr/>
          <p:nvPr/>
        </p:nvSpPr>
        <p:spPr>
          <a:xfrm>
            <a:off x="8485632" y="2770632"/>
            <a:ext cx="52120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2" name="Text 88"/>
          <p:cNvSpPr/>
          <p:nvPr/>
        </p:nvSpPr>
        <p:spPr>
          <a:xfrm>
            <a:off x="8540496" y="2770632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↑ Healthy</a:t>
            </a:r>
            <a:endParaRPr lang="en-US" sz="900" dirty="0"/>
          </a:p>
        </p:txBody>
      </p:sp>
      <p:sp>
        <p:nvSpPr>
          <p:cNvPr id="93" name="Shape 89"/>
          <p:cNvSpPr/>
          <p:nvPr/>
        </p:nvSpPr>
        <p:spPr>
          <a:xfrm>
            <a:off x="6144768" y="3044952"/>
            <a:ext cx="777240" cy="274320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4" name="Text 90"/>
          <p:cNvSpPr/>
          <p:nvPr/>
        </p:nvSpPr>
        <p:spPr>
          <a:xfrm>
            <a:off x="6199632" y="3044952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CAC Payback</a:t>
            </a:r>
            <a:endParaRPr lang="en-US" sz="900" dirty="0"/>
          </a:p>
        </p:txBody>
      </p:sp>
      <p:sp>
        <p:nvSpPr>
          <p:cNvPr id="95" name="Shape 91"/>
          <p:cNvSpPr/>
          <p:nvPr/>
        </p:nvSpPr>
        <p:spPr>
          <a:xfrm>
            <a:off x="6922008" y="3044952"/>
            <a:ext cx="521208" cy="274320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6" name="Text 92"/>
          <p:cNvSpPr/>
          <p:nvPr/>
        </p:nvSpPr>
        <p:spPr>
          <a:xfrm>
            <a:off x="6976872" y="3044952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13.2 mo</a:t>
            </a:r>
            <a:endParaRPr lang="en-US" sz="900" dirty="0"/>
          </a:p>
        </p:txBody>
      </p:sp>
      <p:sp>
        <p:nvSpPr>
          <p:cNvPr id="97" name="Shape 93"/>
          <p:cNvSpPr/>
          <p:nvPr/>
        </p:nvSpPr>
        <p:spPr>
          <a:xfrm>
            <a:off x="7443216" y="3044952"/>
            <a:ext cx="521208" cy="274320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8" name="Text 94"/>
          <p:cNvSpPr/>
          <p:nvPr/>
        </p:nvSpPr>
        <p:spPr>
          <a:xfrm>
            <a:off x="7498080" y="3044952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14.1 mo</a:t>
            </a:r>
            <a:endParaRPr lang="en-US" sz="900" dirty="0"/>
          </a:p>
        </p:txBody>
      </p:sp>
      <p:sp>
        <p:nvSpPr>
          <p:cNvPr id="99" name="Shape 95"/>
          <p:cNvSpPr/>
          <p:nvPr/>
        </p:nvSpPr>
        <p:spPr>
          <a:xfrm>
            <a:off x="7964424" y="3044952"/>
            <a:ext cx="521208" cy="274320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0" name="Text 96"/>
          <p:cNvSpPr/>
          <p:nvPr/>
        </p:nvSpPr>
        <p:spPr>
          <a:xfrm>
            <a:off x="8019288" y="3044952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&lt;16 mo</a:t>
            </a:r>
            <a:endParaRPr lang="en-US" sz="900" dirty="0"/>
          </a:p>
        </p:txBody>
      </p:sp>
      <p:sp>
        <p:nvSpPr>
          <p:cNvPr id="101" name="Shape 97"/>
          <p:cNvSpPr/>
          <p:nvPr/>
        </p:nvSpPr>
        <p:spPr>
          <a:xfrm>
            <a:off x="8485632" y="3044952"/>
            <a:ext cx="521208" cy="274320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2" name="Text 98"/>
          <p:cNvSpPr/>
          <p:nvPr/>
        </p:nvSpPr>
        <p:spPr>
          <a:xfrm>
            <a:off x="8540496" y="3044952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↑ Improving</a:t>
            </a:r>
            <a:endParaRPr lang="en-US" sz="900" dirty="0"/>
          </a:p>
        </p:txBody>
      </p:sp>
      <p:sp>
        <p:nvSpPr>
          <p:cNvPr id="103" name="Shape 99"/>
          <p:cNvSpPr/>
          <p:nvPr/>
        </p:nvSpPr>
        <p:spPr>
          <a:xfrm>
            <a:off x="6144768" y="3319272"/>
            <a:ext cx="7772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" name="Text 100"/>
          <p:cNvSpPr/>
          <p:nvPr/>
        </p:nvSpPr>
        <p:spPr>
          <a:xfrm>
            <a:off x="6199632" y="3319272"/>
            <a:ext cx="704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Magic Number</a:t>
            </a:r>
            <a:endParaRPr lang="en-US" sz="900" dirty="0"/>
          </a:p>
        </p:txBody>
      </p:sp>
      <p:sp>
        <p:nvSpPr>
          <p:cNvPr id="105" name="Shape 101"/>
          <p:cNvSpPr/>
          <p:nvPr/>
        </p:nvSpPr>
        <p:spPr>
          <a:xfrm>
            <a:off x="6922008" y="3319272"/>
            <a:ext cx="52120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6" name="Text 102"/>
          <p:cNvSpPr/>
          <p:nvPr/>
        </p:nvSpPr>
        <p:spPr>
          <a:xfrm>
            <a:off x="6976872" y="3319272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1.12</a:t>
            </a:r>
            <a:endParaRPr lang="en-US" sz="900" dirty="0"/>
          </a:p>
        </p:txBody>
      </p:sp>
      <p:sp>
        <p:nvSpPr>
          <p:cNvPr id="107" name="Shape 103"/>
          <p:cNvSpPr/>
          <p:nvPr/>
        </p:nvSpPr>
        <p:spPr>
          <a:xfrm>
            <a:off x="7443216" y="3319272"/>
            <a:ext cx="52120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8" name="Text 104"/>
          <p:cNvSpPr/>
          <p:nvPr/>
        </p:nvSpPr>
        <p:spPr>
          <a:xfrm>
            <a:off x="7498080" y="3319272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0.98</a:t>
            </a:r>
            <a:endParaRPr lang="en-US" sz="900" dirty="0"/>
          </a:p>
        </p:txBody>
      </p:sp>
      <p:sp>
        <p:nvSpPr>
          <p:cNvPr id="109" name="Shape 105"/>
          <p:cNvSpPr/>
          <p:nvPr/>
        </p:nvSpPr>
        <p:spPr>
          <a:xfrm>
            <a:off x="7964424" y="3319272"/>
            <a:ext cx="52120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0" name="Text 106"/>
          <p:cNvSpPr/>
          <p:nvPr/>
        </p:nvSpPr>
        <p:spPr>
          <a:xfrm>
            <a:off x="8019288" y="3319272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&gt;0.75</a:t>
            </a:r>
            <a:endParaRPr lang="en-US" sz="900" dirty="0"/>
          </a:p>
        </p:txBody>
      </p:sp>
      <p:sp>
        <p:nvSpPr>
          <p:cNvPr id="111" name="Shape 107"/>
          <p:cNvSpPr/>
          <p:nvPr/>
        </p:nvSpPr>
        <p:spPr>
          <a:xfrm>
            <a:off x="8485632" y="3319272"/>
            <a:ext cx="521208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2" name="Text 108"/>
          <p:cNvSpPr/>
          <p:nvPr/>
        </p:nvSpPr>
        <p:spPr>
          <a:xfrm>
            <a:off x="8540496" y="3319272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↑ Strong</a:t>
            </a:r>
            <a:endParaRPr lang="en-US" sz="900" dirty="0"/>
          </a:p>
        </p:txBody>
      </p:sp>
      <p:sp>
        <p:nvSpPr>
          <p:cNvPr id="113" name="Shape 109"/>
          <p:cNvSpPr/>
          <p:nvPr/>
        </p:nvSpPr>
        <p:spPr>
          <a:xfrm>
            <a:off x="137160" y="3794760"/>
            <a:ext cx="6035040" cy="201168"/>
          </a:xfrm>
          <a:prstGeom prst="rect">
            <a:avLst/>
          </a:prstGeom>
          <a:solidFill>
            <a:srgbClr val="2E7FD9"/>
          </a:solidFill>
          <a:ln w="12700">
            <a:solidFill>
              <a:srgbClr val="2E7FD9"/>
            </a:solidFill>
            <a:prstDash val="solid"/>
          </a:ln>
        </p:spPr>
      </p:sp>
      <p:sp>
        <p:nvSpPr>
          <p:cNvPr id="114" name="Text 110"/>
          <p:cNvSpPr/>
          <p:nvPr/>
        </p:nvSpPr>
        <p:spPr>
          <a:xfrm>
            <a:off x="210312" y="379476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ARR BRIDGE  —  Q3 2026</a:t>
            </a:r>
            <a:endParaRPr lang="en-US" sz="800" dirty="0"/>
          </a:p>
        </p:txBody>
      </p:sp>
      <p:sp>
        <p:nvSpPr>
          <p:cNvPr id="115" name="Shape 111"/>
          <p:cNvSpPr/>
          <p:nvPr/>
        </p:nvSpPr>
        <p:spPr>
          <a:xfrm>
            <a:off x="137160" y="3995928"/>
            <a:ext cx="1463040" cy="141732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6" name="Text 112"/>
          <p:cNvSpPr/>
          <p:nvPr/>
        </p:nvSpPr>
        <p:spPr>
          <a:xfrm>
            <a:off x="192024" y="3995928"/>
            <a:ext cx="1389888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Component</a:t>
            </a:r>
            <a:endParaRPr lang="en-US" sz="900" dirty="0"/>
          </a:p>
        </p:txBody>
      </p:sp>
      <p:sp>
        <p:nvSpPr>
          <p:cNvPr id="117" name="Shape 113"/>
          <p:cNvSpPr/>
          <p:nvPr/>
        </p:nvSpPr>
        <p:spPr>
          <a:xfrm>
            <a:off x="1600200" y="3995928"/>
            <a:ext cx="804672" cy="141732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8" name="Text 114"/>
          <p:cNvSpPr/>
          <p:nvPr/>
        </p:nvSpPr>
        <p:spPr>
          <a:xfrm>
            <a:off x="1655064" y="3995928"/>
            <a:ext cx="7315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Q1 2026</a:t>
            </a:r>
            <a:endParaRPr lang="en-US" sz="900" dirty="0"/>
          </a:p>
        </p:txBody>
      </p:sp>
      <p:sp>
        <p:nvSpPr>
          <p:cNvPr id="119" name="Shape 115"/>
          <p:cNvSpPr/>
          <p:nvPr/>
        </p:nvSpPr>
        <p:spPr>
          <a:xfrm>
            <a:off x="2404872" y="3995928"/>
            <a:ext cx="804672" cy="141732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0" name="Text 116"/>
          <p:cNvSpPr/>
          <p:nvPr/>
        </p:nvSpPr>
        <p:spPr>
          <a:xfrm>
            <a:off x="2459736" y="3995928"/>
            <a:ext cx="7315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Q2 2026</a:t>
            </a:r>
            <a:endParaRPr lang="en-US" sz="900" dirty="0"/>
          </a:p>
        </p:txBody>
      </p:sp>
      <p:sp>
        <p:nvSpPr>
          <p:cNvPr id="121" name="Shape 117"/>
          <p:cNvSpPr/>
          <p:nvPr/>
        </p:nvSpPr>
        <p:spPr>
          <a:xfrm>
            <a:off x="3209544" y="3995928"/>
            <a:ext cx="804672" cy="141732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2" name="Text 118"/>
          <p:cNvSpPr/>
          <p:nvPr/>
        </p:nvSpPr>
        <p:spPr>
          <a:xfrm>
            <a:off x="3264408" y="3995928"/>
            <a:ext cx="7315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Q3 2026</a:t>
            </a:r>
            <a:endParaRPr lang="en-US" sz="900" dirty="0"/>
          </a:p>
        </p:txBody>
      </p:sp>
      <p:sp>
        <p:nvSpPr>
          <p:cNvPr id="123" name="Shape 119"/>
          <p:cNvSpPr/>
          <p:nvPr/>
        </p:nvSpPr>
        <p:spPr>
          <a:xfrm>
            <a:off x="4014216" y="3995928"/>
            <a:ext cx="804672" cy="141732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4" name="Text 120"/>
          <p:cNvSpPr/>
          <p:nvPr/>
        </p:nvSpPr>
        <p:spPr>
          <a:xfrm>
            <a:off x="4069080" y="3995928"/>
            <a:ext cx="7315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QoQ Δ</a:t>
            </a:r>
            <a:endParaRPr lang="en-US" sz="900" dirty="0"/>
          </a:p>
        </p:txBody>
      </p:sp>
      <p:sp>
        <p:nvSpPr>
          <p:cNvPr id="125" name="Shape 121"/>
          <p:cNvSpPr/>
          <p:nvPr/>
        </p:nvSpPr>
        <p:spPr>
          <a:xfrm>
            <a:off x="4818888" y="3995928"/>
            <a:ext cx="804672" cy="141732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6" name="Text 122"/>
          <p:cNvSpPr/>
          <p:nvPr/>
        </p:nvSpPr>
        <p:spPr>
          <a:xfrm>
            <a:off x="4873752" y="3995928"/>
            <a:ext cx="7315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vs Plan</a:t>
            </a:r>
            <a:endParaRPr lang="en-US" sz="900" dirty="0"/>
          </a:p>
        </p:txBody>
      </p:sp>
      <p:sp>
        <p:nvSpPr>
          <p:cNvPr id="127" name="Shape 123"/>
          <p:cNvSpPr/>
          <p:nvPr/>
        </p:nvSpPr>
        <p:spPr>
          <a:xfrm>
            <a:off x="137160" y="4137660"/>
            <a:ext cx="1463040" cy="141732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8" name="Text 124"/>
          <p:cNvSpPr/>
          <p:nvPr/>
        </p:nvSpPr>
        <p:spPr>
          <a:xfrm>
            <a:off x="192024" y="4137660"/>
            <a:ext cx="1389888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Beginning ARR</a:t>
            </a:r>
            <a:endParaRPr lang="en-US" sz="900" dirty="0"/>
          </a:p>
        </p:txBody>
      </p:sp>
      <p:sp>
        <p:nvSpPr>
          <p:cNvPr id="129" name="Shape 125"/>
          <p:cNvSpPr/>
          <p:nvPr/>
        </p:nvSpPr>
        <p:spPr>
          <a:xfrm>
            <a:off x="1600200" y="4137660"/>
            <a:ext cx="804672" cy="141732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0" name="Text 126"/>
          <p:cNvSpPr/>
          <p:nvPr/>
        </p:nvSpPr>
        <p:spPr>
          <a:xfrm>
            <a:off x="1655064" y="4137660"/>
            <a:ext cx="7315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$11.4M</a:t>
            </a:r>
            <a:endParaRPr lang="en-US" sz="900" dirty="0"/>
          </a:p>
        </p:txBody>
      </p:sp>
      <p:sp>
        <p:nvSpPr>
          <p:cNvPr id="131" name="Shape 127"/>
          <p:cNvSpPr/>
          <p:nvPr/>
        </p:nvSpPr>
        <p:spPr>
          <a:xfrm>
            <a:off x="2404872" y="4137660"/>
            <a:ext cx="804672" cy="141732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2" name="Text 128"/>
          <p:cNvSpPr/>
          <p:nvPr/>
        </p:nvSpPr>
        <p:spPr>
          <a:xfrm>
            <a:off x="2459736" y="4137660"/>
            <a:ext cx="7315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$12.8M</a:t>
            </a:r>
            <a:endParaRPr lang="en-US" sz="900" dirty="0"/>
          </a:p>
        </p:txBody>
      </p:sp>
      <p:sp>
        <p:nvSpPr>
          <p:cNvPr id="133" name="Shape 129"/>
          <p:cNvSpPr/>
          <p:nvPr/>
        </p:nvSpPr>
        <p:spPr>
          <a:xfrm>
            <a:off x="3209544" y="4137660"/>
            <a:ext cx="804672" cy="141732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4" name="Text 130"/>
          <p:cNvSpPr/>
          <p:nvPr/>
        </p:nvSpPr>
        <p:spPr>
          <a:xfrm>
            <a:off x="3264408" y="4137660"/>
            <a:ext cx="7315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$14.1M</a:t>
            </a:r>
            <a:endParaRPr lang="en-US" sz="900" dirty="0"/>
          </a:p>
        </p:txBody>
      </p:sp>
      <p:sp>
        <p:nvSpPr>
          <p:cNvPr id="135" name="Shape 131"/>
          <p:cNvSpPr/>
          <p:nvPr/>
        </p:nvSpPr>
        <p:spPr>
          <a:xfrm>
            <a:off x="4014216" y="4137660"/>
            <a:ext cx="804672" cy="141732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6" name="Text 132"/>
          <p:cNvSpPr/>
          <p:nvPr/>
        </p:nvSpPr>
        <p:spPr>
          <a:xfrm>
            <a:off x="4069080" y="4137660"/>
            <a:ext cx="7315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—</a:t>
            </a:r>
            <a:endParaRPr lang="en-US" sz="900" dirty="0"/>
          </a:p>
        </p:txBody>
      </p:sp>
      <p:sp>
        <p:nvSpPr>
          <p:cNvPr id="137" name="Shape 133"/>
          <p:cNvSpPr/>
          <p:nvPr/>
        </p:nvSpPr>
        <p:spPr>
          <a:xfrm>
            <a:off x="4818888" y="4137660"/>
            <a:ext cx="804672" cy="141732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8" name="Text 134"/>
          <p:cNvSpPr/>
          <p:nvPr/>
        </p:nvSpPr>
        <p:spPr>
          <a:xfrm>
            <a:off x="4873752" y="4137660"/>
            <a:ext cx="7315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—</a:t>
            </a:r>
            <a:endParaRPr lang="en-US" sz="900" dirty="0"/>
          </a:p>
        </p:txBody>
      </p:sp>
      <p:sp>
        <p:nvSpPr>
          <p:cNvPr id="139" name="Shape 135"/>
          <p:cNvSpPr/>
          <p:nvPr/>
        </p:nvSpPr>
        <p:spPr>
          <a:xfrm>
            <a:off x="137160" y="4279392"/>
            <a:ext cx="1463040" cy="1417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0" name="Text 136"/>
          <p:cNvSpPr/>
          <p:nvPr/>
        </p:nvSpPr>
        <p:spPr>
          <a:xfrm>
            <a:off x="192024" y="4279392"/>
            <a:ext cx="1389888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+ New ARR</a:t>
            </a:r>
            <a:endParaRPr lang="en-US" sz="900" dirty="0"/>
          </a:p>
        </p:txBody>
      </p:sp>
      <p:sp>
        <p:nvSpPr>
          <p:cNvPr id="141" name="Shape 137"/>
          <p:cNvSpPr/>
          <p:nvPr/>
        </p:nvSpPr>
        <p:spPr>
          <a:xfrm>
            <a:off x="1600200" y="4279392"/>
            <a:ext cx="804672" cy="1417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2" name="Text 138"/>
          <p:cNvSpPr/>
          <p:nvPr/>
        </p:nvSpPr>
        <p:spPr>
          <a:xfrm>
            <a:off x="1655064" y="4279392"/>
            <a:ext cx="7315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$1.4M</a:t>
            </a:r>
            <a:endParaRPr lang="en-US" sz="900" dirty="0"/>
          </a:p>
        </p:txBody>
      </p:sp>
      <p:sp>
        <p:nvSpPr>
          <p:cNvPr id="143" name="Shape 139"/>
          <p:cNvSpPr/>
          <p:nvPr/>
        </p:nvSpPr>
        <p:spPr>
          <a:xfrm>
            <a:off x="2404872" y="4279392"/>
            <a:ext cx="804672" cy="1417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4" name="Text 140"/>
          <p:cNvSpPr/>
          <p:nvPr/>
        </p:nvSpPr>
        <p:spPr>
          <a:xfrm>
            <a:off x="2459736" y="4279392"/>
            <a:ext cx="7315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$1.6M</a:t>
            </a:r>
            <a:endParaRPr lang="en-US" sz="900" dirty="0"/>
          </a:p>
        </p:txBody>
      </p:sp>
      <p:sp>
        <p:nvSpPr>
          <p:cNvPr id="145" name="Shape 141"/>
          <p:cNvSpPr/>
          <p:nvPr/>
        </p:nvSpPr>
        <p:spPr>
          <a:xfrm>
            <a:off x="3209544" y="4279392"/>
            <a:ext cx="804672" cy="1417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6" name="Text 142"/>
          <p:cNvSpPr/>
          <p:nvPr/>
        </p:nvSpPr>
        <p:spPr>
          <a:xfrm>
            <a:off x="3264408" y="4279392"/>
            <a:ext cx="7315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$1.9M</a:t>
            </a:r>
            <a:endParaRPr lang="en-US" sz="900" dirty="0"/>
          </a:p>
        </p:txBody>
      </p:sp>
      <p:sp>
        <p:nvSpPr>
          <p:cNvPr id="147" name="Shape 143"/>
          <p:cNvSpPr/>
          <p:nvPr/>
        </p:nvSpPr>
        <p:spPr>
          <a:xfrm>
            <a:off x="4014216" y="4279392"/>
            <a:ext cx="804672" cy="1417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8" name="Text 144"/>
          <p:cNvSpPr/>
          <p:nvPr/>
        </p:nvSpPr>
        <p:spPr>
          <a:xfrm>
            <a:off x="4069080" y="4279392"/>
            <a:ext cx="7315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+18.8%</a:t>
            </a:r>
            <a:endParaRPr lang="en-US" sz="900" dirty="0"/>
          </a:p>
        </p:txBody>
      </p:sp>
      <p:sp>
        <p:nvSpPr>
          <p:cNvPr id="149" name="Shape 145"/>
          <p:cNvSpPr/>
          <p:nvPr/>
        </p:nvSpPr>
        <p:spPr>
          <a:xfrm>
            <a:off x="4818888" y="4279392"/>
            <a:ext cx="804672" cy="1417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0" name="Text 146"/>
          <p:cNvSpPr/>
          <p:nvPr/>
        </p:nvSpPr>
        <p:spPr>
          <a:xfrm>
            <a:off x="4873752" y="4279392"/>
            <a:ext cx="7315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+12% ↑</a:t>
            </a:r>
            <a:endParaRPr lang="en-US" sz="900" dirty="0"/>
          </a:p>
        </p:txBody>
      </p:sp>
      <p:sp>
        <p:nvSpPr>
          <p:cNvPr id="151" name="Shape 147"/>
          <p:cNvSpPr/>
          <p:nvPr/>
        </p:nvSpPr>
        <p:spPr>
          <a:xfrm>
            <a:off x="137160" y="4421124"/>
            <a:ext cx="1463040" cy="141732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2" name="Text 148"/>
          <p:cNvSpPr/>
          <p:nvPr/>
        </p:nvSpPr>
        <p:spPr>
          <a:xfrm>
            <a:off x="192024" y="4421124"/>
            <a:ext cx="1389888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+ Expansion ARR</a:t>
            </a:r>
            <a:endParaRPr lang="en-US" sz="900" dirty="0"/>
          </a:p>
        </p:txBody>
      </p:sp>
      <p:sp>
        <p:nvSpPr>
          <p:cNvPr id="153" name="Shape 149"/>
          <p:cNvSpPr/>
          <p:nvPr/>
        </p:nvSpPr>
        <p:spPr>
          <a:xfrm>
            <a:off x="1600200" y="4421124"/>
            <a:ext cx="804672" cy="141732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4" name="Text 150"/>
          <p:cNvSpPr/>
          <p:nvPr/>
        </p:nvSpPr>
        <p:spPr>
          <a:xfrm>
            <a:off x="1655064" y="4421124"/>
            <a:ext cx="7315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$0.6M</a:t>
            </a:r>
            <a:endParaRPr lang="en-US" sz="900" dirty="0"/>
          </a:p>
        </p:txBody>
      </p:sp>
      <p:sp>
        <p:nvSpPr>
          <p:cNvPr id="155" name="Shape 151"/>
          <p:cNvSpPr/>
          <p:nvPr/>
        </p:nvSpPr>
        <p:spPr>
          <a:xfrm>
            <a:off x="2404872" y="4421124"/>
            <a:ext cx="804672" cy="141732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6" name="Text 152"/>
          <p:cNvSpPr/>
          <p:nvPr/>
        </p:nvSpPr>
        <p:spPr>
          <a:xfrm>
            <a:off x="2459736" y="4421124"/>
            <a:ext cx="7315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$0.7M</a:t>
            </a:r>
            <a:endParaRPr lang="en-US" sz="900" dirty="0"/>
          </a:p>
        </p:txBody>
      </p:sp>
      <p:sp>
        <p:nvSpPr>
          <p:cNvPr id="157" name="Shape 153"/>
          <p:cNvSpPr/>
          <p:nvPr/>
        </p:nvSpPr>
        <p:spPr>
          <a:xfrm>
            <a:off x="3209544" y="4421124"/>
            <a:ext cx="804672" cy="141732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8" name="Text 154"/>
          <p:cNvSpPr/>
          <p:nvPr/>
        </p:nvSpPr>
        <p:spPr>
          <a:xfrm>
            <a:off x="3264408" y="4421124"/>
            <a:ext cx="7315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$0.8M</a:t>
            </a:r>
            <a:endParaRPr lang="en-US" sz="900" dirty="0"/>
          </a:p>
        </p:txBody>
      </p:sp>
      <p:sp>
        <p:nvSpPr>
          <p:cNvPr id="159" name="Shape 155"/>
          <p:cNvSpPr/>
          <p:nvPr/>
        </p:nvSpPr>
        <p:spPr>
          <a:xfrm>
            <a:off x="4014216" y="4421124"/>
            <a:ext cx="804672" cy="141732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0" name="Text 156"/>
          <p:cNvSpPr/>
          <p:nvPr/>
        </p:nvSpPr>
        <p:spPr>
          <a:xfrm>
            <a:off x="4069080" y="4421124"/>
            <a:ext cx="7315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+14.3%</a:t>
            </a:r>
            <a:endParaRPr lang="en-US" sz="900" dirty="0"/>
          </a:p>
        </p:txBody>
      </p:sp>
      <p:sp>
        <p:nvSpPr>
          <p:cNvPr id="161" name="Shape 157"/>
          <p:cNvSpPr/>
          <p:nvPr/>
        </p:nvSpPr>
        <p:spPr>
          <a:xfrm>
            <a:off x="4818888" y="4421124"/>
            <a:ext cx="804672" cy="141732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2" name="Text 158"/>
          <p:cNvSpPr/>
          <p:nvPr/>
        </p:nvSpPr>
        <p:spPr>
          <a:xfrm>
            <a:off x="4873752" y="4421124"/>
            <a:ext cx="7315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On plan</a:t>
            </a:r>
            <a:endParaRPr lang="en-US" sz="900" dirty="0"/>
          </a:p>
        </p:txBody>
      </p:sp>
      <p:sp>
        <p:nvSpPr>
          <p:cNvPr id="163" name="Shape 159"/>
          <p:cNvSpPr/>
          <p:nvPr/>
        </p:nvSpPr>
        <p:spPr>
          <a:xfrm>
            <a:off x="137160" y="4562856"/>
            <a:ext cx="1463040" cy="1417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4" name="Text 160"/>
          <p:cNvSpPr/>
          <p:nvPr/>
        </p:nvSpPr>
        <p:spPr>
          <a:xfrm>
            <a:off x="192024" y="4562856"/>
            <a:ext cx="1389888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− Churn ARR</a:t>
            </a:r>
            <a:endParaRPr lang="en-US" sz="900" dirty="0"/>
          </a:p>
        </p:txBody>
      </p:sp>
      <p:sp>
        <p:nvSpPr>
          <p:cNvPr id="165" name="Shape 161"/>
          <p:cNvSpPr/>
          <p:nvPr/>
        </p:nvSpPr>
        <p:spPr>
          <a:xfrm>
            <a:off x="1600200" y="4562856"/>
            <a:ext cx="804672" cy="1417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6" name="Text 162"/>
          <p:cNvSpPr/>
          <p:nvPr/>
        </p:nvSpPr>
        <p:spPr>
          <a:xfrm>
            <a:off x="1655064" y="4562856"/>
            <a:ext cx="7315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($0.3M)</a:t>
            </a:r>
            <a:endParaRPr lang="en-US" sz="900" dirty="0"/>
          </a:p>
        </p:txBody>
      </p:sp>
      <p:sp>
        <p:nvSpPr>
          <p:cNvPr id="167" name="Shape 163"/>
          <p:cNvSpPr/>
          <p:nvPr/>
        </p:nvSpPr>
        <p:spPr>
          <a:xfrm>
            <a:off x="2404872" y="4562856"/>
            <a:ext cx="804672" cy="1417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8" name="Text 164"/>
          <p:cNvSpPr/>
          <p:nvPr/>
        </p:nvSpPr>
        <p:spPr>
          <a:xfrm>
            <a:off x="2459736" y="4562856"/>
            <a:ext cx="7315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($0.3M)</a:t>
            </a:r>
            <a:endParaRPr lang="en-US" sz="900" dirty="0"/>
          </a:p>
        </p:txBody>
      </p:sp>
      <p:sp>
        <p:nvSpPr>
          <p:cNvPr id="169" name="Shape 165"/>
          <p:cNvSpPr/>
          <p:nvPr/>
        </p:nvSpPr>
        <p:spPr>
          <a:xfrm>
            <a:off x="3209544" y="4562856"/>
            <a:ext cx="804672" cy="1417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0" name="Text 166"/>
          <p:cNvSpPr/>
          <p:nvPr/>
        </p:nvSpPr>
        <p:spPr>
          <a:xfrm>
            <a:off x="3264408" y="4562856"/>
            <a:ext cx="7315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($0.5M)</a:t>
            </a:r>
            <a:endParaRPr lang="en-US" sz="900" dirty="0"/>
          </a:p>
        </p:txBody>
      </p:sp>
      <p:sp>
        <p:nvSpPr>
          <p:cNvPr id="171" name="Shape 167"/>
          <p:cNvSpPr/>
          <p:nvPr/>
        </p:nvSpPr>
        <p:spPr>
          <a:xfrm>
            <a:off x="4014216" y="4562856"/>
            <a:ext cx="804672" cy="1417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2" name="Text 168"/>
          <p:cNvSpPr/>
          <p:nvPr/>
        </p:nvSpPr>
        <p:spPr>
          <a:xfrm>
            <a:off x="4069080" y="4562856"/>
            <a:ext cx="7315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+66.7% ⚠</a:t>
            </a:r>
            <a:endParaRPr lang="en-US" sz="900" dirty="0"/>
          </a:p>
        </p:txBody>
      </p:sp>
      <p:sp>
        <p:nvSpPr>
          <p:cNvPr id="173" name="Shape 169"/>
          <p:cNvSpPr/>
          <p:nvPr/>
        </p:nvSpPr>
        <p:spPr>
          <a:xfrm>
            <a:off x="4818888" y="4562856"/>
            <a:ext cx="804672" cy="1417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4" name="Text 170"/>
          <p:cNvSpPr/>
          <p:nvPr/>
        </p:nvSpPr>
        <p:spPr>
          <a:xfrm>
            <a:off x="4873752" y="4562856"/>
            <a:ext cx="7315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Behind ↓</a:t>
            </a:r>
            <a:endParaRPr lang="en-US" sz="900" dirty="0"/>
          </a:p>
        </p:txBody>
      </p:sp>
      <p:sp>
        <p:nvSpPr>
          <p:cNvPr id="175" name="Shape 171"/>
          <p:cNvSpPr/>
          <p:nvPr/>
        </p:nvSpPr>
        <p:spPr>
          <a:xfrm>
            <a:off x="137160" y="4704588"/>
            <a:ext cx="1463040" cy="141732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6" name="Text 172"/>
          <p:cNvSpPr/>
          <p:nvPr/>
        </p:nvSpPr>
        <p:spPr>
          <a:xfrm>
            <a:off x="192024" y="4704588"/>
            <a:ext cx="1389888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= Ending ARR</a:t>
            </a:r>
            <a:endParaRPr lang="en-US" sz="900" dirty="0"/>
          </a:p>
        </p:txBody>
      </p:sp>
      <p:sp>
        <p:nvSpPr>
          <p:cNvPr id="177" name="Shape 173"/>
          <p:cNvSpPr/>
          <p:nvPr/>
        </p:nvSpPr>
        <p:spPr>
          <a:xfrm>
            <a:off x="1600200" y="4704588"/>
            <a:ext cx="804672" cy="141732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8" name="Text 174"/>
          <p:cNvSpPr/>
          <p:nvPr/>
        </p:nvSpPr>
        <p:spPr>
          <a:xfrm>
            <a:off x="1655064" y="4704588"/>
            <a:ext cx="7315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$12.8M</a:t>
            </a:r>
            <a:endParaRPr lang="en-US" sz="900" dirty="0"/>
          </a:p>
        </p:txBody>
      </p:sp>
      <p:sp>
        <p:nvSpPr>
          <p:cNvPr id="179" name="Shape 175"/>
          <p:cNvSpPr/>
          <p:nvPr/>
        </p:nvSpPr>
        <p:spPr>
          <a:xfrm>
            <a:off x="2404872" y="4704588"/>
            <a:ext cx="804672" cy="141732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0" name="Text 176"/>
          <p:cNvSpPr/>
          <p:nvPr/>
        </p:nvSpPr>
        <p:spPr>
          <a:xfrm>
            <a:off x="2459736" y="4704588"/>
            <a:ext cx="7315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$14.1M</a:t>
            </a:r>
            <a:endParaRPr lang="en-US" sz="900" dirty="0"/>
          </a:p>
        </p:txBody>
      </p:sp>
      <p:sp>
        <p:nvSpPr>
          <p:cNvPr id="181" name="Shape 177"/>
          <p:cNvSpPr/>
          <p:nvPr/>
        </p:nvSpPr>
        <p:spPr>
          <a:xfrm>
            <a:off x="3209544" y="4704588"/>
            <a:ext cx="804672" cy="141732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2" name="Text 178"/>
          <p:cNvSpPr/>
          <p:nvPr/>
        </p:nvSpPr>
        <p:spPr>
          <a:xfrm>
            <a:off x="3264408" y="4704588"/>
            <a:ext cx="7315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FD9"/>
                </a:solidFill>
              </a:rPr>
              <a:t>$15.6M</a:t>
            </a:r>
            <a:endParaRPr lang="en-US" sz="900" dirty="0"/>
          </a:p>
        </p:txBody>
      </p:sp>
      <p:sp>
        <p:nvSpPr>
          <p:cNvPr id="183" name="Shape 179"/>
          <p:cNvSpPr/>
          <p:nvPr/>
        </p:nvSpPr>
        <p:spPr>
          <a:xfrm>
            <a:off x="4014216" y="4704588"/>
            <a:ext cx="804672" cy="141732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4" name="Text 180"/>
          <p:cNvSpPr/>
          <p:nvPr/>
        </p:nvSpPr>
        <p:spPr>
          <a:xfrm>
            <a:off x="4069080" y="4704588"/>
            <a:ext cx="7315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+10.6%</a:t>
            </a:r>
            <a:endParaRPr lang="en-US" sz="900" dirty="0"/>
          </a:p>
        </p:txBody>
      </p:sp>
      <p:sp>
        <p:nvSpPr>
          <p:cNvPr id="185" name="Shape 181"/>
          <p:cNvSpPr/>
          <p:nvPr/>
        </p:nvSpPr>
        <p:spPr>
          <a:xfrm>
            <a:off x="4818888" y="4704588"/>
            <a:ext cx="804672" cy="141732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6" name="Text 182"/>
          <p:cNvSpPr/>
          <p:nvPr/>
        </p:nvSpPr>
        <p:spPr>
          <a:xfrm>
            <a:off x="4873752" y="4704588"/>
            <a:ext cx="73152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+4.2% ↑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75488"/>
            <a:ext cx="9144000" cy="27432"/>
          </a:xfrm>
          <a:prstGeom prst="rect">
            <a:avLst/>
          </a:prstGeom>
          <a:solidFill>
            <a:srgbClr val="2E7FD9"/>
          </a:solidFill>
          <a:ln w="12700">
            <a:solidFill>
              <a:srgbClr val="2E7F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SLIDE 3  ·  GTM Performance &amp; Customer Health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0" y="0"/>
            <a:ext cx="8869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A7C7"/>
                </a:solidFill>
              </a:rPr>
              <a:t>Q3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874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2A0"/>
                </a:solidFill>
              </a:rPr>
              <a:t>NovaCrest  |  Q3 2026 Board Review  |  CONFIDENTIAL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0" y="4887468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82A0"/>
                </a:solidFill>
              </a:rPr>
              <a:t>March 31, 2026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37160" y="594360"/>
            <a:ext cx="1700784" cy="713232"/>
          </a:xfrm>
          <a:prstGeom prst="rect">
            <a:avLst/>
          </a:prstGeom>
          <a:solidFill>
            <a:srgbClr val="F4F6FA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" y="594360"/>
            <a:ext cx="64008" cy="713232"/>
          </a:xfrm>
          <a:prstGeom prst="rect">
            <a:avLst/>
          </a:prstGeom>
          <a:solidFill>
            <a:srgbClr val="2E7FD9"/>
          </a:solidFill>
          <a:ln w="12700">
            <a:solidFill>
              <a:srgbClr val="2E7F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" y="667512"/>
            <a:ext cx="1536192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E7FD9"/>
                </a:solidFill>
              </a:rPr>
              <a:t>$8.6M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265176" y="965241"/>
            <a:ext cx="1536192" cy="185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</a:rPr>
              <a:t>Pipeline Generated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65176" y="1122152"/>
            <a:ext cx="1536192" cy="156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+21.1% QoQ  ·  Best ever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911096" y="594360"/>
            <a:ext cx="1700784" cy="713232"/>
          </a:xfrm>
          <a:prstGeom prst="rect">
            <a:avLst/>
          </a:prstGeom>
          <a:solidFill>
            <a:srgbClr val="F4F6FA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11096" y="594360"/>
            <a:ext cx="6400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39112" y="667512"/>
            <a:ext cx="1536192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9488"/>
                </a:solidFill>
              </a:rPr>
              <a:t>28.4%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2039112" y="965241"/>
            <a:ext cx="1536192" cy="185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</a:rPr>
              <a:t>Win Rate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039112" y="1122152"/>
            <a:ext cx="1536192" cy="156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+2.3pp QoQ  ·  Enterprise improving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85032" y="594360"/>
            <a:ext cx="1700784" cy="713232"/>
          </a:xfrm>
          <a:prstGeom prst="rect">
            <a:avLst/>
          </a:prstGeom>
          <a:solidFill>
            <a:srgbClr val="F4F6FA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85032" y="594360"/>
            <a:ext cx="6400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13048" y="667512"/>
            <a:ext cx="1536192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9488"/>
                </a:solidFill>
              </a:rPr>
              <a:t>$42K ACV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3813048" y="965241"/>
            <a:ext cx="1536192" cy="185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</a:rPr>
              <a:t>Avg Deal Size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813048" y="1122152"/>
            <a:ext cx="1536192" cy="156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+10.5%  ·  Moving upmarket ✓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58968" y="594360"/>
            <a:ext cx="1700784" cy="713232"/>
          </a:xfrm>
          <a:prstGeom prst="rect">
            <a:avLst/>
          </a:prstGeom>
          <a:solidFill>
            <a:srgbClr val="F4F6FA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58968" y="594360"/>
            <a:ext cx="6400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86984" y="667512"/>
            <a:ext cx="1536192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9488"/>
                </a:solidFill>
              </a:rPr>
              <a:t>112%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5586984" y="965241"/>
            <a:ext cx="1536192" cy="185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</a:rPr>
              <a:t>Quota Attainment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586984" y="1122152"/>
            <a:ext cx="1536192" cy="156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+18pp vs Q2  ·  Q2 was 94%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232904" y="594360"/>
            <a:ext cx="1700784" cy="713232"/>
          </a:xfrm>
          <a:prstGeom prst="rect">
            <a:avLst/>
          </a:prstGeom>
          <a:solidFill>
            <a:srgbClr val="F4F6FA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232904" y="594360"/>
            <a:ext cx="6400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60920" y="667512"/>
            <a:ext cx="1536192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9488"/>
                </a:solidFill>
              </a:rPr>
              <a:t>68 days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7360920" y="965241"/>
            <a:ext cx="1536192" cy="185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</a:rPr>
              <a:t>Sales Cycle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360920" y="1122152"/>
            <a:ext cx="1536192" cy="156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-5.6% QoQ  ·  New demo flow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37160" y="1399032"/>
            <a:ext cx="4160520" cy="201168"/>
          </a:xfrm>
          <a:prstGeom prst="rect">
            <a:avLst/>
          </a:prstGeom>
          <a:solidFill>
            <a:srgbClr val="2E7FD9"/>
          </a:solidFill>
          <a:ln w="12700">
            <a:solidFill>
              <a:srgbClr val="2E7F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0312" y="1399032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CHANNEL PERFORMANCE  —  Q3 2026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37160" y="1618488"/>
            <a:ext cx="1097280" cy="256032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92024" y="1618488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Channel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234440" y="1618488"/>
            <a:ext cx="658368" cy="256032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289304" y="1618488"/>
            <a:ext cx="585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Pipeline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892808" y="1618488"/>
            <a:ext cx="658368" cy="256032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947672" y="1618488"/>
            <a:ext cx="585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Deals Won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551176" y="1618488"/>
            <a:ext cx="594360" cy="256032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606040" y="1618488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Avg ACV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145536" y="1618488"/>
            <a:ext cx="594360" cy="256032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0" y="1618488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CAC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739896" y="1618488"/>
            <a:ext cx="1371600" cy="256032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794760" y="161848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Notes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37160" y="1874520"/>
            <a:ext cx="1097280" cy="256032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92024" y="1874520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Outbound SDR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234440" y="1874520"/>
            <a:ext cx="658368" cy="256032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289304" y="1874520"/>
            <a:ext cx="585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$3.8M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1892808" y="1874520"/>
            <a:ext cx="658368" cy="256032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947672" y="1874520"/>
            <a:ext cx="585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18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551176" y="1874520"/>
            <a:ext cx="594360" cy="256032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606040" y="1874520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$52K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145536" y="1874520"/>
            <a:ext cx="594360" cy="256032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00400" y="1874520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$24.1K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739896" y="1874520"/>
            <a:ext cx="1371600" cy="256032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794760" y="187452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Scaled 4→6 SDRs in Q2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137160" y="2130552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92024" y="2130552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Inbound Marketing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1234440" y="2130552"/>
            <a:ext cx="6583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289304" y="2130552"/>
            <a:ext cx="585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$2.4M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1892808" y="2130552"/>
            <a:ext cx="6583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947672" y="2130552"/>
            <a:ext cx="585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14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2551176" y="2130552"/>
            <a:ext cx="5943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606040" y="213055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$34K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3145536" y="2130552"/>
            <a:ext cx="5943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200400" y="213055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$12.8K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3739896" y="2130552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794760" y="213055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Content + paid search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137160" y="2386584"/>
            <a:ext cx="1097280" cy="256032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92024" y="2386584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Partner / Referral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1234440" y="2386584"/>
            <a:ext cx="658368" cy="256032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289304" y="2386584"/>
            <a:ext cx="585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$1.5M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1892808" y="2386584"/>
            <a:ext cx="658368" cy="256032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947672" y="2386584"/>
            <a:ext cx="585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5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2551176" y="2386584"/>
            <a:ext cx="594360" cy="256032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606040" y="2386584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$68K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3145536" y="2386584"/>
            <a:ext cx="594360" cy="256032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200400" y="2386584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$8.4K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3739896" y="2386584"/>
            <a:ext cx="1371600" cy="256032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794760" y="2386584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SAP + Siemens ramping ↑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137160" y="2642616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92024" y="2642616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TOTAL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1234440" y="2642616"/>
            <a:ext cx="6583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289304" y="2642616"/>
            <a:ext cx="585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$8.6M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1892808" y="2642616"/>
            <a:ext cx="6583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947672" y="2642616"/>
            <a:ext cx="585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45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2551176" y="2642616"/>
            <a:ext cx="5943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606040" y="2642616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$42K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3145536" y="2642616"/>
            <a:ext cx="5943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200400" y="2642616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$15.8K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3739896" y="2642616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794760" y="264261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4407408" y="1399032"/>
            <a:ext cx="4599432" cy="201168"/>
          </a:xfrm>
          <a:prstGeom prst="rect">
            <a:avLst/>
          </a:prstGeom>
          <a:solidFill>
            <a:srgbClr val="2E7FD9"/>
          </a:solidFill>
          <a:ln w="12700">
            <a:solidFill>
              <a:srgbClr val="2E7FD9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480560" y="1399032"/>
            <a:ext cx="4507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BLENDED CAC TREND  ($K)</a:t>
            </a:r>
            <a:endParaRPr lang="en-US" sz="800" dirty="0"/>
          </a:p>
        </p:txBody>
      </p:sp>
      <p:graphicFrame>
        <p:nvGraphicFramePr>
          <p:cNvPr id="99" name="Chart 0" descr=""/>
          <p:cNvGraphicFramePr/>
          <p:nvPr/>
        </p:nvGraphicFramePr>
        <p:xfrm>
          <a:off x="4407408" y="1618488"/>
          <a:ext cx="4599432" cy="166420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0" name="Shape 97"/>
          <p:cNvSpPr/>
          <p:nvPr/>
        </p:nvSpPr>
        <p:spPr>
          <a:xfrm>
            <a:off x="137160" y="2944368"/>
            <a:ext cx="5303520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1" name="Text 98"/>
          <p:cNvSpPr/>
          <p:nvPr/>
        </p:nvSpPr>
        <p:spPr>
          <a:xfrm>
            <a:off x="210312" y="2944368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CHURN DEEP DIVE  —  $500K IN Q3  (+66% QoQ)  ·  58% PREVENTABLE</a:t>
            </a:r>
            <a:endParaRPr lang="en-US" sz="800" dirty="0"/>
          </a:p>
        </p:txBody>
      </p:sp>
      <p:sp>
        <p:nvSpPr>
          <p:cNvPr id="102" name="Shape 99"/>
          <p:cNvSpPr/>
          <p:nvPr/>
        </p:nvSpPr>
        <p:spPr>
          <a:xfrm>
            <a:off x="137160" y="3163824"/>
            <a:ext cx="1261872" cy="246888"/>
          </a:xfrm>
          <a:prstGeom prst="rect">
            <a:avLst/>
          </a:prstGeom>
          <a:solidFill>
            <a:srgbClr val="7F1D1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3" name="Text 100"/>
          <p:cNvSpPr/>
          <p:nvPr/>
        </p:nvSpPr>
        <p:spPr>
          <a:xfrm>
            <a:off x="192024" y="3163824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Account</a:t>
            </a:r>
            <a:endParaRPr lang="en-US" sz="900" dirty="0"/>
          </a:p>
        </p:txBody>
      </p:sp>
      <p:sp>
        <p:nvSpPr>
          <p:cNvPr id="104" name="Shape 101"/>
          <p:cNvSpPr/>
          <p:nvPr/>
        </p:nvSpPr>
        <p:spPr>
          <a:xfrm>
            <a:off x="1399032" y="3163824"/>
            <a:ext cx="749808" cy="246888"/>
          </a:xfrm>
          <a:prstGeom prst="rect">
            <a:avLst/>
          </a:prstGeom>
          <a:solidFill>
            <a:srgbClr val="7F1D1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5" name="Text 102"/>
          <p:cNvSpPr/>
          <p:nvPr/>
        </p:nvSpPr>
        <p:spPr>
          <a:xfrm>
            <a:off x="1453896" y="3163824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Segment</a:t>
            </a:r>
            <a:endParaRPr lang="en-US" sz="900" dirty="0"/>
          </a:p>
        </p:txBody>
      </p:sp>
      <p:sp>
        <p:nvSpPr>
          <p:cNvPr id="106" name="Shape 103"/>
          <p:cNvSpPr/>
          <p:nvPr/>
        </p:nvSpPr>
        <p:spPr>
          <a:xfrm>
            <a:off x="2148840" y="3163824"/>
            <a:ext cx="594360" cy="246888"/>
          </a:xfrm>
          <a:prstGeom prst="rect">
            <a:avLst/>
          </a:prstGeom>
          <a:solidFill>
            <a:srgbClr val="7F1D1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7" name="Text 104"/>
          <p:cNvSpPr/>
          <p:nvPr/>
        </p:nvSpPr>
        <p:spPr>
          <a:xfrm>
            <a:off x="2203704" y="3163824"/>
            <a:ext cx="5212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ARR Lost</a:t>
            </a:r>
            <a:endParaRPr lang="en-US" sz="900" dirty="0"/>
          </a:p>
        </p:txBody>
      </p:sp>
      <p:sp>
        <p:nvSpPr>
          <p:cNvPr id="108" name="Shape 105"/>
          <p:cNvSpPr/>
          <p:nvPr/>
        </p:nvSpPr>
        <p:spPr>
          <a:xfrm>
            <a:off x="2743200" y="3163824"/>
            <a:ext cx="2212848" cy="246888"/>
          </a:xfrm>
          <a:prstGeom prst="rect">
            <a:avLst/>
          </a:prstGeom>
          <a:solidFill>
            <a:srgbClr val="7F1D1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9" name="Text 106"/>
          <p:cNvSpPr/>
          <p:nvPr/>
        </p:nvSpPr>
        <p:spPr>
          <a:xfrm>
            <a:off x="2798064" y="3163824"/>
            <a:ext cx="2139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Reason</a:t>
            </a:r>
            <a:endParaRPr lang="en-US" sz="900" dirty="0"/>
          </a:p>
        </p:txBody>
      </p:sp>
      <p:sp>
        <p:nvSpPr>
          <p:cNvPr id="110" name="Shape 107"/>
          <p:cNvSpPr/>
          <p:nvPr/>
        </p:nvSpPr>
        <p:spPr>
          <a:xfrm>
            <a:off x="4956048" y="3163824"/>
            <a:ext cx="1097280" cy="246888"/>
          </a:xfrm>
          <a:prstGeom prst="rect">
            <a:avLst/>
          </a:prstGeom>
          <a:solidFill>
            <a:srgbClr val="7F1D1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1" name="Text 108"/>
          <p:cNvSpPr/>
          <p:nvPr/>
        </p:nvSpPr>
        <p:spPr>
          <a:xfrm>
            <a:off x="5010912" y="3163824"/>
            <a:ext cx="10241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Preventable?</a:t>
            </a:r>
            <a:endParaRPr lang="en-US" sz="900" dirty="0"/>
          </a:p>
        </p:txBody>
      </p:sp>
      <p:sp>
        <p:nvSpPr>
          <p:cNvPr id="112" name="Shape 109"/>
          <p:cNvSpPr/>
          <p:nvPr/>
        </p:nvSpPr>
        <p:spPr>
          <a:xfrm>
            <a:off x="137160" y="3410712"/>
            <a:ext cx="1261872" cy="24688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3" name="Text 110"/>
          <p:cNvSpPr/>
          <p:nvPr/>
        </p:nvSpPr>
        <p:spPr>
          <a:xfrm>
            <a:off x="192024" y="3410712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Apex Manufacturing</a:t>
            </a:r>
            <a:endParaRPr lang="en-US" sz="900" dirty="0"/>
          </a:p>
        </p:txBody>
      </p:sp>
      <p:sp>
        <p:nvSpPr>
          <p:cNvPr id="114" name="Shape 111"/>
          <p:cNvSpPr/>
          <p:nvPr/>
        </p:nvSpPr>
        <p:spPr>
          <a:xfrm>
            <a:off x="1399032" y="3410712"/>
            <a:ext cx="749808" cy="24688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5" name="Text 112"/>
          <p:cNvSpPr/>
          <p:nvPr/>
        </p:nvSpPr>
        <p:spPr>
          <a:xfrm>
            <a:off x="1453896" y="3410712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Enterprise</a:t>
            </a:r>
            <a:endParaRPr lang="en-US" sz="900" dirty="0"/>
          </a:p>
        </p:txBody>
      </p:sp>
      <p:sp>
        <p:nvSpPr>
          <p:cNvPr id="116" name="Shape 113"/>
          <p:cNvSpPr/>
          <p:nvPr/>
        </p:nvSpPr>
        <p:spPr>
          <a:xfrm>
            <a:off x="2148840" y="3410712"/>
            <a:ext cx="594360" cy="24688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7" name="Text 114"/>
          <p:cNvSpPr/>
          <p:nvPr/>
        </p:nvSpPr>
        <p:spPr>
          <a:xfrm>
            <a:off x="2203704" y="3410712"/>
            <a:ext cx="5212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$145K</a:t>
            </a:r>
            <a:endParaRPr lang="en-US" sz="900" dirty="0"/>
          </a:p>
        </p:txBody>
      </p:sp>
      <p:sp>
        <p:nvSpPr>
          <p:cNvPr id="118" name="Shape 115"/>
          <p:cNvSpPr/>
          <p:nvPr/>
        </p:nvSpPr>
        <p:spPr>
          <a:xfrm>
            <a:off x="2743200" y="3410712"/>
            <a:ext cx="2212848" cy="24688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9" name="Text 116"/>
          <p:cNvSpPr/>
          <p:nvPr/>
        </p:nvSpPr>
        <p:spPr>
          <a:xfrm>
            <a:off x="2798064" y="3410712"/>
            <a:ext cx="2139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Acquired — contract not renewed post-M&amp;A</a:t>
            </a:r>
            <a:endParaRPr lang="en-US" sz="900" dirty="0"/>
          </a:p>
        </p:txBody>
      </p:sp>
      <p:sp>
        <p:nvSpPr>
          <p:cNvPr id="120" name="Shape 117"/>
          <p:cNvSpPr/>
          <p:nvPr/>
        </p:nvSpPr>
        <p:spPr>
          <a:xfrm>
            <a:off x="4956048" y="3410712"/>
            <a:ext cx="1097280" cy="24688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1" name="Text 118"/>
          <p:cNvSpPr/>
          <p:nvPr/>
        </p:nvSpPr>
        <p:spPr>
          <a:xfrm>
            <a:off x="5010912" y="3410712"/>
            <a:ext cx="10241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No</a:t>
            </a:r>
            <a:endParaRPr lang="en-US" sz="900" dirty="0"/>
          </a:p>
        </p:txBody>
      </p:sp>
      <p:sp>
        <p:nvSpPr>
          <p:cNvPr id="122" name="Shape 119"/>
          <p:cNvSpPr/>
          <p:nvPr/>
        </p:nvSpPr>
        <p:spPr>
          <a:xfrm>
            <a:off x="137160" y="3657600"/>
            <a:ext cx="1261872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3" name="Text 120"/>
          <p:cNvSpPr/>
          <p:nvPr/>
        </p:nvSpPr>
        <p:spPr>
          <a:xfrm>
            <a:off x="192024" y="3657600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4 SMB accounts</a:t>
            </a:r>
            <a:endParaRPr lang="en-US" sz="900" dirty="0"/>
          </a:p>
        </p:txBody>
      </p:sp>
      <p:sp>
        <p:nvSpPr>
          <p:cNvPr id="124" name="Shape 121"/>
          <p:cNvSpPr/>
          <p:nvPr/>
        </p:nvSpPr>
        <p:spPr>
          <a:xfrm>
            <a:off x="1399032" y="3657600"/>
            <a:ext cx="749808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5" name="Text 122"/>
          <p:cNvSpPr/>
          <p:nvPr/>
        </p:nvSpPr>
        <p:spPr>
          <a:xfrm>
            <a:off x="1453896" y="3657600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SMB</a:t>
            </a:r>
            <a:endParaRPr lang="en-US" sz="900" dirty="0"/>
          </a:p>
        </p:txBody>
      </p:sp>
      <p:sp>
        <p:nvSpPr>
          <p:cNvPr id="126" name="Shape 123"/>
          <p:cNvSpPr/>
          <p:nvPr/>
        </p:nvSpPr>
        <p:spPr>
          <a:xfrm>
            <a:off x="2148840" y="3657600"/>
            <a:ext cx="59436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7" name="Text 124"/>
          <p:cNvSpPr/>
          <p:nvPr/>
        </p:nvSpPr>
        <p:spPr>
          <a:xfrm>
            <a:off x="2203704" y="3657600"/>
            <a:ext cx="5212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$118K</a:t>
            </a:r>
            <a:endParaRPr lang="en-US" sz="900" dirty="0"/>
          </a:p>
        </p:txBody>
      </p:sp>
      <p:sp>
        <p:nvSpPr>
          <p:cNvPr id="128" name="Shape 125"/>
          <p:cNvSpPr/>
          <p:nvPr/>
        </p:nvSpPr>
        <p:spPr>
          <a:xfrm>
            <a:off x="2743200" y="3657600"/>
            <a:ext cx="2212848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9" name="Text 126"/>
          <p:cNvSpPr/>
          <p:nvPr/>
        </p:nvSpPr>
        <p:spPr>
          <a:xfrm>
            <a:off x="2798064" y="3657600"/>
            <a:ext cx="2139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Price sensitivity; 3→DataForge, 1 went OOB</a:t>
            </a:r>
            <a:endParaRPr lang="en-US" sz="900" dirty="0"/>
          </a:p>
        </p:txBody>
      </p:sp>
      <p:sp>
        <p:nvSpPr>
          <p:cNvPr id="130" name="Shape 127"/>
          <p:cNvSpPr/>
          <p:nvPr/>
        </p:nvSpPr>
        <p:spPr>
          <a:xfrm>
            <a:off x="4956048" y="3657600"/>
            <a:ext cx="109728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1" name="Text 128"/>
          <p:cNvSpPr/>
          <p:nvPr/>
        </p:nvSpPr>
        <p:spPr>
          <a:xfrm>
            <a:off x="5010912" y="3657600"/>
            <a:ext cx="10241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Yes — 2-3 saveable</a:t>
            </a:r>
            <a:endParaRPr lang="en-US" sz="900" dirty="0"/>
          </a:p>
        </p:txBody>
      </p:sp>
      <p:sp>
        <p:nvSpPr>
          <p:cNvPr id="132" name="Shape 129"/>
          <p:cNvSpPr/>
          <p:nvPr/>
        </p:nvSpPr>
        <p:spPr>
          <a:xfrm>
            <a:off x="137160" y="3904488"/>
            <a:ext cx="1261872" cy="24688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3" name="Text 130"/>
          <p:cNvSpPr/>
          <p:nvPr/>
        </p:nvSpPr>
        <p:spPr>
          <a:xfrm>
            <a:off x="192024" y="3904488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TechFab Solutions</a:t>
            </a:r>
            <a:endParaRPr lang="en-US" sz="900" dirty="0"/>
          </a:p>
        </p:txBody>
      </p:sp>
      <p:sp>
        <p:nvSpPr>
          <p:cNvPr id="134" name="Shape 131"/>
          <p:cNvSpPr/>
          <p:nvPr/>
        </p:nvSpPr>
        <p:spPr>
          <a:xfrm>
            <a:off x="1399032" y="3904488"/>
            <a:ext cx="749808" cy="24688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5" name="Text 132"/>
          <p:cNvSpPr/>
          <p:nvPr/>
        </p:nvSpPr>
        <p:spPr>
          <a:xfrm>
            <a:off x="1453896" y="3904488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Mid-Market</a:t>
            </a:r>
            <a:endParaRPr lang="en-US" sz="900" dirty="0"/>
          </a:p>
        </p:txBody>
      </p:sp>
      <p:sp>
        <p:nvSpPr>
          <p:cNvPr id="136" name="Shape 133"/>
          <p:cNvSpPr/>
          <p:nvPr/>
        </p:nvSpPr>
        <p:spPr>
          <a:xfrm>
            <a:off x="2148840" y="3904488"/>
            <a:ext cx="594360" cy="24688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7" name="Text 134"/>
          <p:cNvSpPr/>
          <p:nvPr/>
        </p:nvSpPr>
        <p:spPr>
          <a:xfrm>
            <a:off x="2203704" y="3904488"/>
            <a:ext cx="5212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$48K</a:t>
            </a:r>
            <a:endParaRPr lang="en-US" sz="900" dirty="0"/>
          </a:p>
        </p:txBody>
      </p:sp>
      <p:sp>
        <p:nvSpPr>
          <p:cNvPr id="138" name="Shape 135"/>
          <p:cNvSpPr/>
          <p:nvPr/>
        </p:nvSpPr>
        <p:spPr>
          <a:xfrm>
            <a:off x="2743200" y="3904488"/>
            <a:ext cx="2212848" cy="24688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9" name="Text 136"/>
          <p:cNvSpPr/>
          <p:nvPr/>
        </p:nvSpPr>
        <p:spPr>
          <a:xfrm>
            <a:off x="2798064" y="3904488"/>
            <a:ext cx="2139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Poor implementation; never achieved time-to-value</a:t>
            </a:r>
            <a:endParaRPr lang="en-US" sz="900" dirty="0"/>
          </a:p>
        </p:txBody>
      </p:sp>
      <p:sp>
        <p:nvSpPr>
          <p:cNvPr id="140" name="Shape 137"/>
          <p:cNvSpPr/>
          <p:nvPr/>
        </p:nvSpPr>
        <p:spPr>
          <a:xfrm>
            <a:off x="4956048" y="3904488"/>
            <a:ext cx="1097280" cy="24688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1" name="Text 138"/>
          <p:cNvSpPr/>
          <p:nvPr/>
        </p:nvSpPr>
        <p:spPr>
          <a:xfrm>
            <a:off x="5010912" y="3904488"/>
            <a:ext cx="10241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Yes — CS failure</a:t>
            </a:r>
            <a:endParaRPr lang="en-US" sz="900" dirty="0"/>
          </a:p>
        </p:txBody>
      </p:sp>
      <p:sp>
        <p:nvSpPr>
          <p:cNvPr id="142" name="Shape 139"/>
          <p:cNvSpPr/>
          <p:nvPr/>
        </p:nvSpPr>
        <p:spPr>
          <a:xfrm>
            <a:off x="137160" y="4151376"/>
            <a:ext cx="1261872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3" name="Text 140"/>
          <p:cNvSpPr/>
          <p:nvPr/>
        </p:nvSpPr>
        <p:spPr>
          <a:xfrm>
            <a:off x="192024" y="4151376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3 SMB accounts</a:t>
            </a:r>
            <a:endParaRPr lang="en-US" sz="900" dirty="0"/>
          </a:p>
        </p:txBody>
      </p:sp>
      <p:sp>
        <p:nvSpPr>
          <p:cNvPr id="144" name="Shape 141"/>
          <p:cNvSpPr/>
          <p:nvPr/>
        </p:nvSpPr>
        <p:spPr>
          <a:xfrm>
            <a:off x="1399032" y="4151376"/>
            <a:ext cx="749808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5" name="Text 142"/>
          <p:cNvSpPr/>
          <p:nvPr/>
        </p:nvSpPr>
        <p:spPr>
          <a:xfrm>
            <a:off x="1453896" y="4151376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SMB</a:t>
            </a:r>
            <a:endParaRPr lang="en-US" sz="900" dirty="0"/>
          </a:p>
        </p:txBody>
      </p:sp>
      <p:sp>
        <p:nvSpPr>
          <p:cNvPr id="146" name="Shape 143"/>
          <p:cNvSpPr/>
          <p:nvPr/>
        </p:nvSpPr>
        <p:spPr>
          <a:xfrm>
            <a:off x="2148840" y="4151376"/>
            <a:ext cx="59436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7" name="Text 144"/>
          <p:cNvSpPr/>
          <p:nvPr/>
        </p:nvSpPr>
        <p:spPr>
          <a:xfrm>
            <a:off x="2203704" y="4151376"/>
            <a:ext cx="5212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$82K</a:t>
            </a:r>
            <a:endParaRPr lang="en-US" sz="900" dirty="0"/>
          </a:p>
        </p:txBody>
      </p:sp>
      <p:sp>
        <p:nvSpPr>
          <p:cNvPr id="148" name="Shape 145"/>
          <p:cNvSpPr/>
          <p:nvPr/>
        </p:nvSpPr>
        <p:spPr>
          <a:xfrm>
            <a:off x="2743200" y="4151376"/>
            <a:ext cx="2212848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9" name="Text 146"/>
          <p:cNvSpPr/>
          <p:nvPr/>
        </p:nvSpPr>
        <p:spPr>
          <a:xfrm>
            <a:off x="2798064" y="4151376"/>
            <a:ext cx="2139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Low usage (&lt;10% adoption); never onboarded</a:t>
            </a:r>
            <a:endParaRPr lang="en-US" sz="900" dirty="0"/>
          </a:p>
        </p:txBody>
      </p:sp>
      <p:sp>
        <p:nvSpPr>
          <p:cNvPr id="150" name="Shape 147"/>
          <p:cNvSpPr/>
          <p:nvPr/>
        </p:nvSpPr>
        <p:spPr>
          <a:xfrm>
            <a:off x="4956048" y="4151376"/>
            <a:ext cx="109728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1" name="Text 148"/>
          <p:cNvSpPr/>
          <p:nvPr/>
        </p:nvSpPr>
        <p:spPr>
          <a:xfrm>
            <a:off x="5010912" y="4151376"/>
            <a:ext cx="10241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Yes — onboarding gap</a:t>
            </a:r>
            <a:endParaRPr lang="en-US" sz="900" dirty="0"/>
          </a:p>
        </p:txBody>
      </p:sp>
      <p:sp>
        <p:nvSpPr>
          <p:cNvPr id="152" name="Shape 149"/>
          <p:cNvSpPr/>
          <p:nvPr/>
        </p:nvSpPr>
        <p:spPr>
          <a:xfrm>
            <a:off x="137160" y="4398264"/>
            <a:ext cx="1261872" cy="24688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3" name="Text 150"/>
          <p:cNvSpPr/>
          <p:nvPr/>
        </p:nvSpPr>
        <p:spPr>
          <a:xfrm>
            <a:off x="192024" y="4398264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TOTAL / PREVENTABLE</a:t>
            </a:r>
            <a:endParaRPr lang="en-US" sz="900" dirty="0"/>
          </a:p>
        </p:txBody>
      </p:sp>
      <p:sp>
        <p:nvSpPr>
          <p:cNvPr id="154" name="Shape 151"/>
          <p:cNvSpPr/>
          <p:nvPr/>
        </p:nvSpPr>
        <p:spPr>
          <a:xfrm>
            <a:off x="1399032" y="4398264"/>
            <a:ext cx="749808" cy="24688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5" name="Text 152"/>
          <p:cNvSpPr/>
          <p:nvPr/>
        </p:nvSpPr>
        <p:spPr>
          <a:xfrm>
            <a:off x="1453896" y="4398264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156" name="Shape 153"/>
          <p:cNvSpPr/>
          <p:nvPr/>
        </p:nvSpPr>
        <p:spPr>
          <a:xfrm>
            <a:off x="2148840" y="4398264"/>
            <a:ext cx="594360" cy="24688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7" name="Text 154"/>
          <p:cNvSpPr/>
          <p:nvPr/>
        </p:nvSpPr>
        <p:spPr>
          <a:xfrm>
            <a:off x="2203704" y="4398264"/>
            <a:ext cx="5212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$500K</a:t>
            </a:r>
            <a:endParaRPr lang="en-US" sz="900" dirty="0"/>
          </a:p>
        </p:txBody>
      </p:sp>
      <p:sp>
        <p:nvSpPr>
          <p:cNvPr id="158" name="Shape 155"/>
          <p:cNvSpPr/>
          <p:nvPr/>
        </p:nvSpPr>
        <p:spPr>
          <a:xfrm>
            <a:off x="2743200" y="4398264"/>
            <a:ext cx="2212848" cy="24688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9" name="Text 156"/>
          <p:cNvSpPr/>
          <p:nvPr/>
        </p:nvSpPr>
        <p:spPr>
          <a:xfrm>
            <a:off x="2798064" y="4398264"/>
            <a:ext cx="2139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$290K of $500K (58%) preventable</a:t>
            </a:r>
            <a:endParaRPr lang="en-US" sz="900" dirty="0"/>
          </a:p>
        </p:txBody>
      </p:sp>
      <p:sp>
        <p:nvSpPr>
          <p:cNvPr id="160" name="Shape 157"/>
          <p:cNvSpPr/>
          <p:nvPr/>
        </p:nvSpPr>
        <p:spPr>
          <a:xfrm>
            <a:off x="4956048" y="4398264"/>
            <a:ext cx="1097280" cy="24688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1" name="Text 158"/>
          <p:cNvSpPr/>
          <p:nvPr/>
        </p:nvSpPr>
        <p:spPr>
          <a:xfrm>
            <a:off x="5010912" y="4398264"/>
            <a:ext cx="10241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$290K recoverable</a:t>
            </a:r>
            <a:endParaRPr lang="en-US" sz="900" dirty="0"/>
          </a:p>
        </p:txBody>
      </p:sp>
      <p:sp>
        <p:nvSpPr>
          <p:cNvPr id="162" name="Shape 159"/>
          <p:cNvSpPr/>
          <p:nvPr/>
        </p:nvSpPr>
        <p:spPr>
          <a:xfrm>
            <a:off x="5577840" y="2944368"/>
            <a:ext cx="3429000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3" name="Text 160"/>
          <p:cNvSpPr/>
          <p:nvPr/>
        </p:nvSpPr>
        <p:spPr>
          <a:xfrm>
            <a:off x="5650992" y="294436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AT-RISK ACCOUNTS  —  Q4 WATCH LIST</a:t>
            </a:r>
            <a:endParaRPr lang="en-US" sz="800" dirty="0"/>
          </a:p>
        </p:txBody>
      </p:sp>
      <p:sp>
        <p:nvSpPr>
          <p:cNvPr id="164" name="Shape 161"/>
          <p:cNvSpPr/>
          <p:nvPr/>
        </p:nvSpPr>
        <p:spPr>
          <a:xfrm>
            <a:off x="5577840" y="3163824"/>
            <a:ext cx="960120" cy="292608"/>
          </a:xfrm>
          <a:prstGeom prst="rect">
            <a:avLst/>
          </a:prstGeom>
          <a:solidFill>
            <a:srgbClr val="D97706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5" name="Text 162"/>
          <p:cNvSpPr/>
          <p:nvPr/>
        </p:nvSpPr>
        <p:spPr>
          <a:xfrm>
            <a:off x="5632704" y="3163824"/>
            <a:ext cx="886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Account</a:t>
            </a:r>
            <a:endParaRPr lang="en-US" sz="900" dirty="0"/>
          </a:p>
        </p:txBody>
      </p:sp>
      <p:sp>
        <p:nvSpPr>
          <p:cNvPr id="166" name="Shape 163"/>
          <p:cNvSpPr/>
          <p:nvPr/>
        </p:nvSpPr>
        <p:spPr>
          <a:xfrm>
            <a:off x="6537960" y="3163824"/>
            <a:ext cx="502920" cy="292608"/>
          </a:xfrm>
          <a:prstGeom prst="rect">
            <a:avLst/>
          </a:prstGeom>
          <a:solidFill>
            <a:srgbClr val="D97706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7" name="Text 164"/>
          <p:cNvSpPr/>
          <p:nvPr/>
        </p:nvSpPr>
        <p:spPr>
          <a:xfrm>
            <a:off x="6592824" y="3163824"/>
            <a:ext cx="429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ARR</a:t>
            </a:r>
            <a:endParaRPr lang="en-US" sz="900" dirty="0"/>
          </a:p>
        </p:txBody>
      </p:sp>
      <p:sp>
        <p:nvSpPr>
          <p:cNvPr id="168" name="Shape 165"/>
          <p:cNvSpPr/>
          <p:nvPr/>
        </p:nvSpPr>
        <p:spPr>
          <a:xfrm>
            <a:off x="7040880" y="3163824"/>
            <a:ext cx="1417320" cy="292608"/>
          </a:xfrm>
          <a:prstGeom prst="rect">
            <a:avLst/>
          </a:prstGeom>
          <a:solidFill>
            <a:srgbClr val="D97706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9" name="Text 166"/>
          <p:cNvSpPr/>
          <p:nvPr/>
        </p:nvSpPr>
        <p:spPr>
          <a:xfrm>
            <a:off x="7095744" y="3163824"/>
            <a:ext cx="1344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Risk Signal</a:t>
            </a:r>
            <a:endParaRPr lang="en-US" sz="900" dirty="0"/>
          </a:p>
        </p:txBody>
      </p:sp>
      <p:sp>
        <p:nvSpPr>
          <p:cNvPr id="170" name="Shape 167"/>
          <p:cNvSpPr/>
          <p:nvPr/>
        </p:nvSpPr>
        <p:spPr>
          <a:xfrm>
            <a:off x="8458200" y="3163824"/>
            <a:ext cx="548640" cy="292608"/>
          </a:xfrm>
          <a:prstGeom prst="rect">
            <a:avLst/>
          </a:prstGeom>
          <a:solidFill>
            <a:srgbClr val="D97706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1" name="Text 168"/>
          <p:cNvSpPr/>
          <p:nvPr/>
        </p:nvSpPr>
        <p:spPr>
          <a:xfrm>
            <a:off x="8513064" y="3163824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Owner</a:t>
            </a:r>
            <a:endParaRPr lang="en-US" sz="900" dirty="0"/>
          </a:p>
        </p:txBody>
      </p:sp>
      <p:sp>
        <p:nvSpPr>
          <p:cNvPr id="172" name="Shape 169"/>
          <p:cNvSpPr/>
          <p:nvPr/>
        </p:nvSpPr>
        <p:spPr>
          <a:xfrm>
            <a:off x="5577840" y="3456432"/>
            <a:ext cx="960120" cy="29260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3" name="Text 170"/>
          <p:cNvSpPr/>
          <p:nvPr/>
        </p:nvSpPr>
        <p:spPr>
          <a:xfrm>
            <a:off x="5632704" y="3456432"/>
            <a:ext cx="886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Sterling Industries</a:t>
            </a:r>
            <a:endParaRPr lang="en-US" sz="900" dirty="0"/>
          </a:p>
        </p:txBody>
      </p:sp>
      <p:sp>
        <p:nvSpPr>
          <p:cNvPr id="174" name="Shape 171"/>
          <p:cNvSpPr/>
          <p:nvPr/>
        </p:nvSpPr>
        <p:spPr>
          <a:xfrm>
            <a:off x="6537960" y="3456432"/>
            <a:ext cx="502920" cy="29260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5" name="Text 172"/>
          <p:cNvSpPr/>
          <p:nvPr/>
        </p:nvSpPr>
        <p:spPr>
          <a:xfrm>
            <a:off x="6592824" y="3456432"/>
            <a:ext cx="429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$210K</a:t>
            </a:r>
            <a:endParaRPr lang="en-US" sz="900" dirty="0"/>
          </a:p>
        </p:txBody>
      </p:sp>
      <p:sp>
        <p:nvSpPr>
          <p:cNvPr id="176" name="Shape 173"/>
          <p:cNvSpPr/>
          <p:nvPr/>
        </p:nvSpPr>
        <p:spPr>
          <a:xfrm>
            <a:off x="7040880" y="3456432"/>
            <a:ext cx="1417320" cy="29260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7" name="Text 174"/>
          <p:cNvSpPr/>
          <p:nvPr/>
        </p:nvSpPr>
        <p:spPr>
          <a:xfrm>
            <a:off x="7095744" y="3456432"/>
            <a:ext cx="1344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Champion left; new VP evaluating alternatives</a:t>
            </a:r>
            <a:endParaRPr lang="en-US" sz="900" dirty="0"/>
          </a:p>
        </p:txBody>
      </p:sp>
      <p:sp>
        <p:nvSpPr>
          <p:cNvPr id="178" name="Shape 175"/>
          <p:cNvSpPr/>
          <p:nvPr/>
        </p:nvSpPr>
        <p:spPr>
          <a:xfrm>
            <a:off x="8458200" y="3456432"/>
            <a:ext cx="548640" cy="29260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9" name="Text 176"/>
          <p:cNvSpPr/>
          <p:nvPr/>
        </p:nvSpPr>
        <p:spPr>
          <a:xfrm>
            <a:off x="8513064" y="3456432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R. Torres</a:t>
            </a:r>
            <a:endParaRPr lang="en-US" sz="900" dirty="0"/>
          </a:p>
        </p:txBody>
      </p:sp>
      <p:sp>
        <p:nvSpPr>
          <p:cNvPr id="180" name="Shape 177"/>
          <p:cNvSpPr/>
          <p:nvPr/>
        </p:nvSpPr>
        <p:spPr>
          <a:xfrm>
            <a:off x="5577840" y="3749040"/>
            <a:ext cx="9601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1" name="Text 178"/>
          <p:cNvSpPr/>
          <p:nvPr/>
        </p:nvSpPr>
        <p:spPr>
          <a:xfrm>
            <a:off x="5632704" y="3749040"/>
            <a:ext cx="886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ClearPath Systems</a:t>
            </a:r>
            <a:endParaRPr lang="en-US" sz="900" dirty="0"/>
          </a:p>
        </p:txBody>
      </p:sp>
      <p:sp>
        <p:nvSpPr>
          <p:cNvPr id="182" name="Shape 179"/>
          <p:cNvSpPr/>
          <p:nvPr/>
        </p:nvSpPr>
        <p:spPr>
          <a:xfrm>
            <a:off x="6537960" y="3749040"/>
            <a:ext cx="5029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3" name="Text 180"/>
          <p:cNvSpPr/>
          <p:nvPr/>
        </p:nvSpPr>
        <p:spPr>
          <a:xfrm>
            <a:off x="6592824" y="3749040"/>
            <a:ext cx="429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$72K</a:t>
            </a:r>
            <a:endParaRPr lang="en-US" sz="900" dirty="0"/>
          </a:p>
        </p:txBody>
      </p:sp>
      <p:sp>
        <p:nvSpPr>
          <p:cNvPr id="184" name="Shape 181"/>
          <p:cNvSpPr/>
          <p:nvPr/>
        </p:nvSpPr>
        <p:spPr>
          <a:xfrm>
            <a:off x="7040880" y="3749040"/>
            <a:ext cx="14173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5" name="Text 182"/>
          <p:cNvSpPr/>
          <p:nvPr/>
        </p:nvSpPr>
        <p:spPr>
          <a:xfrm>
            <a:off x="7095744" y="3749040"/>
            <a:ext cx="1344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Renewal in 60 days; competitor POC underway</a:t>
            </a:r>
            <a:endParaRPr lang="en-US" sz="900" dirty="0"/>
          </a:p>
        </p:txBody>
      </p:sp>
      <p:sp>
        <p:nvSpPr>
          <p:cNvPr id="186" name="Shape 183"/>
          <p:cNvSpPr/>
          <p:nvPr/>
        </p:nvSpPr>
        <p:spPr>
          <a:xfrm>
            <a:off x="8458200" y="3749040"/>
            <a:ext cx="5486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7" name="Text 184"/>
          <p:cNvSpPr/>
          <p:nvPr/>
        </p:nvSpPr>
        <p:spPr>
          <a:xfrm>
            <a:off x="8513064" y="3749040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D. Park</a:t>
            </a:r>
            <a:endParaRPr lang="en-US" sz="900" dirty="0"/>
          </a:p>
        </p:txBody>
      </p:sp>
      <p:sp>
        <p:nvSpPr>
          <p:cNvPr id="188" name="Shape 185"/>
          <p:cNvSpPr/>
          <p:nvPr/>
        </p:nvSpPr>
        <p:spPr>
          <a:xfrm>
            <a:off x="5577840" y="4041648"/>
            <a:ext cx="960120" cy="29260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9" name="Text 186"/>
          <p:cNvSpPr/>
          <p:nvPr/>
        </p:nvSpPr>
        <p:spPr>
          <a:xfrm>
            <a:off x="5632704" y="4041648"/>
            <a:ext cx="886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Midwest Components</a:t>
            </a:r>
            <a:endParaRPr lang="en-US" sz="900" dirty="0"/>
          </a:p>
        </p:txBody>
      </p:sp>
      <p:sp>
        <p:nvSpPr>
          <p:cNvPr id="190" name="Shape 187"/>
          <p:cNvSpPr/>
          <p:nvPr/>
        </p:nvSpPr>
        <p:spPr>
          <a:xfrm>
            <a:off x="6537960" y="4041648"/>
            <a:ext cx="502920" cy="29260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1" name="Text 188"/>
          <p:cNvSpPr/>
          <p:nvPr/>
        </p:nvSpPr>
        <p:spPr>
          <a:xfrm>
            <a:off x="6592824" y="4041648"/>
            <a:ext cx="429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$58K</a:t>
            </a:r>
            <a:endParaRPr lang="en-US" sz="900" dirty="0"/>
          </a:p>
        </p:txBody>
      </p:sp>
      <p:sp>
        <p:nvSpPr>
          <p:cNvPr id="192" name="Shape 189"/>
          <p:cNvSpPr/>
          <p:nvPr/>
        </p:nvSpPr>
        <p:spPr>
          <a:xfrm>
            <a:off x="7040880" y="4041648"/>
            <a:ext cx="1417320" cy="29260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3" name="Text 190"/>
          <p:cNvSpPr/>
          <p:nvPr/>
        </p:nvSpPr>
        <p:spPr>
          <a:xfrm>
            <a:off x="7095744" y="4041648"/>
            <a:ext cx="1344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Usage -40% Aug; tickets 3x — CS engaged</a:t>
            </a:r>
            <a:endParaRPr lang="en-US" sz="900" dirty="0"/>
          </a:p>
        </p:txBody>
      </p:sp>
      <p:sp>
        <p:nvSpPr>
          <p:cNvPr id="194" name="Shape 191"/>
          <p:cNvSpPr/>
          <p:nvPr/>
        </p:nvSpPr>
        <p:spPr>
          <a:xfrm>
            <a:off x="8458200" y="4041648"/>
            <a:ext cx="548640" cy="29260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5" name="Text 192"/>
          <p:cNvSpPr/>
          <p:nvPr/>
        </p:nvSpPr>
        <p:spPr>
          <a:xfrm>
            <a:off x="8513064" y="4041648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J. Lin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75488"/>
            <a:ext cx="9144000" cy="27432"/>
          </a:xfrm>
          <a:prstGeom prst="rect">
            <a:avLst/>
          </a:prstGeom>
          <a:solidFill>
            <a:srgbClr val="2E7FD9"/>
          </a:solidFill>
          <a:ln w="12700">
            <a:solidFill>
              <a:srgbClr val="2E7F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SLIDE 4  ·  Product &amp; Engineering / Team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0" y="0"/>
            <a:ext cx="8869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A7C7"/>
                </a:solidFill>
              </a:rPr>
              <a:t>Q3 2026 Shipped · Q4 Roadmap · Headcount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874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2A0"/>
                </a:solidFill>
              </a:rPr>
              <a:t>NovaCrest  |  Q3 2026 Board Review  |  CONFIDENTIAL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0" y="4887468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82A0"/>
                </a:solidFill>
              </a:rPr>
              <a:t>March 31, 2026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37160" y="594360"/>
            <a:ext cx="5029200" cy="201168"/>
          </a:xfrm>
          <a:prstGeom prst="rect">
            <a:avLst/>
          </a:prstGeom>
          <a:solidFill>
            <a:srgbClr val="2E7FD9"/>
          </a:solidFill>
          <a:ln w="12700">
            <a:solidFill>
              <a:srgbClr val="2E7F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" y="59436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Q3 SHIPPED FEATURES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37160" y="813816"/>
            <a:ext cx="1554480" cy="292608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2024" y="813816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Feature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691640" y="813816"/>
            <a:ext cx="1874520" cy="292608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46504" y="813816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30-Day Adoption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566160" y="813816"/>
            <a:ext cx="1645920" cy="292608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21024" y="813816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Revenue Signal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37160" y="1106424"/>
            <a:ext cx="1554480" cy="29260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2024" y="1106424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Predictive Maintenance v2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691640" y="1106424"/>
            <a:ext cx="1874520" cy="29260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46504" y="1106424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67% of enterprise accounts enabled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566160" y="1106424"/>
            <a:ext cx="1645920" cy="29260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21024" y="1106424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$1.2M pipeline; 3 deals cite directly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37160" y="1399032"/>
            <a:ext cx="15544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2024" y="1399032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Self-Serve Dashboard Builder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691640" y="1399032"/>
            <a:ext cx="18745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46504" y="1399032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340 dashboards by 89 accounts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566160" y="1399032"/>
            <a:ext cx="16459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21024" y="139903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CS ticket volume -18%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37160" y="1691640"/>
            <a:ext cx="1554480" cy="29260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2024" y="169164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E7FD9"/>
                </a:solidFill>
              </a:rPr>
              <a:t>SAP Integration (native)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691640" y="1691640"/>
            <a:ext cx="1874520" cy="29260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746504" y="1691640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12 connected; 8 in progress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566160" y="1691640"/>
            <a:ext cx="1645920" cy="29260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21024" y="169164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7FD9"/>
                </a:solidFill>
              </a:rPr>
              <a:t>Partner channel accelerant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37160" y="1984248"/>
            <a:ext cx="15544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2024" y="1984248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SOC 2 Type II ✓  (cert 8/15)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691640" y="1984248"/>
            <a:ext cx="18745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746504" y="1984248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N/A — compliance milestone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566160" y="1984248"/>
            <a:ext cx="16459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21024" y="198424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Unblocked 4 deals ($380K pipeline)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37160" y="2331720"/>
            <a:ext cx="5029200" cy="201168"/>
          </a:xfrm>
          <a:prstGeom prst="rect">
            <a:avLst/>
          </a:prstGeom>
          <a:solidFill>
            <a:srgbClr val="2E7FD9"/>
          </a:solidFill>
          <a:ln w="12700">
            <a:solidFill>
              <a:srgbClr val="2E7FD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10312" y="233172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Q4 ROADMAP PRIORITIES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137160" y="2551176"/>
            <a:ext cx="320040" cy="269748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92024" y="2551176"/>
            <a:ext cx="24688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Pri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7200" y="2551176"/>
            <a:ext cx="1828800" cy="269748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2064" y="2551176"/>
            <a:ext cx="175564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Feature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286000" y="2551176"/>
            <a:ext cx="1234440" cy="269748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340864" y="2551176"/>
            <a:ext cx="116128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Status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520440" y="2551176"/>
            <a:ext cx="1691640" cy="269748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575304" y="2551176"/>
            <a:ext cx="161848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Expected Impact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37160" y="2820924"/>
            <a:ext cx="320040" cy="26974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92024" y="2820924"/>
            <a:ext cx="24688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P0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57200" y="2820924"/>
            <a:ext cx="1828800" cy="26974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12064" y="2820924"/>
            <a:ext cx="175564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Multi-tenant analytics (enterprise isolation)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286000" y="2820924"/>
            <a:ext cx="1234440" cy="26974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340864" y="2820924"/>
            <a:ext cx="116128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In dev — 60%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520440" y="2820924"/>
            <a:ext cx="1691640" cy="26974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575304" y="2820924"/>
            <a:ext cx="161848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2 deals $200K+ blocked on this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137160" y="3090672"/>
            <a:ext cx="320040" cy="2697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92024" y="3090672"/>
            <a:ext cx="24688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P0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57200" y="3090672"/>
            <a:ext cx="1828800" cy="2697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12064" y="3090672"/>
            <a:ext cx="175564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Siemens MindSphere integration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2286000" y="3090672"/>
            <a:ext cx="1234440" cy="2697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340864" y="3090672"/>
            <a:ext cx="116128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Design done; dev starting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3520440" y="3090672"/>
            <a:ext cx="1691640" cy="2697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575304" y="3090672"/>
            <a:ext cx="161848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Opens $4M TAM in industrial IoT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137160" y="3360420"/>
            <a:ext cx="320040" cy="26974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92024" y="3360420"/>
            <a:ext cx="24688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P1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57200" y="3360420"/>
            <a:ext cx="1828800" cy="26974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12064" y="3360420"/>
            <a:ext cx="175564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Usage-based pricing tier (SMB)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2286000" y="3360420"/>
            <a:ext cx="1234440" cy="26974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340864" y="3360420"/>
            <a:ext cx="116128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Spec complete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3520440" y="3360420"/>
            <a:ext cx="1691640" cy="26974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575304" y="3360420"/>
            <a:ext cx="161848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7706"/>
                </a:solidFill>
              </a:rPr>
              <a:t>Addresses 58% of preventable churn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137160" y="3630168"/>
            <a:ext cx="320040" cy="2697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92024" y="3630168"/>
            <a:ext cx="24688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P1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457200" y="3630168"/>
            <a:ext cx="1828800" cy="2697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12064" y="3630168"/>
            <a:ext cx="175564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Customer health score dashboard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2286000" y="3630168"/>
            <a:ext cx="1234440" cy="2697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340864" y="3630168"/>
            <a:ext cx="116128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Prototype built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3520440" y="3630168"/>
            <a:ext cx="1691640" cy="2697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575304" y="3630168"/>
            <a:ext cx="161848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Early warning for at-risk accounts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137160" y="3899916"/>
            <a:ext cx="320040" cy="26974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92024" y="3899916"/>
            <a:ext cx="24688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P2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457200" y="3899916"/>
            <a:ext cx="1828800" cy="26974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12064" y="3899916"/>
            <a:ext cx="175564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Mobile app (read-only dashboards)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2286000" y="3899916"/>
            <a:ext cx="1234440" cy="26974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340864" y="3899916"/>
            <a:ext cx="116128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Scoping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3520440" y="3899916"/>
            <a:ext cx="1691640" cy="26974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575304" y="3899916"/>
            <a:ext cx="161848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Frequently requested; low revenue impact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5303520" y="594360"/>
            <a:ext cx="3703320" cy="201168"/>
          </a:xfrm>
          <a:prstGeom prst="rect">
            <a:avLst/>
          </a:prstGeom>
          <a:solidFill>
            <a:srgbClr val="2E7FD9"/>
          </a:solidFill>
          <a:ln w="12700">
            <a:solidFill>
              <a:srgbClr val="2E7FD9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376672" y="59436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HEADCOUNT BY FUNCTION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5303520" y="813816"/>
            <a:ext cx="1298448" cy="265176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358384" y="813816"/>
            <a:ext cx="12252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Function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6601968" y="813816"/>
            <a:ext cx="502920" cy="265176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656832" y="813816"/>
            <a:ext cx="4297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Q2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7104888" y="813816"/>
            <a:ext cx="502920" cy="265176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159752" y="813816"/>
            <a:ext cx="4297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Q3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7607808" y="813816"/>
            <a:ext cx="502920" cy="265176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662672" y="813816"/>
            <a:ext cx="4297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Open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8110728" y="813816"/>
            <a:ext cx="804672" cy="265176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8165592" y="813816"/>
            <a:ext cx="731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Q4 Target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5303520" y="1078992"/>
            <a:ext cx="1298448" cy="265176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5358384" y="1078992"/>
            <a:ext cx="12252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Engineering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6601968" y="1078992"/>
            <a:ext cx="502920" cy="265176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656832" y="1078992"/>
            <a:ext cx="4297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42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7104888" y="1078992"/>
            <a:ext cx="502920" cy="265176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7159752" y="1078992"/>
            <a:ext cx="4297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46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7607808" y="1078992"/>
            <a:ext cx="502920" cy="265176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7662672" y="1078992"/>
            <a:ext cx="4297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4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8110728" y="1078992"/>
            <a:ext cx="804672" cy="265176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8165592" y="1078992"/>
            <a:ext cx="731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50</a:t>
            </a:r>
            <a:endParaRPr lang="en-US" sz="900" dirty="0"/>
          </a:p>
        </p:txBody>
      </p:sp>
      <p:sp>
        <p:nvSpPr>
          <p:cNvPr id="114" name="Shape 112"/>
          <p:cNvSpPr/>
          <p:nvPr/>
        </p:nvSpPr>
        <p:spPr>
          <a:xfrm>
            <a:off x="5303520" y="1344168"/>
            <a:ext cx="1298448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5358384" y="1344168"/>
            <a:ext cx="12252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Product &amp; Design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6601968" y="1344168"/>
            <a:ext cx="50292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6656832" y="1344168"/>
            <a:ext cx="4297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8</a:t>
            </a:r>
            <a:endParaRPr lang="en-US" sz="900" dirty="0"/>
          </a:p>
        </p:txBody>
      </p:sp>
      <p:sp>
        <p:nvSpPr>
          <p:cNvPr id="118" name="Shape 116"/>
          <p:cNvSpPr/>
          <p:nvPr/>
        </p:nvSpPr>
        <p:spPr>
          <a:xfrm>
            <a:off x="7104888" y="1344168"/>
            <a:ext cx="50292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7159752" y="1344168"/>
            <a:ext cx="4297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9</a:t>
            </a:r>
            <a:endParaRPr lang="en-US" sz="900" dirty="0"/>
          </a:p>
        </p:txBody>
      </p:sp>
      <p:sp>
        <p:nvSpPr>
          <p:cNvPr id="120" name="Shape 118"/>
          <p:cNvSpPr/>
          <p:nvPr/>
        </p:nvSpPr>
        <p:spPr>
          <a:xfrm>
            <a:off x="7607808" y="1344168"/>
            <a:ext cx="50292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7662672" y="1344168"/>
            <a:ext cx="4297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1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8110728" y="1344168"/>
            <a:ext cx="804672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8165592" y="1344168"/>
            <a:ext cx="731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10</a:t>
            </a:r>
            <a:endParaRPr lang="en-US" sz="900" dirty="0"/>
          </a:p>
        </p:txBody>
      </p:sp>
      <p:sp>
        <p:nvSpPr>
          <p:cNvPr id="124" name="Shape 122"/>
          <p:cNvSpPr/>
          <p:nvPr/>
        </p:nvSpPr>
        <p:spPr>
          <a:xfrm>
            <a:off x="5303520" y="1609344"/>
            <a:ext cx="1298448" cy="265176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5358384" y="1609344"/>
            <a:ext cx="12252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Sales</a:t>
            </a:r>
            <a:endParaRPr lang="en-US" sz="900" dirty="0"/>
          </a:p>
        </p:txBody>
      </p:sp>
      <p:sp>
        <p:nvSpPr>
          <p:cNvPr id="126" name="Shape 124"/>
          <p:cNvSpPr/>
          <p:nvPr/>
        </p:nvSpPr>
        <p:spPr>
          <a:xfrm>
            <a:off x="6601968" y="1609344"/>
            <a:ext cx="502920" cy="265176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6656832" y="1609344"/>
            <a:ext cx="4297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18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7104888" y="1609344"/>
            <a:ext cx="502920" cy="265176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7159752" y="1609344"/>
            <a:ext cx="4297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22</a:t>
            </a:r>
            <a:endParaRPr lang="en-US" sz="900" dirty="0"/>
          </a:p>
        </p:txBody>
      </p:sp>
      <p:sp>
        <p:nvSpPr>
          <p:cNvPr id="130" name="Shape 128"/>
          <p:cNvSpPr/>
          <p:nvPr/>
        </p:nvSpPr>
        <p:spPr>
          <a:xfrm>
            <a:off x="7607808" y="1609344"/>
            <a:ext cx="502920" cy="265176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7662672" y="1609344"/>
            <a:ext cx="4297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3</a:t>
            </a:r>
            <a:endParaRPr lang="en-US" sz="900" dirty="0"/>
          </a:p>
        </p:txBody>
      </p:sp>
      <p:sp>
        <p:nvSpPr>
          <p:cNvPr id="132" name="Shape 130"/>
          <p:cNvSpPr/>
          <p:nvPr/>
        </p:nvSpPr>
        <p:spPr>
          <a:xfrm>
            <a:off x="8110728" y="1609344"/>
            <a:ext cx="804672" cy="265176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8165592" y="1609344"/>
            <a:ext cx="731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25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5303520" y="1874520"/>
            <a:ext cx="1298448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5358384" y="1874520"/>
            <a:ext cx="12252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Customer Success</a:t>
            </a:r>
            <a:endParaRPr lang="en-US" sz="900" dirty="0"/>
          </a:p>
        </p:txBody>
      </p:sp>
      <p:sp>
        <p:nvSpPr>
          <p:cNvPr id="136" name="Shape 134"/>
          <p:cNvSpPr/>
          <p:nvPr/>
        </p:nvSpPr>
        <p:spPr>
          <a:xfrm>
            <a:off x="6601968" y="1874520"/>
            <a:ext cx="50292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6656832" y="1874520"/>
            <a:ext cx="4297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12</a:t>
            </a:r>
            <a:endParaRPr lang="en-US" sz="900" dirty="0"/>
          </a:p>
        </p:txBody>
      </p:sp>
      <p:sp>
        <p:nvSpPr>
          <p:cNvPr id="138" name="Shape 136"/>
          <p:cNvSpPr/>
          <p:nvPr/>
        </p:nvSpPr>
        <p:spPr>
          <a:xfrm>
            <a:off x="7104888" y="1874520"/>
            <a:ext cx="50292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7159752" y="1874520"/>
            <a:ext cx="4297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14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7607808" y="1874520"/>
            <a:ext cx="50292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7662672" y="1874520"/>
            <a:ext cx="4297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2</a:t>
            </a:r>
            <a:endParaRPr lang="en-US" sz="900" dirty="0"/>
          </a:p>
        </p:txBody>
      </p:sp>
      <p:sp>
        <p:nvSpPr>
          <p:cNvPr id="142" name="Shape 140"/>
          <p:cNvSpPr/>
          <p:nvPr/>
        </p:nvSpPr>
        <p:spPr>
          <a:xfrm>
            <a:off x="8110728" y="1874520"/>
            <a:ext cx="804672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8165592" y="1874520"/>
            <a:ext cx="731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16</a:t>
            </a:r>
            <a:endParaRPr lang="en-US" sz="900" dirty="0"/>
          </a:p>
        </p:txBody>
      </p:sp>
      <p:sp>
        <p:nvSpPr>
          <p:cNvPr id="144" name="Shape 142"/>
          <p:cNvSpPr/>
          <p:nvPr/>
        </p:nvSpPr>
        <p:spPr>
          <a:xfrm>
            <a:off x="5303520" y="2139696"/>
            <a:ext cx="1298448" cy="265176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5358384" y="2139696"/>
            <a:ext cx="12252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Marketing</a:t>
            </a:r>
            <a:endParaRPr lang="en-US" sz="900" dirty="0"/>
          </a:p>
        </p:txBody>
      </p:sp>
      <p:sp>
        <p:nvSpPr>
          <p:cNvPr id="146" name="Shape 144"/>
          <p:cNvSpPr/>
          <p:nvPr/>
        </p:nvSpPr>
        <p:spPr>
          <a:xfrm>
            <a:off x="6601968" y="2139696"/>
            <a:ext cx="502920" cy="265176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6656832" y="2139696"/>
            <a:ext cx="4297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8</a:t>
            </a:r>
            <a:endParaRPr lang="en-US" sz="900" dirty="0"/>
          </a:p>
        </p:txBody>
      </p:sp>
      <p:sp>
        <p:nvSpPr>
          <p:cNvPr id="148" name="Shape 146"/>
          <p:cNvSpPr/>
          <p:nvPr/>
        </p:nvSpPr>
        <p:spPr>
          <a:xfrm>
            <a:off x="7104888" y="2139696"/>
            <a:ext cx="502920" cy="265176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7159752" y="2139696"/>
            <a:ext cx="4297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9</a:t>
            </a:r>
            <a:endParaRPr lang="en-US" sz="900" dirty="0"/>
          </a:p>
        </p:txBody>
      </p:sp>
      <p:sp>
        <p:nvSpPr>
          <p:cNvPr id="150" name="Shape 148"/>
          <p:cNvSpPr/>
          <p:nvPr/>
        </p:nvSpPr>
        <p:spPr>
          <a:xfrm>
            <a:off x="7607808" y="2139696"/>
            <a:ext cx="502920" cy="265176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7662672" y="2139696"/>
            <a:ext cx="4297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1</a:t>
            </a:r>
            <a:endParaRPr lang="en-US" sz="900" dirty="0"/>
          </a:p>
        </p:txBody>
      </p:sp>
      <p:sp>
        <p:nvSpPr>
          <p:cNvPr id="152" name="Shape 150"/>
          <p:cNvSpPr/>
          <p:nvPr/>
        </p:nvSpPr>
        <p:spPr>
          <a:xfrm>
            <a:off x="8110728" y="2139696"/>
            <a:ext cx="804672" cy="265176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8165592" y="2139696"/>
            <a:ext cx="731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10</a:t>
            </a:r>
            <a:endParaRPr lang="en-US" sz="900" dirty="0"/>
          </a:p>
        </p:txBody>
      </p:sp>
      <p:sp>
        <p:nvSpPr>
          <p:cNvPr id="154" name="Shape 152"/>
          <p:cNvSpPr/>
          <p:nvPr/>
        </p:nvSpPr>
        <p:spPr>
          <a:xfrm>
            <a:off x="5303520" y="2404872"/>
            <a:ext cx="1298448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5358384" y="2404872"/>
            <a:ext cx="12252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G&amp;A</a:t>
            </a:r>
            <a:endParaRPr lang="en-US" sz="900" dirty="0"/>
          </a:p>
        </p:txBody>
      </p:sp>
      <p:sp>
        <p:nvSpPr>
          <p:cNvPr id="156" name="Shape 154"/>
          <p:cNvSpPr/>
          <p:nvPr/>
        </p:nvSpPr>
        <p:spPr>
          <a:xfrm>
            <a:off x="6601968" y="2404872"/>
            <a:ext cx="50292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6656832" y="2404872"/>
            <a:ext cx="4297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10</a:t>
            </a:r>
            <a:endParaRPr lang="en-US" sz="900" dirty="0"/>
          </a:p>
        </p:txBody>
      </p:sp>
      <p:sp>
        <p:nvSpPr>
          <p:cNvPr id="158" name="Shape 156"/>
          <p:cNvSpPr/>
          <p:nvPr/>
        </p:nvSpPr>
        <p:spPr>
          <a:xfrm>
            <a:off x="7104888" y="2404872"/>
            <a:ext cx="50292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7159752" y="2404872"/>
            <a:ext cx="4297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12</a:t>
            </a:r>
            <a:endParaRPr lang="en-US" sz="900" dirty="0"/>
          </a:p>
        </p:txBody>
      </p:sp>
      <p:sp>
        <p:nvSpPr>
          <p:cNvPr id="160" name="Shape 158"/>
          <p:cNvSpPr/>
          <p:nvPr/>
        </p:nvSpPr>
        <p:spPr>
          <a:xfrm>
            <a:off x="7607808" y="2404872"/>
            <a:ext cx="50292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7662672" y="2404872"/>
            <a:ext cx="4297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1</a:t>
            </a:r>
            <a:endParaRPr lang="en-US" sz="900" dirty="0"/>
          </a:p>
        </p:txBody>
      </p:sp>
      <p:sp>
        <p:nvSpPr>
          <p:cNvPr id="162" name="Shape 160"/>
          <p:cNvSpPr/>
          <p:nvPr/>
        </p:nvSpPr>
        <p:spPr>
          <a:xfrm>
            <a:off x="8110728" y="2404872"/>
            <a:ext cx="804672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8165592" y="2404872"/>
            <a:ext cx="731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13</a:t>
            </a:r>
            <a:endParaRPr lang="en-US" sz="900" dirty="0"/>
          </a:p>
        </p:txBody>
      </p:sp>
      <p:sp>
        <p:nvSpPr>
          <p:cNvPr id="164" name="Shape 162"/>
          <p:cNvSpPr/>
          <p:nvPr/>
        </p:nvSpPr>
        <p:spPr>
          <a:xfrm>
            <a:off x="5303520" y="2670048"/>
            <a:ext cx="1298448" cy="265176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5358384" y="2670048"/>
            <a:ext cx="12252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TOTAL</a:t>
            </a:r>
            <a:endParaRPr lang="en-US" sz="900" dirty="0"/>
          </a:p>
        </p:txBody>
      </p:sp>
      <p:sp>
        <p:nvSpPr>
          <p:cNvPr id="166" name="Shape 164"/>
          <p:cNvSpPr/>
          <p:nvPr/>
        </p:nvSpPr>
        <p:spPr>
          <a:xfrm>
            <a:off x="6601968" y="2670048"/>
            <a:ext cx="502920" cy="265176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6656832" y="2670048"/>
            <a:ext cx="4297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98</a:t>
            </a:r>
            <a:endParaRPr lang="en-US" sz="900" dirty="0"/>
          </a:p>
        </p:txBody>
      </p:sp>
      <p:sp>
        <p:nvSpPr>
          <p:cNvPr id="168" name="Shape 166"/>
          <p:cNvSpPr/>
          <p:nvPr/>
        </p:nvSpPr>
        <p:spPr>
          <a:xfrm>
            <a:off x="7104888" y="2670048"/>
            <a:ext cx="502920" cy="265176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7159752" y="2670048"/>
            <a:ext cx="4297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112</a:t>
            </a:r>
            <a:endParaRPr lang="en-US" sz="900" dirty="0"/>
          </a:p>
        </p:txBody>
      </p:sp>
      <p:sp>
        <p:nvSpPr>
          <p:cNvPr id="170" name="Shape 168"/>
          <p:cNvSpPr/>
          <p:nvPr/>
        </p:nvSpPr>
        <p:spPr>
          <a:xfrm>
            <a:off x="7607808" y="2670048"/>
            <a:ext cx="502920" cy="265176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7662672" y="2670048"/>
            <a:ext cx="42976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12</a:t>
            </a:r>
            <a:endParaRPr lang="en-US" sz="900" dirty="0"/>
          </a:p>
        </p:txBody>
      </p:sp>
      <p:sp>
        <p:nvSpPr>
          <p:cNvPr id="172" name="Shape 170"/>
          <p:cNvSpPr/>
          <p:nvPr/>
        </p:nvSpPr>
        <p:spPr>
          <a:xfrm>
            <a:off x="8110728" y="2670048"/>
            <a:ext cx="804672" cy="265176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8165592" y="2670048"/>
            <a:ext cx="731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124</a:t>
            </a:r>
            <a:endParaRPr lang="en-US" sz="900" dirty="0"/>
          </a:p>
        </p:txBody>
      </p:sp>
      <p:graphicFrame>
        <p:nvGraphicFramePr>
          <p:cNvPr id="174" name="Chart 0" descr=""/>
          <p:cNvGraphicFramePr/>
          <p:nvPr/>
        </p:nvGraphicFramePr>
        <p:xfrm>
          <a:off x="5303520" y="2980944"/>
          <a:ext cx="3703320" cy="168249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5" name="Shape 172"/>
          <p:cNvSpPr/>
          <p:nvPr/>
        </p:nvSpPr>
        <p:spPr>
          <a:xfrm>
            <a:off x="137160" y="3721608"/>
            <a:ext cx="5029200" cy="201168"/>
          </a:xfrm>
          <a:prstGeom prst="rect">
            <a:avLst/>
          </a:prstGeom>
          <a:solidFill>
            <a:srgbClr val="2E7FD9"/>
          </a:solidFill>
          <a:ln w="12700">
            <a:solidFill>
              <a:srgbClr val="2E7FD9"/>
            </a:solidFill>
            <a:prstDash val="solid"/>
          </a:ln>
        </p:spPr>
      </p:sp>
      <p:sp>
        <p:nvSpPr>
          <p:cNvPr id="176" name="Text 173"/>
          <p:cNvSpPr/>
          <p:nvPr/>
        </p:nvSpPr>
        <p:spPr>
          <a:xfrm>
            <a:off x="210312" y="372160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KEY HIRES — Q3 2026</a:t>
            </a:r>
            <a:endParaRPr lang="en-US" sz="800" dirty="0"/>
          </a:p>
        </p:txBody>
      </p:sp>
      <p:sp>
        <p:nvSpPr>
          <p:cNvPr id="177" name="Shape 174"/>
          <p:cNvSpPr/>
          <p:nvPr/>
        </p:nvSpPr>
        <p:spPr>
          <a:xfrm>
            <a:off x="137160" y="3941064"/>
            <a:ext cx="1554480" cy="265176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8" name="Text 175"/>
          <p:cNvSpPr/>
          <p:nvPr/>
        </p:nvSpPr>
        <p:spPr>
          <a:xfrm>
            <a:off x="192024" y="3941064"/>
            <a:ext cx="1481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Role</a:t>
            </a:r>
            <a:endParaRPr lang="en-US" sz="900" dirty="0"/>
          </a:p>
        </p:txBody>
      </p:sp>
      <p:sp>
        <p:nvSpPr>
          <p:cNvPr id="179" name="Shape 176"/>
          <p:cNvSpPr/>
          <p:nvPr/>
        </p:nvSpPr>
        <p:spPr>
          <a:xfrm>
            <a:off x="1691640" y="3941064"/>
            <a:ext cx="2029968" cy="265176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0" name="Text 177"/>
          <p:cNvSpPr/>
          <p:nvPr/>
        </p:nvSpPr>
        <p:spPr>
          <a:xfrm>
            <a:off x="1746504" y="3941064"/>
            <a:ext cx="19568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Background</a:t>
            </a:r>
            <a:endParaRPr lang="en-US" sz="900" dirty="0"/>
          </a:p>
        </p:txBody>
      </p:sp>
      <p:sp>
        <p:nvSpPr>
          <p:cNvPr id="181" name="Shape 178"/>
          <p:cNvSpPr/>
          <p:nvPr/>
        </p:nvSpPr>
        <p:spPr>
          <a:xfrm>
            <a:off x="3721608" y="3941064"/>
            <a:ext cx="1490472" cy="265176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2" name="Text 179"/>
          <p:cNvSpPr/>
          <p:nvPr/>
        </p:nvSpPr>
        <p:spPr>
          <a:xfrm>
            <a:off x="3776472" y="3941064"/>
            <a:ext cx="1417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Focus</a:t>
            </a:r>
            <a:endParaRPr lang="en-US" sz="900" dirty="0"/>
          </a:p>
        </p:txBody>
      </p:sp>
      <p:sp>
        <p:nvSpPr>
          <p:cNvPr id="183" name="Shape 180"/>
          <p:cNvSpPr/>
          <p:nvPr/>
        </p:nvSpPr>
        <p:spPr>
          <a:xfrm>
            <a:off x="137160" y="4206240"/>
            <a:ext cx="1554480" cy="265176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4" name="Text 181"/>
          <p:cNvSpPr/>
          <p:nvPr/>
        </p:nvSpPr>
        <p:spPr>
          <a:xfrm>
            <a:off x="192024" y="4206240"/>
            <a:ext cx="1481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VP Customer Success (9/1)</a:t>
            </a:r>
            <a:endParaRPr lang="en-US" sz="900" dirty="0"/>
          </a:p>
        </p:txBody>
      </p:sp>
      <p:sp>
        <p:nvSpPr>
          <p:cNvPr id="185" name="Shape 182"/>
          <p:cNvSpPr/>
          <p:nvPr/>
        </p:nvSpPr>
        <p:spPr>
          <a:xfrm>
            <a:off x="1691640" y="4206240"/>
            <a:ext cx="2029968" cy="265176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6" name="Text 183"/>
          <p:cNvSpPr/>
          <p:nvPr/>
        </p:nvSpPr>
        <p:spPr>
          <a:xfrm>
            <a:off x="1746504" y="4206240"/>
            <a:ext cx="19568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Previously at Datadog — built CS org from 20→80</a:t>
            </a:r>
            <a:endParaRPr lang="en-US" sz="900" dirty="0"/>
          </a:p>
        </p:txBody>
      </p:sp>
      <p:sp>
        <p:nvSpPr>
          <p:cNvPr id="187" name="Shape 184"/>
          <p:cNvSpPr/>
          <p:nvPr/>
        </p:nvSpPr>
        <p:spPr>
          <a:xfrm>
            <a:off x="3721608" y="4206240"/>
            <a:ext cx="1490472" cy="265176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8" name="Text 185"/>
          <p:cNvSpPr/>
          <p:nvPr/>
        </p:nvSpPr>
        <p:spPr>
          <a:xfrm>
            <a:off x="3776472" y="4206240"/>
            <a:ext cx="1417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Own churn reduction; build SMB onboarding motion</a:t>
            </a:r>
            <a:endParaRPr lang="en-US" sz="900" dirty="0"/>
          </a:p>
        </p:txBody>
      </p:sp>
      <p:sp>
        <p:nvSpPr>
          <p:cNvPr id="189" name="Shape 186"/>
          <p:cNvSpPr/>
          <p:nvPr/>
        </p:nvSpPr>
        <p:spPr>
          <a:xfrm>
            <a:off x="137160" y="4471416"/>
            <a:ext cx="155448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0" name="Text 187"/>
          <p:cNvSpPr/>
          <p:nvPr/>
        </p:nvSpPr>
        <p:spPr>
          <a:xfrm>
            <a:off x="192024" y="4471416"/>
            <a:ext cx="1481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Head of Partnerships (8/15)</a:t>
            </a:r>
            <a:endParaRPr lang="en-US" sz="900" dirty="0"/>
          </a:p>
        </p:txBody>
      </p:sp>
      <p:sp>
        <p:nvSpPr>
          <p:cNvPr id="191" name="Shape 188"/>
          <p:cNvSpPr/>
          <p:nvPr/>
        </p:nvSpPr>
        <p:spPr>
          <a:xfrm>
            <a:off x="1691640" y="4471416"/>
            <a:ext cx="2029968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2" name="Text 189"/>
          <p:cNvSpPr/>
          <p:nvPr/>
        </p:nvSpPr>
        <p:spPr>
          <a:xfrm>
            <a:off x="1746504" y="4471416"/>
            <a:ext cx="19568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Previously at Siemens — owns SAP + Siemens channel</a:t>
            </a:r>
            <a:endParaRPr lang="en-US" sz="900" dirty="0"/>
          </a:p>
        </p:txBody>
      </p:sp>
      <p:sp>
        <p:nvSpPr>
          <p:cNvPr id="193" name="Shape 190"/>
          <p:cNvSpPr/>
          <p:nvPr/>
        </p:nvSpPr>
        <p:spPr>
          <a:xfrm>
            <a:off x="3721608" y="4471416"/>
            <a:ext cx="1490472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4" name="Text 191"/>
          <p:cNvSpPr/>
          <p:nvPr/>
        </p:nvSpPr>
        <p:spPr>
          <a:xfrm>
            <a:off x="3776472" y="4471416"/>
            <a:ext cx="1417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7FD9"/>
                </a:solidFill>
              </a:rPr>
              <a:t>Accelerate partner pipeline ($1.5M → $5M target)</a:t>
            </a:r>
            <a:endParaRPr lang="en-US" sz="900" dirty="0"/>
          </a:p>
        </p:txBody>
      </p:sp>
      <p:sp>
        <p:nvSpPr>
          <p:cNvPr id="195" name="Shape 192"/>
          <p:cNvSpPr/>
          <p:nvPr/>
        </p:nvSpPr>
        <p:spPr>
          <a:xfrm>
            <a:off x="137160" y="4736592"/>
            <a:ext cx="1554480" cy="265176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6" name="Text 193"/>
          <p:cNvSpPr/>
          <p:nvPr/>
        </p:nvSpPr>
        <p:spPr>
          <a:xfrm>
            <a:off x="192024" y="4736592"/>
            <a:ext cx="14813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2 Senior ML Engineers</a:t>
            </a:r>
            <a:endParaRPr lang="en-US" sz="900" dirty="0"/>
          </a:p>
        </p:txBody>
      </p:sp>
      <p:sp>
        <p:nvSpPr>
          <p:cNvPr id="197" name="Shape 194"/>
          <p:cNvSpPr/>
          <p:nvPr/>
        </p:nvSpPr>
        <p:spPr>
          <a:xfrm>
            <a:off x="1691640" y="4736592"/>
            <a:ext cx="2029968" cy="265176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8" name="Text 195"/>
          <p:cNvSpPr/>
          <p:nvPr/>
        </p:nvSpPr>
        <p:spPr>
          <a:xfrm>
            <a:off x="1746504" y="4736592"/>
            <a:ext cx="19568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PhD hires from Georgia Tech</a:t>
            </a:r>
            <a:endParaRPr lang="en-US" sz="900" dirty="0"/>
          </a:p>
        </p:txBody>
      </p:sp>
      <p:sp>
        <p:nvSpPr>
          <p:cNvPr id="199" name="Shape 196"/>
          <p:cNvSpPr/>
          <p:nvPr/>
        </p:nvSpPr>
        <p:spPr>
          <a:xfrm>
            <a:off x="3721608" y="4736592"/>
            <a:ext cx="1490472" cy="265176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0" name="Text 197"/>
          <p:cNvSpPr/>
          <p:nvPr/>
        </p:nvSpPr>
        <p:spPr>
          <a:xfrm>
            <a:off x="3776472" y="4736592"/>
            <a:ext cx="1417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Predictive Maintenance v3; model accuracy roadmap</a:t>
            </a:r>
            <a:endParaRPr lang="en-US" sz="900" dirty="0"/>
          </a:p>
        </p:txBody>
      </p:sp>
      <p:sp>
        <p:nvSpPr>
          <p:cNvPr id="201" name="Text 198"/>
          <p:cNvSpPr/>
          <p:nvPr/>
        </p:nvSpPr>
        <p:spPr>
          <a:xfrm>
            <a:off x="137160" y="464058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97706"/>
                </a:solidFill>
              </a:rPr>
              <a:t>⚠  Q3 Attrition: 6 departures (5.4% quarterly) — 3 engineering to FAANG. Comp bands adjusted +12% for senior engineers.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75488"/>
            <a:ext cx="9144000" cy="27432"/>
          </a:xfrm>
          <a:prstGeom prst="rect">
            <a:avLst/>
          </a:prstGeom>
          <a:solidFill>
            <a:srgbClr val="2E7FD9"/>
          </a:solidFill>
          <a:ln w="12700">
            <a:solidFill>
              <a:srgbClr val="2E7F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SLIDE 5  ·  Financial Outlook &amp; Competitive Landscape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0" y="0"/>
            <a:ext cx="8869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A7C7"/>
                </a:solidFill>
              </a:rPr>
              <a:t>FY2026E / Cash Position / Market Dynamics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874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2A0"/>
                </a:solidFill>
              </a:rPr>
              <a:t>NovaCrest  |  Q3 2026 Board Review  |  CONFIDENTIAL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0" y="4887468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82A0"/>
                </a:solidFill>
              </a:rPr>
              <a:t>March 31, 2026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37160" y="594360"/>
            <a:ext cx="5303520" cy="201168"/>
          </a:xfrm>
          <a:prstGeom prst="rect">
            <a:avLst/>
          </a:prstGeom>
          <a:solidFill>
            <a:srgbClr val="2E7FD9"/>
          </a:solidFill>
          <a:ln w="12700">
            <a:solidFill>
              <a:srgbClr val="2E7F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" y="594360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P&amp;L SUMMARY  ($K)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37160" y="813816"/>
            <a:ext cx="1261872" cy="254203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2024" y="813816"/>
            <a:ext cx="1188720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Line Item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399032" y="813816"/>
            <a:ext cx="749808" cy="254203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53896" y="813816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Q1 2026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148840" y="813816"/>
            <a:ext cx="749808" cy="254203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03704" y="813816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Q2 2026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898648" y="813816"/>
            <a:ext cx="749808" cy="254203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53512" y="813816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Q3 2026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48456" y="813816"/>
            <a:ext cx="658368" cy="254203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03320" y="813816"/>
            <a:ext cx="58521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Q3 YoY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306824" y="813816"/>
            <a:ext cx="749808" cy="254203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61688" y="813816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FY2026E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37160" y="1068019"/>
            <a:ext cx="1261872" cy="254203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2024" y="1068019"/>
            <a:ext cx="1188720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Revenue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399032" y="1068019"/>
            <a:ext cx="749808" cy="254203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53896" y="1068019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$3,400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148840" y="1068019"/>
            <a:ext cx="749808" cy="254203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03704" y="1068019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$3,700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898648" y="1068019"/>
            <a:ext cx="749808" cy="254203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53512" y="1068019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$4,100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48456" y="1068019"/>
            <a:ext cx="658368" cy="254203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03320" y="1068019"/>
            <a:ext cx="58521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+64%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306824" y="1068019"/>
            <a:ext cx="749808" cy="254203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61688" y="1068019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$15,400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37160" y="1322222"/>
            <a:ext cx="1261872" cy="25420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2024" y="1322222"/>
            <a:ext cx="1188720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COGS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399032" y="1322222"/>
            <a:ext cx="749808" cy="25420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453896" y="1322222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($740)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148840" y="1322222"/>
            <a:ext cx="749808" cy="25420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03704" y="1322222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($830)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898648" y="1322222"/>
            <a:ext cx="749808" cy="25420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953512" y="1322222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($890)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648456" y="1322222"/>
            <a:ext cx="658368" cy="25420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703320" y="1322222"/>
            <a:ext cx="58521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+52%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306824" y="1322222"/>
            <a:ext cx="749808" cy="25420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61688" y="1322222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($3,340)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37160" y="1576426"/>
            <a:ext cx="1261872" cy="254203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92024" y="1576426"/>
            <a:ext cx="1188720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Gross Profit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399032" y="1576426"/>
            <a:ext cx="749808" cy="254203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453896" y="1576426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$2,660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148840" y="1576426"/>
            <a:ext cx="749808" cy="254203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203704" y="1576426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$2,870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898648" y="1576426"/>
            <a:ext cx="749808" cy="254203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953512" y="1576426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$3,210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648456" y="1576426"/>
            <a:ext cx="658368" cy="254203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703320" y="1576426"/>
            <a:ext cx="58521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+68%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306824" y="1576426"/>
            <a:ext cx="749808" cy="254203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361688" y="1576426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$12,060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137160" y="1830629"/>
            <a:ext cx="1261872" cy="25420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92024" y="1830629"/>
            <a:ext cx="1188720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Gross Margin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1399032" y="1830629"/>
            <a:ext cx="749808" cy="25420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453896" y="1830629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78.2%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2148840" y="1830629"/>
            <a:ext cx="749808" cy="25420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203704" y="1830629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77.6%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2898648" y="1830629"/>
            <a:ext cx="749808" cy="25420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953512" y="1830629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78.3%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3648456" y="1830629"/>
            <a:ext cx="658368" cy="25420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703320" y="1830629"/>
            <a:ext cx="58521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+2.1pp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306824" y="1830629"/>
            <a:ext cx="749808" cy="25420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361688" y="1830629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78.3%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137160" y="2084832"/>
            <a:ext cx="1261872" cy="254203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92024" y="2084832"/>
            <a:ext cx="1188720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S&amp;M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1399032" y="2084832"/>
            <a:ext cx="749808" cy="254203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453896" y="2084832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($1,420)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2148840" y="2084832"/>
            <a:ext cx="749808" cy="254203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203704" y="2084832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($1,580)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2898648" y="2084832"/>
            <a:ext cx="749808" cy="254203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953512" y="2084832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($1,720)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3648456" y="2084832"/>
            <a:ext cx="658368" cy="254203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703320" y="2084832"/>
            <a:ext cx="58521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+48%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4306824" y="2084832"/>
            <a:ext cx="749808" cy="254203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361688" y="2084832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($6,480)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137160" y="2339035"/>
            <a:ext cx="1261872" cy="25420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92024" y="2339035"/>
            <a:ext cx="1188720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R&amp;D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1399032" y="2339035"/>
            <a:ext cx="749808" cy="25420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453896" y="2339035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($1,340)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2148840" y="2339035"/>
            <a:ext cx="749808" cy="25420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203704" y="2339035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($1,480)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2898648" y="2339035"/>
            <a:ext cx="749808" cy="25420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2953512" y="2339035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($1,620)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3648456" y="2339035"/>
            <a:ext cx="658368" cy="25420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703320" y="2339035"/>
            <a:ext cx="58521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+55%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4306824" y="2339035"/>
            <a:ext cx="749808" cy="25420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361688" y="2339035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($6,040)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137160" y="2593238"/>
            <a:ext cx="1261872" cy="254203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92024" y="2593238"/>
            <a:ext cx="1188720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G&amp;A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1399032" y="2593238"/>
            <a:ext cx="749808" cy="254203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453896" y="2593238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($480)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2148840" y="2593238"/>
            <a:ext cx="749808" cy="254203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2203704" y="2593238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($510)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2898648" y="2593238"/>
            <a:ext cx="749808" cy="254203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2953512" y="2593238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($540)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3648456" y="2593238"/>
            <a:ext cx="658368" cy="254203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703320" y="2593238"/>
            <a:ext cx="58521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+38%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4306824" y="2593238"/>
            <a:ext cx="749808" cy="254203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361688" y="2593238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($2,060)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137160" y="2847442"/>
            <a:ext cx="1261872" cy="25420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192024" y="2847442"/>
            <a:ext cx="1188720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Total OpEx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1399032" y="2847442"/>
            <a:ext cx="749808" cy="25420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1453896" y="2847442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($3,240)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2148840" y="2847442"/>
            <a:ext cx="749808" cy="25420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2203704" y="2847442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($3,570)</a:t>
            </a:r>
            <a:endParaRPr lang="en-US" sz="900" dirty="0"/>
          </a:p>
        </p:txBody>
      </p:sp>
      <p:sp>
        <p:nvSpPr>
          <p:cNvPr id="114" name="Shape 112"/>
          <p:cNvSpPr/>
          <p:nvPr/>
        </p:nvSpPr>
        <p:spPr>
          <a:xfrm>
            <a:off x="2898648" y="2847442"/>
            <a:ext cx="749808" cy="25420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2953512" y="2847442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($3,880)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3648456" y="2847442"/>
            <a:ext cx="658368" cy="25420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3703320" y="2847442"/>
            <a:ext cx="58521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+50%</a:t>
            </a:r>
            <a:endParaRPr lang="en-US" sz="900" dirty="0"/>
          </a:p>
        </p:txBody>
      </p:sp>
      <p:sp>
        <p:nvSpPr>
          <p:cNvPr id="118" name="Shape 116"/>
          <p:cNvSpPr/>
          <p:nvPr/>
        </p:nvSpPr>
        <p:spPr>
          <a:xfrm>
            <a:off x="4306824" y="2847442"/>
            <a:ext cx="749808" cy="25420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4361688" y="2847442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($14,580)</a:t>
            </a:r>
            <a:endParaRPr lang="en-US" sz="900" dirty="0"/>
          </a:p>
        </p:txBody>
      </p:sp>
      <p:sp>
        <p:nvSpPr>
          <p:cNvPr id="120" name="Shape 118"/>
          <p:cNvSpPr/>
          <p:nvPr/>
        </p:nvSpPr>
        <p:spPr>
          <a:xfrm>
            <a:off x="137160" y="3101645"/>
            <a:ext cx="1261872" cy="254203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192024" y="3101645"/>
            <a:ext cx="1188720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Net Income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1399032" y="3101645"/>
            <a:ext cx="749808" cy="254203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1453896" y="3101645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($580)</a:t>
            </a:r>
            <a:endParaRPr lang="en-US" sz="900" dirty="0"/>
          </a:p>
        </p:txBody>
      </p:sp>
      <p:sp>
        <p:nvSpPr>
          <p:cNvPr id="124" name="Shape 122"/>
          <p:cNvSpPr/>
          <p:nvPr/>
        </p:nvSpPr>
        <p:spPr>
          <a:xfrm>
            <a:off x="2148840" y="3101645"/>
            <a:ext cx="749808" cy="254203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2203704" y="3101645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($700)</a:t>
            </a:r>
            <a:endParaRPr lang="en-US" sz="900" dirty="0"/>
          </a:p>
        </p:txBody>
      </p:sp>
      <p:sp>
        <p:nvSpPr>
          <p:cNvPr id="126" name="Shape 124"/>
          <p:cNvSpPr/>
          <p:nvPr/>
        </p:nvSpPr>
        <p:spPr>
          <a:xfrm>
            <a:off x="2898648" y="3101645"/>
            <a:ext cx="749808" cy="254203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2953512" y="3101645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7706"/>
                </a:solidFill>
              </a:rPr>
              <a:t>($670)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3648456" y="3101645"/>
            <a:ext cx="658368" cy="254203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3703320" y="3101645"/>
            <a:ext cx="58521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Improving</a:t>
            </a:r>
            <a:endParaRPr lang="en-US" sz="900" dirty="0"/>
          </a:p>
        </p:txBody>
      </p:sp>
      <p:sp>
        <p:nvSpPr>
          <p:cNvPr id="130" name="Shape 128"/>
          <p:cNvSpPr/>
          <p:nvPr/>
        </p:nvSpPr>
        <p:spPr>
          <a:xfrm>
            <a:off x="4306824" y="3101645"/>
            <a:ext cx="749808" cy="254203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4361688" y="3101645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7706"/>
                </a:solidFill>
              </a:rPr>
              <a:t>($2,520)</a:t>
            </a:r>
            <a:endParaRPr lang="en-US" sz="900" dirty="0"/>
          </a:p>
        </p:txBody>
      </p:sp>
      <p:sp>
        <p:nvSpPr>
          <p:cNvPr id="132" name="Shape 130"/>
          <p:cNvSpPr/>
          <p:nvPr/>
        </p:nvSpPr>
        <p:spPr>
          <a:xfrm>
            <a:off x="137160" y="3355848"/>
            <a:ext cx="1261872" cy="25420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192024" y="3355848"/>
            <a:ext cx="1188720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Monthly Burn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1399032" y="3355848"/>
            <a:ext cx="749808" cy="25420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1453896" y="3355848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$193K</a:t>
            </a:r>
            <a:endParaRPr lang="en-US" sz="900" dirty="0"/>
          </a:p>
        </p:txBody>
      </p:sp>
      <p:sp>
        <p:nvSpPr>
          <p:cNvPr id="136" name="Shape 134"/>
          <p:cNvSpPr/>
          <p:nvPr/>
        </p:nvSpPr>
        <p:spPr>
          <a:xfrm>
            <a:off x="2148840" y="3355848"/>
            <a:ext cx="749808" cy="25420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2203704" y="3355848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$233K</a:t>
            </a:r>
            <a:endParaRPr lang="en-US" sz="900" dirty="0"/>
          </a:p>
        </p:txBody>
      </p:sp>
      <p:sp>
        <p:nvSpPr>
          <p:cNvPr id="138" name="Shape 136"/>
          <p:cNvSpPr/>
          <p:nvPr/>
        </p:nvSpPr>
        <p:spPr>
          <a:xfrm>
            <a:off x="2898648" y="3355848"/>
            <a:ext cx="749808" cy="25420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2953512" y="3355848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$223K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3648456" y="3355848"/>
            <a:ext cx="658368" cy="25420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3703320" y="3355848"/>
            <a:ext cx="58521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—</a:t>
            </a:r>
            <a:endParaRPr lang="en-US" sz="900" dirty="0"/>
          </a:p>
        </p:txBody>
      </p:sp>
      <p:sp>
        <p:nvSpPr>
          <p:cNvPr id="142" name="Shape 140"/>
          <p:cNvSpPr/>
          <p:nvPr/>
        </p:nvSpPr>
        <p:spPr>
          <a:xfrm>
            <a:off x="4306824" y="3355848"/>
            <a:ext cx="749808" cy="25420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4361688" y="3355848"/>
            <a:ext cx="67665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—</a:t>
            </a:r>
            <a:endParaRPr lang="en-US" sz="900" dirty="0"/>
          </a:p>
        </p:txBody>
      </p:sp>
      <p:sp>
        <p:nvSpPr>
          <p:cNvPr id="144" name="Shape 142"/>
          <p:cNvSpPr/>
          <p:nvPr/>
        </p:nvSpPr>
        <p:spPr>
          <a:xfrm>
            <a:off x="137160" y="3657600"/>
            <a:ext cx="5303520" cy="201168"/>
          </a:xfrm>
          <a:prstGeom prst="rect">
            <a:avLst/>
          </a:prstGeom>
          <a:solidFill>
            <a:srgbClr val="2E7FD9"/>
          </a:solidFill>
          <a:ln w="12700">
            <a:solidFill>
              <a:srgbClr val="2E7FD9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210312" y="3657600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CASH POSITION &amp; EFFICIENCY</a:t>
            </a:r>
            <a:endParaRPr lang="en-US" sz="800" dirty="0"/>
          </a:p>
        </p:txBody>
      </p:sp>
      <p:sp>
        <p:nvSpPr>
          <p:cNvPr id="146" name="Shape 144"/>
          <p:cNvSpPr/>
          <p:nvPr/>
        </p:nvSpPr>
        <p:spPr>
          <a:xfrm>
            <a:off x="137160" y="3877056"/>
            <a:ext cx="1252728" cy="713232"/>
          </a:xfrm>
          <a:prstGeom prst="rect">
            <a:avLst/>
          </a:prstGeom>
          <a:solidFill>
            <a:srgbClr val="F4F6FA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137160" y="3877056"/>
            <a:ext cx="6400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265176" y="3950208"/>
            <a:ext cx="1088136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9488"/>
                </a:solidFill>
              </a:rPr>
              <a:t>$18.2M</a:t>
            </a:r>
            <a:endParaRPr lang="en-US" sz="2100" dirty="0"/>
          </a:p>
        </p:txBody>
      </p:sp>
      <p:sp>
        <p:nvSpPr>
          <p:cNvPr id="149" name="Text 147"/>
          <p:cNvSpPr/>
          <p:nvPr/>
        </p:nvSpPr>
        <p:spPr>
          <a:xfrm>
            <a:off x="265176" y="4247937"/>
            <a:ext cx="1088136" cy="185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</a:rPr>
              <a:t>Cash on Hand</a:t>
            </a:r>
            <a:endParaRPr lang="en-US" sz="850" dirty="0"/>
          </a:p>
        </p:txBody>
      </p:sp>
      <p:sp>
        <p:nvSpPr>
          <p:cNvPr id="150" name="Text 148"/>
          <p:cNvSpPr/>
          <p:nvPr/>
        </p:nvSpPr>
        <p:spPr>
          <a:xfrm>
            <a:off x="265176" y="4404848"/>
            <a:ext cx="1088136" cy="156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Series B $32M (Mar 2025)</a:t>
            </a:r>
            <a:endParaRPr lang="en-US" sz="900" dirty="0"/>
          </a:p>
        </p:txBody>
      </p:sp>
      <p:sp>
        <p:nvSpPr>
          <p:cNvPr id="151" name="Shape 149"/>
          <p:cNvSpPr/>
          <p:nvPr/>
        </p:nvSpPr>
        <p:spPr>
          <a:xfrm>
            <a:off x="1463040" y="3877056"/>
            <a:ext cx="1252728" cy="713232"/>
          </a:xfrm>
          <a:prstGeom prst="rect">
            <a:avLst/>
          </a:prstGeom>
          <a:solidFill>
            <a:srgbClr val="F4F6FA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1463040" y="3877056"/>
            <a:ext cx="64008" cy="713232"/>
          </a:xfrm>
          <a:prstGeom prst="rect">
            <a:avLst/>
          </a:prstGeom>
          <a:solidFill>
            <a:srgbClr val="2E7FD9"/>
          </a:solidFill>
          <a:ln w="12700">
            <a:solidFill>
              <a:srgbClr val="2E7FD9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1591056" y="3950208"/>
            <a:ext cx="1088136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E7FD9"/>
                </a:solidFill>
              </a:rPr>
              <a:t>$223K</a:t>
            </a:r>
            <a:endParaRPr lang="en-US" sz="2100" dirty="0"/>
          </a:p>
        </p:txBody>
      </p:sp>
      <p:sp>
        <p:nvSpPr>
          <p:cNvPr id="154" name="Text 152"/>
          <p:cNvSpPr/>
          <p:nvPr/>
        </p:nvSpPr>
        <p:spPr>
          <a:xfrm>
            <a:off x="1591056" y="4247937"/>
            <a:ext cx="1088136" cy="185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</a:rPr>
              <a:t>Monthly Burn</a:t>
            </a:r>
            <a:endParaRPr lang="en-US" sz="850" dirty="0"/>
          </a:p>
        </p:txBody>
      </p:sp>
      <p:sp>
        <p:nvSpPr>
          <p:cNvPr id="155" name="Text 153"/>
          <p:cNvSpPr/>
          <p:nvPr/>
        </p:nvSpPr>
        <p:spPr>
          <a:xfrm>
            <a:off x="1591056" y="4404848"/>
            <a:ext cx="1088136" cy="156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Q3 avg — declining QoQ</a:t>
            </a:r>
            <a:endParaRPr lang="en-US" sz="900" dirty="0"/>
          </a:p>
        </p:txBody>
      </p:sp>
      <p:sp>
        <p:nvSpPr>
          <p:cNvPr id="156" name="Shape 154"/>
          <p:cNvSpPr/>
          <p:nvPr/>
        </p:nvSpPr>
        <p:spPr>
          <a:xfrm>
            <a:off x="2788920" y="3877056"/>
            <a:ext cx="1252728" cy="713232"/>
          </a:xfrm>
          <a:prstGeom prst="rect">
            <a:avLst/>
          </a:prstGeom>
          <a:solidFill>
            <a:srgbClr val="F4F6FA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2788920" y="3877056"/>
            <a:ext cx="6400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2916936" y="3950208"/>
            <a:ext cx="1088136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9488"/>
                </a:solidFill>
              </a:rPr>
              <a:t>81 months</a:t>
            </a:r>
            <a:endParaRPr lang="en-US" sz="2100" dirty="0"/>
          </a:p>
        </p:txBody>
      </p:sp>
      <p:sp>
        <p:nvSpPr>
          <p:cNvPr id="159" name="Text 157"/>
          <p:cNvSpPr/>
          <p:nvPr/>
        </p:nvSpPr>
        <p:spPr>
          <a:xfrm>
            <a:off x="2916936" y="4247937"/>
            <a:ext cx="1088136" cy="185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</a:rPr>
              <a:t>Runway</a:t>
            </a:r>
            <a:endParaRPr lang="en-US" sz="850" dirty="0"/>
          </a:p>
        </p:txBody>
      </p:sp>
      <p:sp>
        <p:nvSpPr>
          <p:cNvPr id="160" name="Text 158"/>
          <p:cNvSpPr/>
          <p:nvPr/>
        </p:nvSpPr>
        <p:spPr>
          <a:xfrm>
            <a:off x="2916936" y="4404848"/>
            <a:ext cx="1088136" cy="156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Comfortable — not a near-term factor</a:t>
            </a:r>
            <a:endParaRPr lang="en-US" sz="900" dirty="0"/>
          </a:p>
        </p:txBody>
      </p:sp>
      <p:sp>
        <p:nvSpPr>
          <p:cNvPr id="161" name="Shape 159"/>
          <p:cNvSpPr/>
          <p:nvPr/>
        </p:nvSpPr>
        <p:spPr>
          <a:xfrm>
            <a:off x="4114800" y="3877056"/>
            <a:ext cx="1252728" cy="713232"/>
          </a:xfrm>
          <a:prstGeom prst="rect">
            <a:avLst/>
          </a:prstGeom>
          <a:solidFill>
            <a:srgbClr val="F4F6FA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4114800" y="3877056"/>
            <a:ext cx="6400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4242816" y="3950208"/>
            <a:ext cx="1088136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9488"/>
                </a:solidFill>
              </a:rPr>
              <a:t>0.36x</a:t>
            </a:r>
            <a:endParaRPr lang="en-US" sz="2100" dirty="0"/>
          </a:p>
        </p:txBody>
      </p:sp>
      <p:sp>
        <p:nvSpPr>
          <p:cNvPr id="164" name="Text 162"/>
          <p:cNvSpPr/>
          <p:nvPr/>
        </p:nvSpPr>
        <p:spPr>
          <a:xfrm>
            <a:off x="4242816" y="4247937"/>
            <a:ext cx="1088136" cy="185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4155"/>
                </a:solidFill>
              </a:rPr>
              <a:t>Burn Multiple</a:t>
            </a:r>
            <a:endParaRPr lang="en-US" sz="850" dirty="0"/>
          </a:p>
        </p:txBody>
      </p:sp>
      <p:sp>
        <p:nvSpPr>
          <p:cNvPr id="165" name="Text 163"/>
          <p:cNvSpPr/>
          <p:nvPr/>
        </p:nvSpPr>
        <p:spPr>
          <a:xfrm>
            <a:off x="4242816" y="4404848"/>
            <a:ext cx="1088136" cy="156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Excellent (&lt;1x = efficient)</a:t>
            </a:r>
            <a:endParaRPr lang="en-US" sz="900" dirty="0"/>
          </a:p>
        </p:txBody>
      </p:sp>
      <p:sp>
        <p:nvSpPr>
          <p:cNvPr id="166" name="Shape 164"/>
          <p:cNvSpPr/>
          <p:nvPr/>
        </p:nvSpPr>
        <p:spPr>
          <a:xfrm>
            <a:off x="5577840" y="594360"/>
            <a:ext cx="3429000" cy="201168"/>
          </a:xfrm>
          <a:prstGeom prst="rect">
            <a:avLst/>
          </a:prstGeom>
          <a:solidFill>
            <a:srgbClr val="2E7FD9"/>
          </a:solidFill>
          <a:ln w="12700">
            <a:solidFill>
              <a:srgbClr val="2E7FD9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5650992" y="59436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MONTHLY BURN &amp; REVENUE TREND  ($K)</a:t>
            </a:r>
            <a:endParaRPr lang="en-US" sz="800" dirty="0"/>
          </a:p>
        </p:txBody>
      </p:sp>
      <p:graphicFrame>
        <p:nvGraphicFramePr>
          <p:cNvPr id="168" name="Chart 0" descr=""/>
          <p:cNvGraphicFramePr/>
          <p:nvPr/>
        </p:nvGraphicFramePr>
        <p:xfrm>
          <a:off x="5577840" y="813816"/>
          <a:ext cx="3429000" cy="14447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9" name="Shape 166"/>
          <p:cNvSpPr/>
          <p:nvPr/>
        </p:nvSpPr>
        <p:spPr>
          <a:xfrm>
            <a:off x="5577840" y="2386584"/>
            <a:ext cx="3429000" cy="201168"/>
          </a:xfrm>
          <a:prstGeom prst="rect">
            <a:avLst/>
          </a:prstGeom>
          <a:solidFill>
            <a:srgbClr val="2E7FD9"/>
          </a:solidFill>
          <a:ln w="12700">
            <a:solidFill>
              <a:srgbClr val="2E7FD9"/>
            </a:solidFill>
            <a:prstDash val="solid"/>
          </a:ln>
        </p:spPr>
      </p:sp>
      <p:sp>
        <p:nvSpPr>
          <p:cNvPr id="170" name="Text 167"/>
          <p:cNvSpPr/>
          <p:nvPr/>
        </p:nvSpPr>
        <p:spPr>
          <a:xfrm>
            <a:off x="5650992" y="238658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COMPETITIVE LANDSCAPE</a:t>
            </a:r>
            <a:endParaRPr lang="en-US" sz="800" dirty="0"/>
          </a:p>
        </p:txBody>
      </p:sp>
      <p:sp>
        <p:nvSpPr>
          <p:cNvPr id="171" name="Shape 168"/>
          <p:cNvSpPr/>
          <p:nvPr/>
        </p:nvSpPr>
        <p:spPr>
          <a:xfrm>
            <a:off x="5577840" y="2606040"/>
            <a:ext cx="694944" cy="246888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2" name="Text 169"/>
          <p:cNvSpPr/>
          <p:nvPr/>
        </p:nvSpPr>
        <p:spPr>
          <a:xfrm>
            <a:off x="5632704" y="2606040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Dimension</a:t>
            </a:r>
            <a:endParaRPr lang="en-US" sz="900" dirty="0"/>
          </a:p>
        </p:txBody>
      </p:sp>
      <p:sp>
        <p:nvSpPr>
          <p:cNvPr id="173" name="Shape 170"/>
          <p:cNvSpPr/>
          <p:nvPr/>
        </p:nvSpPr>
        <p:spPr>
          <a:xfrm>
            <a:off x="6272784" y="2606040"/>
            <a:ext cx="749808" cy="246888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4" name="Text 171"/>
          <p:cNvSpPr/>
          <p:nvPr/>
        </p:nvSpPr>
        <p:spPr>
          <a:xfrm>
            <a:off x="6327648" y="2606040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NovaCrest</a:t>
            </a:r>
            <a:endParaRPr lang="en-US" sz="900" dirty="0"/>
          </a:p>
        </p:txBody>
      </p:sp>
      <p:sp>
        <p:nvSpPr>
          <p:cNvPr id="175" name="Shape 172"/>
          <p:cNvSpPr/>
          <p:nvPr/>
        </p:nvSpPr>
        <p:spPr>
          <a:xfrm>
            <a:off x="7022592" y="2606040"/>
            <a:ext cx="713232" cy="246888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6" name="Text 173"/>
          <p:cNvSpPr/>
          <p:nvPr/>
        </p:nvSpPr>
        <p:spPr>
          <a:xfrm>
            <a:off x="7077456" y="2606040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DataForge</a:t>
            </a:r>
            <a:endParaRPr lang="en-US" sz="900" dirty="0"/>
          </a:p>
        </p:txBody>
      </p:sp>
      <p:sp>
        <p:nvSpPr>
          <p:cNvPr id="177" name="Shape 174"/>
          <p:cNvSpPr/>
          <p:nvPr/>
        </p:nvSpPr>
        <p:spPr>
          <a:xfrm>
            <a:off x="7735824" y="2606040"/>
            <a:ext cx="640080" cy="246888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8" name="Text 175"/>
          <p:cNvSpPr/>
          <p:nvPr/>
        </p:nvSpPr>
        <p:spPr>
          <a:xfrm>
            <a:off x="7790688" y="2606040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Acme</a:t>
            </a:r>
            <a:endParaRPr lang="en-US" sz="900" dirty="0"/>
          </a:p>
        </p:txBody>
      </p:sp>
      <p:sp>
        <p:nvSpPr>
          <p:cNvPr id="179" name="Shape 176"/>
          <p:cNvSpPr/>
          <p:nvPr/>
        </p:nvSpPr>
        <p:spPr>
          <a:xfrm>
            <a:off x="8375904" y="2606040"/>
            <a:ext cx="630936" cy="246888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0" name="Text 177"/>
          <p:cNvSpPr/>
          <p:nvPr/>
        </p:nvSpPr>
        <p:spPr>
          <a:xfrm>
            <a:off x="8430768" y="2606040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Zenith AI</a:t>
            </a:r>
            <a:endParaRPr lang="en-US" sz="900" dirty="0"/>
          </a:p>
        </p:txBody>
      </p:sp>
      <p:sp>
        <p:nvSpPr>
          <p:cNvPr id="181" name="Shape 178"/>
          <p:cNvSpPr/>
          <p:nvPr/>
        </p:nvSpPr>
        <p:spPr>
          <a:xfrm>
            <a:off x="5577840" y="2852928"/>
            <a:ext cx="694944" cy="24688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2" name="Text 179"/>
          <p:cNvSpPr/>
          <p:nvPr/>
        </p:nvSpPr>
        <p:spPr>
          <a:xfrm>
            <a:off x="5632704" y="2852928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Stage</a:t>
            </a:r>
            <a:endParaRPr lang="en-US" sz="900" dirty="0"/>
          </a:p>
        </p:txBody>
      </p:sp>
      <p:sp>
        <p:nvSpPr>
          <p:cNvPr id="183" name="Shape 180"/>
          <p:cNvSpPr/>
          <p:nvPr/>
        </p:nvSpPr>
        <p:spPr>
          <a:xfrm>
            <a:off x="6272784" y="2852928"/>
            <a:ext cx="749808" cy="24688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4" name="Text 181"/>
          <p:cNvSpPr/>
          <p:nvPr/>
        </p:nvSpPr>
        <p:spPr>
          <a:xfrm>
            <a:off x="6327648" y="2852928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Series B $32M</a:t>
            </a:r>
            <a:endParaRPr lang="en-US" sz="900" dirty="0"/>
          </a:p>
        </p:txBody>
      </p:sp>
      <p:sp>
        <p:nvSpPr>
          <p:cNvPr id="185" name="Shape 182"/>
          <p:cNvSpPr/>
          <p:nvPr/>
        </p:nvSpPr>
        <p:spPr>
          <a:xfrm>
            <a:off x="7022592" y="2852928"/>
            <a:ext cx="713232" cy="24688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6" name="Text 183"/>
          <p:cNvSpPr/>
          <p:nvPr/>
        </p:nvSpPr>
        <p:spPr>
          <a:xfrm>
            <a:off x="7077456" y="2852928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Series C $85M</a:t>
            </a:r>
            <a:endParaRPr lang="en-US" sz="900" dirty="0"/>
          </a:p>
        </p:txBody>
      </p:sp>
      <p:sp>
        <p:nvSpPr>
          <p:cNvPr id="187" name="Shape 184"/>
          <p:cNvSpPr/>
          <p:nvPr/>
        </p:nvSpPr>
        <p:spPr>
          <a:xfrm>
            <a:off x="7735824" y="2852928"/>
            <a:ext cx="640080" cy="24688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8" name="Text 185"/>
          <p:cNvSpPr/>
          <p:nvPr/>
        </p:nvSpPr>
        <p:spPr>
          <a:xfrm>
            <a:off x="7790688" y="2852928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Public $2.1B</a:t>
            </a:r>
            <a:endParaRPr lang="en-US" sz="900" dirty="0"/>
          </a:p>
        </p:txBody>
      </p:sp>
      <p:sp>
        <p:nvSpPr>
          <p:cNvPr id="189" name="Shape 186"/>
          <p:cNvSpPr/>
          <p:nvPr/>
        </p:nvSpPr>
        <p:spPr>
          <a:xfrm>
            <a:off x="8375904" y="2852928"/>
            <a:ext cx="630936" cy="24688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0" name="Text 187"/>
          <p:cNvSpPr/>
          <p:nvPr/>
        </p:nvSpPr>
        <p:spPr>
          <a:xfrm>
            <a:off x="8430768" y="2852928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Series A $18M</a:t>
            </a:r>
            <a:endParaRPr lang="en-US" sz="900" dirty="0"/>
          </a:p>
        </p:txBody>
      </p:sp>
      <p:sp>
        <p:nvSpPr>
          <p:cNvPr id="191" name="Shape 188"/>
          <p:cNvSpPr/>
          <p:nvPr/>
        </p:nvSpPr>
        <p:spPr>
          <a:xfrm>
            <a:off x="5577840" y="3099816"/>
            <a:ext cx="694944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2" name="Text 189"/>
          <p:cNvSpPr/>
          <p:nvPr/>
        </p:nvSpPr>
        <p:spPr>
          <a:xfrm>
            <a:off x="5632704" y="3099816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ARR (est)</a:t>
            </a:r>
            <a:endParaRPr lang="en-US" sz="900" dirty="0"/>
          </a:p>
        </p:txBody>
      </p:sp>
      <p:sp>
        <p:nvSpPr>
          <p:cNvPr id="193" name="Shape 190"/>
          <p:cNvSpPr/>
          <p:nvPr/>
        </p:nvSpPr>
        <p:spPr>
          <a:xfrm>
            <a:off x="6272784" y="3099816"/>
            <a:ext cx="749808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4" name="Text 191"/>
          <p:cNvSpPr/>
          <p:nvPr/>
        </p:nvSpPr>
        <p:spPr>
          <a:xfrm>
            <a:off x="6327648" y="3099816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$15.6M</a:t>
            </a:r>
            <a:endParaRPr lang="en-US" sz="900" dirty="0"/>
          </a:p>
        </p:txBody>
      </p:sp>
      <p:sp>
        <p:nvSpPr>
          <p:cNvPr id="195" name="Shape 192"/>
          <p:cNvSpPr/>
          <p:nvPr/>
        </p:nvSpPr>
        <p:spPr>
          <a:xfrm>
            <a:off x="7022592" y="3099816"/>
            <a:ext cx="713232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6" name="Text 193"/>
          <p:cNvSpPr/>
          <p:nvPr/>
        </p:nvSpPr>
        <p:spPr>
          <a:xfrm>
            <a:off x="7077456" y="3099816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~$45M</a:t>
            </a:r>
            <a:endParaRPr lang="en-US" sz="900" dirty="0"/>
          </a:p>
        </p:txBody>
      </p:sp>
      <p:sp>
        <p:nvSpPr>
          <p:cNvPr id="197" name="Shape 194"/>
          <p:cNvSpPr/>
          <p:nvPr/>
        </p:nvSpPr>
        <p:spPr>
          <a:xfrm>
            <a:off x="7735824" y="3099816"/>
            <a:ext cx="64008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8" name="Text 195"/>
          <p:cNvSpPr/>
          <p:nvPr/>
        </p:nvSpPr>
        <p:spPr>
          <a:xfrm>
            <a:off x="7790688" y="3099816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~$180M</a:t>
            </a:r>
            <a:endParaRPr lang="en-US" sz="900" dirty="0"/>
          </a:p>
        </p:txBody>
      </p:sp>
      <p:sp>
        <p:nvSpPr>
          <p:cNvPr id="199" name="Shape 196"/>
          <p:cNvSpPr/>
          <p:nvPr/>
        </p:nvSpPr>
        <p:spPr>
          <a:xfrm>
            <a:off x="8375904" y="3099816"/>
            <a:ext cx="630936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0" name="Text 197"/>
          <p:cNvSpPr/>
          <p:nvPr/>
        </p:nvSpPr>
        <p:spPr>
          <a:xfrm>
            <a:off x="8430768" y="3099816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~$4M</a:t>
            </a:r>
            <a:endParaRPr lang="en-US" sz="900" dirty="0"/>
          </a:p>
        </p:txBody>
      </p:sp>
      <p:sp>
        <p:nvSpPr>
          <p:cNvPr id="201" name="Shape 198"/>
          <p:cNvSpPr/>
          <p:nvPr/>
        </p:nvSpPr>
        <p:spPr>
          <a:xfrm>
            <a:off x="5577840" y="3346704"/>
            <a:ext cx="694944" cy="24688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2" name="Text 199"/>
          <p:cNvSpPr/>
          <p:nvPr/>
        </p:nvSpPr>
        <p:spPr>
          <a:xfrm>
            <a:off x="5632704" y="3346704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Target Mkt</a:t>
            </a:r>
            <a:endParaRPr lang="en-US" sz="900" dirty="0"/>
          </a:p>
        </p:txBody>
      </p:sp>
      <p:sp>
        <p:nvSpPr>
          <p:cNvPr id="203" name="Shape 200"/>
          <p:cNvSpPr/>
          <p:nvPr/>
        </p:nvSpPr>
        <p:spPr>
          <a:xfrm>
            <a:off x="6272784" y="3346704"/>
            <a:ext cx="749808" cy="24688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4" name="Text 201"/>
          <p:cNvSpPr/>
          <p:nvPr/>
        </p:nvSpPr>
        <p:spPr>
          <a:xfrm>
            <a:off x="6327648" y="3346704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Mid-mkt mfg</a:t>
            </a:r>
            <a:endParaRPr lang="en-US" sz="900" dirty="0"/>
          </a:p>
        </p:txBody>
      </p:sp>
      <p:sp>
        <p:nvSpPr>
          <p:cNvPr id="205" name="Shape 202"/>
          <p:cNvSpPr/>
          <p:nvPr/>
        </p:nvSpPr>
        <p:spPr>
          <a:xfrm>
            <a:off x="7022592" y="3346704"/>
            <a:ext cx="713232" cy="24688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6" name="Text 203"/>
          <p:cNvSpPr/>
          <p:nvPr/>
        </p:nvSpPr>
        <p:spPr>
          <a:xfrm>
            <a:off x="7077456" y="3346704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SMB-Mid horiz.</a:t>
            </a:r>
            <a:endParaRPr lang="en-US" sz="900" dirty="0"/>
          </a:p>
        </p:txBody>
      </p:sp>
      <p:sp>
        <p:nvSpPr>
          <p:cNvPr id="207" name="Shape 204"/>
          <p:cNvSpPr/>
          <p:nvPr/>
        </p:nvSpPr>
        <p:spPr>
          <a:xfrm>
            <a:off x="7735824" y="3346704"/>
            <a:ext cx="640080" cy="24688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8" name="Text 205"/>
          <p:cNvSpPr/>
          <p:nvPr/>
        </p:nvSpPr>
        <p:spPr>
          <a:xfrm>
            <a:off x="7790688" y="3346704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Enterprise all</a:t>
            </a:r>
            <a:endParaRPr lang="en-US" sz="900" dirty="0"/>
          </a:p>
        </p:txBody>
      </p:sp>
      <p:sp>
        <p:nvSpPr>
          <p:cNvPr id="209" name="Shape 206"/>
          <p:cNvSpPr/>
          <p:nvPr/>
        </p:nvSpPr>
        <p:spPr>
          <a:xfrm>
            <a:off x="8375904" y="3346704"/>
            <a:ext cx="630936" cy="24688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0" name="Text 207"/>
          <p:cNvSpPr/>
          <p:nvPr/>
        </p:nvSpPr>
        <p:spPr>
          <a:xfrm>
            <a:off x="8430768" y="3346704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Mid-mkt mfg</a:t>
            </a:r>
            <a:endParaRPr lang="en-US" sz="900" dirty="0"/>
          </a:p>
        </p:txBody>
      </p:sp>
      <p:sp>
        <p:nvSpPr>
          <p:cNvPr id="211" name="Shape 208"/>
          <p:cNvSpPr/>
          <p:nvPr/>
        </p:nvSpPr>
        <p:spPr>
          <a:xfrm>
            <a:off x="5577840" y="3593592"/>
            <a:ext cx="694944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2" name="Text 209"/>
          <p:cNvSpPr/>
          <p:nvPr/>
        </p:nvSpPr>
        <p:spPr>
          <a:xfrm>
            <a:off x="5632704" y="3593592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Avg ACV</a:t>
            </a:r>
            <a:endParaRPr lang="en-US" sz="900" dirty="0"/>
          </a:p>
        </p:txBody>
      </p:sp>
      <p:sp>
        <p:nvSpPr>
          <p:cNvPr id="213" name="Shape 210"/>
          <p:cNvSpPr/>
          <p:nvPr/>
        </p:nvSpPr>
        <p:spPr>
          <a:xfrm>
            <a:off x="6272784" y="3593592"/>
            <a:ext cx="749808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4" name="Text 211"/>
          <p:cNvSpPr/>
          <p:nvPr/>
        </p:nvSpPr>
        <p:spPr>
          <a:xfrm>
            <a:off x="6327648" y="3593592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$30-250K</a:t>
            </a:r>
            <a:endParaRPr lang="en-US" sz="900" dirty="0"/>
          </a:p>
        </p:txBody>
      </p:sp>
      <p:sp>
        <p:nvSpPr>
          <p:cNvPr id="215" name="Shape 212"/>
          <p:cNvSpPr/>
          <p:nvPr/>
        </p:nvSpPr>
        <p:spPr>
          <a:xfrm>
            <a:off x="7022592" y="3593592"/>
            <a:ext cx="713232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6" name="Text 213"/>
          <p:cNvSpPr/>
          <p:nvPr/>
        </p:nvSpPr>
        <p:spPr>
          <a:xfrm>
            <a:off x="7077456" y="3593592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$2.4-48K</a:t>
            </a:r>
            <a:endParaRPr lang="en-US" sz="900" dirty="0"/>
          </a:p>
        </p:txBody>
      </p:sp>
      <p:sp>
        <p:nvSpPr>
          <p:cNvPr id="217" name="Shape 214"/>
          <p:cNvSpPr/>
          <p:nvPr/>
        </p:nvSpPr>
        <p:spPr>
          <a:xfrm>
            <a:off x="7735824" y="3593592"/>
            <a:ext cx="64008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8" name="Text 215"/>
          <p:cNvSpPr/>
          <p:nvPr/>
        </p:nvSpPr>
        <p:spPr>
          <a:xfrm>
            <a:off x="7790688" y="3593592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$100K-500K+</a:t>
            </a:r>
            <a:endParaRPr lang="en-US" sz="900" dirty="0"/>
          </a:p>
        </p:txBody>
      </p:sp>
      <p:sp>
        <p:nvSpPr>
          <p:cNvPr id="219" name="Shape 216"/>
          <p:cNvSpPr/>
          <p:nvPr/>
        </p:nvSpPr>
        <p:spPr>
          <a:xfrm>
            <a:off x="8375904" y="3593592"/>
            <a:ext cx="630936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0" name="Text 217"/>
          <p:cNvSpPr/>
          <p:nvPr/>
        </p:nvSpPr>
        <p:spPr>
          <a:xfrm>
            <a:off x="8430768" y="3593592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$20-80K</a:t>
            </a:r>
            <a:endParaRPr lang="en-US" sz="900" dirty="0"/>
          </a:p>
        </p:txBody>
      </p:sp>
      <p:sp>
        <p:nvSpPr>
          <p:cNvPr id="221" name="Shape 218"/>
          <p:cNvSpPr/>
          <p:nvPr/>
        </p:nvSpPr>
        <p:spPr>
          <a:xfrm>
            <a:off x="5577840" y="3840480"/>
            <a:ext cx="694944" cy="24688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2" name="Text 219"/>
          <p:cNvSpPr/>
          <p:nvPr/>
        </p:nvSpPr>
        <p:spPr>
          <a:xfrm>
            <a:off x="5632704" y="3840480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Win Rate</a:t>
            </a:r>
            <a:endParaRPr lang="en-US" sz="900" dirty="0"/>
          </a:p>
        </p:txBody>
      </p:sp>
      <p:sp>
        <p:nvSpPr>
          <p:cNvPr id="223" name="Shape 220"/>
          <p:cNvSpPr/>
          <p:nvPr/>
        </p:nvSpPr>
        <p:spPr>
          <a:xfrm>
            <a:off x="6272784" y="3840480"/>
            <a:ext cx="749808" cy="24688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4" name="Text 221"/>
          <p:cNvSpPr/>
          <p:nvPr/>
        </p:nvSpPr>
        <p:spPr>
          <a:xfrm>
            <a:off x="6327648" y="3840480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—</a:t>
            </a:r>
            <a:endParaRPr lang="en-US" sz="900" dirty="0"/>
          </a:p>
        </p:txBody>
      </p:sp>
      <p:sp>
        <p:nvSpPr>
          <p:cNvPr id="225" name="Shape 222"/>
          <p:cNvSpPr/>
          <p:nvPr/>
        </p:nvSpPr>
        <p:spPr>
          <a:xfrm>
            <a:off x="7022592" y="3840480"/>
            <a:ext cx="713232" cy="24688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6" name="Text 223"/>
          <p:cNvSpPr/>
          <p:nvPr/>
        </p:nvSpPr>
        <p:spPr>
          <a:xfrm>
            <a:off x="7077456" y="3840480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62% ✓</a:t>
            </a:r>
            <a:endParaRPr lang="en-US" sz="900" dirty="0"/>
          </a:p>
        </p:txBody>
      </p:sp>
      <p:sp>
        <p:nvSpPr>
          <p:cNvPr id="227" name="Shape 224"/>
          <p:cNvSpPr/>
          <p:nvPr/>
        </p:nvSpPr>
        <p:spPr>
          <a:xfrm>
            <a:off x="7735824" y="3840480"/>
            <a:ext cx="640080" cy="24688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8" name="Text 225"/>
          <p:cNvSpPr/>
          <p:nvPr/>
        </p:nvSpPr>
        <p:spPr>
          <a:xfrm>
            <a:off x="7790688" y="3840480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34% ✗</a:t>
            </a:r>
            <a:endParaRPr lang="en-US" sz="900" dirty="0"/>
          </a:p>
        </p:txBody>
      </p:sp>
      <p:sp>
        <p:nvSpPr>
          <p:cNvPr id="229" name="Shape 226"/>
          <p:cNvSpPr/>
          <p:nvPr/>
        </p:nvSpPr>
        <p:spPr>
          <a:xfrm>
            <a:off x="8375904" y="3840480"/>
            <a:ext cx="630936" cy="246888"/>
          </a:xfrm>
          <a:prstGeom prst="rect">
            <a:avLst/>
          </a:prstGeom>
          <a:solidFill>
            <a:srgbClr val="F4F6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0" name="Text 227"/>
          <p:cNvSpPr/>
          <p:nvPr/>
        </p:nvSpPr>
        <p:spPr>
          <a:xfrm>
            <a:off x="8430768" y="3840480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55% ✓</a:t>
            </a:r>
            <a:endParaRPr lang="en-US" sz="900" dirty="0"/>
          </a:p>
        </p:txBody>
      </p:sp>
      <p:sp>
        <p:nvSpPr>
          <p:cNvPr id="231" name="Shape 228"/>
          <p:cNvSpPr/>
          <p:nvPr/>
        </p:nvSpPr>
        <p:spPr>
          <a:xfrm>
            <a:off x="5577840" y="4087368"/>
            <a:ext cx="694944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2" name="Text 229"/>
          <p:cNvSpPr/>
          <p:nvPr/>
        </p:nvSpPr>
        <p:spPr>
          <a:xfrm>
            <a:off x="5632704" y="4087368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Key Threat</a:t>
            </a:r>
            <a:endParaRPr lang="en-US" sz="900" dirty="0"/>
          </a:p>
        </p:txBody>
      </p:sp>
      <p:sp>
        <p:nvSpPr>
          <p:cNvPr id="233" name="Shape 230"/>
          <p:cNvSpPr/>
          <p:nvPr/>
        </p:nvSpPr>
        <p:spPr>
          <a:xfrm>
            <a:off x="6272784" y="4087368"/>
            <a:ext cx="749808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4" name="Text 231"/>
          <p:cNvSpPr/>
          <p:nvPr/>
        </p:nvSpPr>
        <p:spPr>
          <a:xfrm>
            <a:off x="6327648" y="4087368"/>
            <a:ext cx="6766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—</a:t>
            </a:r>
            <a:endParaRPr lang="en-US" sz="900" dirty="0"/>
          </a:p>
        </p:txBody>
      </p:sp>
      <p:sp>
        <p:nvSpPr>
          <p:cNvPr id="235" name="Shape 232"/>
          <p:cNvSpPr/>
          <p:nvPr/>
        </p:nvSpPr>
        <p:spPr>
          <a:xfrm>
            <a:off x="7022592" y="4087368"/>
            <a:ext cx="713232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6" name="Text 233"/>
          <p:cNvSpPr/>
          <p:nvPr/>
        </p:nvSpPr>
        <p:spPr>
          <a:xfrm>
            <a:off x="7077456" y="4087368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7706"/>
                </a:solidFill>
              </a:rPr>
              <a:t>$199/mo SMB module</a:t>
            </a:r>
            <a:endParaRPr lang="en-US" sz="900" dirty="0"/>
          </a:p>
        </p:txBody>
      </p:sp>
      <p:sp>
        <p:nvSpPr>
          <p:cNvPr id="237" name="Shape 234"/>
          <p:cNvSpPr/>
          <p:nvPr/>
        </p:nvSpPr>
        <p:spPr>
          <a:xfrm>
            <a:off x="7735824" y="4087368"/>
            <a:ext cx="640080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8" name="Text 235"/>
          <p:cNvSpPr/>
          <p:nvPr/>
        </p:nvSpPr>
        <p:spPr>
          <a:xfrm>
            <a:off x="7790688" y="4087368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7706"/>
                </a:solidFill>
              </a:rPr>
              <a:t>Acme Lite Q1'27</a:t>
            </a:r>
            <a:endParaRPr lang="en-US" sz="900" dirty="0"/>
          </a:p>
        </p:txBody>
      </p:sp>
      <p:sp>
        <p:nvSpPr>
          <p:cNvPr id="239" name="Shape 236"/>
          <p:cNvSpPr/>
          <p:nvPr/>
        </p:nvSpPr>
        <p:spPr>
          <a:xfrm>
            <a:off x="8375904" y="4087368"/>
            <a:ext cx="630936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0" name="Text 237"/>
          <p:cNvSpPr/>
          <p:nvPr/>
        </p:nvSpPr>
        <p:spPr>
          <a:xfrm>
            <a:off x="8430768" y="4087368"/>
            <a:ext cx="557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VC hiring blitz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27432"/>
          </a:xfrm>
          <a:prstGeom prst="rect">
            <a:avLst/>
          </a:prstGeom>
          <a:solidFill>
            <a:srgbClr val="2E7FD9"/>
          </a:solidFill>
          <a:ln w="12700">
            <a:solidFill>
              <a:srgbClr val="2E7F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80F1C"/>
          </a:solidFill>
          <a:ln w="12700">
            <a:solidFill>
              <a:srgbClr val="080F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FFFFF"/>
                </a:solidFill>
              </a:rPr>
              <a:t>BOARD ASKS  ·  Q3 2026 REVIEW  ·  THREE ITEMS REQUIRING ACTION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" y="658368"/>
            <a:ext cx="2834640" cy="4005072"/>
          </a:xfrm>
          <a:prstGeom prst="rect">
            <a:avLst/>
          </a:prstGeom>
          <a:solidFill>
            <a:srgbClr val="0A1628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" y="658368"/>
            <a:ext cx="283464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" y="74980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C2626"/>
                </a:solidFill>
              </a:rPr>
              <a:t>01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731520" y="822960"/>
            <a:ext cx="658368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" y="8229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APPROVE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46888" y="1133856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$2.5M Incremental Customer Success Investment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888" y="1627632"/>
            <a:ext cx="2633472" cy="164592"/>
          </a:xfrm>
          <a:prstGeom prst="rect">
            <a:avLst/>
          </a:prstGeom>
          <a:solidFill>
            <a:srgbClr val="141F35"/>
          </a:solidFill>
          <a:ln w="12700">
            <a:solidFill>
              <a:srgbClr val="141F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" y="1627632"/>
            <a:ext cx="2615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RATIONALE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65176" y="1819656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B0C4DE"/>
                </a:solidFill>
              </a:rPr>
              <a:t>·  Hire 8 FTEs: 4 onboarding specialists, 2 renewal managers, 1 SMB CS lead, 1 CS ops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265176" y="2139696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B0C4DE"/>
                </a:solidFill>
              </a:rPr>
              <a:t>·  $290K of Q3 churn ($500K total) was preventable — weak onboarding, no down-tier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265176" y="2459736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B0C4DE"/>
                </a:solidFill>
              </a:rPr>
              <a:t>·  Sterling ($210K), ClearPath ($72K), Midwest ($58K) at risk in Q4 alone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246888" y="2825496"/>
            <a:ext cx="2633472" cy="164592"/>
          </a:xfrm>
          <a:prstGeom prst="rect">
            <a:avLst/>
          </a:prstGeom>
          <a:solidFill>
            <a:srgbClr val="141F35"/>
          </a:solidFill>
          <a:ln w="12700">
            <a:solidFill>
              <a:srgbClr val="141F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" y="2825496"/>
            <a:ext cx="2615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KEY METRICS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246888" y="3017520"/>
            <a:ext cx="1261872" cy="438912"/>
          </a:xfrm>
          <a:prstGeom prst="rect">
            <a:avLst/>
          </a:prstGeom>
          <a:solidFill>
            <a:srgbClr val="0F1E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" y="3054096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~$700K/yr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01752" y="3264408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Expected ARR Saved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1563624" y="3017520"/>
            <a:ext cx="1261872" cy="438912"/>
          </a:xfrm>
          <a:prstGeom prst="rect">
            <a:avLst/>
          </a:prstGeom>
          <a:solidFill>
            <a:srgbClr val="0F1E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18488" y="3054096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14 months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618488" y="3264408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Payback Period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46888" y="3493008"/>
            <a:ext cx="1261872" cy="438912"/>
          </a:xfrm>
          <a:prstGeom prst="rect">
            <a:avLst/>
          </a:prstGeom>
          <a:solidFill>
            <a:srgbClr val="0F1E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1752" y="3529584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~280%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01752" y="3739896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ROI (3-yr)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1563624" y="3493008"/>
            <a:ext cx="1261872" cy="438912"/>
          </a:xfrm>
          <a:prstGeom prst="rect">
            <a:avLst/>
          </a:prstGeom>
          <a:solidFill>
            <a:srgbClr val="0F1E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18488" y="3529584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Q4 churn ≥ $600K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618488" y="3739896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If Not Approved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246888" y="4005072"/>
            <a:ext cx="2633472" cy="475488"/>
          </a:xfrm>
          <a:prstGeom prst="rect">
            <a:avLst/>
          </a:prstGeom>
          <a:solidFill>
            <a:srgbClr val="0F1E36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2608" y="404164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C2626"/>
                </a:solidFill>
              </a:rPr>
              <a:t>URGENT — Q4 at-risk pipeline is $340K; delay = churn compounds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3154680" y="658368"/>
            <a:ext cx="2834640" cy="4005072"/>
          </a:xfrm>
          <a:prstGeom prst="rect">
            <a:avLst/>
          </a:prstGeom>
          <a:solidFill>
            <a:srgbClr val="0A1628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154680" y="658368"/>
            <a:ext cx="283464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64408" y="74980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706"/>
                </a:solidFill>
              </a:rPr>
              <a:t>02</a:t>
            </a:r>
            <a:endParaRPr lang="en-US" sz="2600" dirty="0"/>
          </a:p>
        </p:txBody>
      </p:sp>
      <p:sp>
        <p:nvSpPr>
          <p:cNvPr id="36" name="Shape 34"/>
          <p:cNvSpPr/>
          <p:nvPr/>
        </p:nvSpPr>
        <p:spPr>
          <a:xfrm>
            <a:off x="3749040" y="822960"/>
            <a:ext cx="658368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58184" y="8229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APPROVE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264408" y="1133856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Usage-Based SMB Pricing Tier  ($499/mo entry)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64408" y="1627632"/>
            <a:ext cx="2633472" cy="164592"/>
          </a:xfrm>
          <a:prstGeom prst="rect">
            <a:avLst/>
          </a:prstGeom>
          <a:solidFill>
            <a:srgbClr val="141F35"/>
          </a:solidFill>
          <a:ln w="12700">
            <a:solidFill>
              <a:srgbClr val="141F3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82696" y="1627632"/>
            <a:ext cx="2615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97706"/>
                </a:solidFill>
              </a:rPr>
              <a:t>RATIONALE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3282696" y="1819656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B0C4DE"/>
                </a:solidFill>
              </a:rPr>
              <a:t>·  Current minimum $2.5K/mo losing 60+ SMB prospects/quarter on price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3282696" y="2139696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B0C4DE"/>
                </a:solidFill>
              </a:rPr>
              <a:t>·  Addresses SMB onboarding gap — usage-based aligns cost to adoption</a:t>
            </a:r>
            <a:endParaRPr lang="en-US" sz="780" dirty="0"/>
          </a:p>
        </p:txBody>
      </p:sp>
      <p:sp>
        <p:nvSpPr>
          <p:cNvPr id="43" name="Text 41"/>
          <p:cNvSpPr/>
          <p:nvPr/>
        </p:nvSpPr>
        <p:spPr>
          <a:xfrm>
            <a:off x="3282696" y="2459736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B0C4DE"/>
                </a:solidFill>
              </a:rPr>
              <a:t>·  DataForge $199/mo module is pulling SMB deals away now</a:t>
            </a:r>
            <a:endParaRPr lang="en-US" sz="780" dirty="0"/>
          </a:p>
        </p:txBody>
      </p:sp>
      <p:sp>
        <p:nvSpPr>
          <p:cNvPr id="44" name="Shape 42"/>
          <p:cNvSpPr/>
          <p:nvPr/>
        </p:nvSpPr>
        <p:spPr>
          <a:xfrm>
            <a:off x="3264408" y="2825496"/>
            <a:ext cx="2633472" cy="164592"/>
          </a:xfrm>
          <a:prstGeom prst="rect">
            <a:avLst/>
          </a:prstGeom>
          <a:solidFill>
            <a:srgbClr val="141F35"/>
          </a:solidFill>
          <a:ln w="12700">
            <a:solidFill>
              <a:srgbClr val="141F3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82696" y="2825496"/>
            <a:ext cx="2615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97706"/>
                </a:solidFill>
              </a:rPr>
              <a:t>KEY METRICS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3264408" y="3017520"/>
            <a:ext cx="1261872" cy="438912"/>
          </a:xfrm>
          <a:prstGeom prst="rect">
            <a:avLst/>
          </a:prstGeom>
          <a:solidFill>
            <a:srgbClr val="0F1E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19272" y="3054096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+$1.2M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319272" y="3264408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New ARR (12 mo)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4581144" y="3017520"/>
            <a:ext cx="1261872" cy="438912"/>
          </a:xfrm>
          <a:prstGeom prst="rect">
            <a:avLst/>
          </a:prstGeom>
          <a:solidFill>
            <a:srgbClr val="0F1E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36008" y="3054096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~($200K)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636008" y="3264408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Down-tier risk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3264408" y="3493008"/>
            <a:ext cx="1261872" cy="438912"/>
          </a:xfrm>
          <a:prstGeom prst="rect">
            <a:avLst/>
          </a:prstGeom>
          <a:solidFill>
            <a:srgbClr val="0F1E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319272" y="3529584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+$1.0M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3319272" y="3739896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Net ARR impact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4581144" y="3493008"/>
            <a:ext cx="1261872" cy="438912"/>
          </a:xfrm>
          <a:prstGeom prst="rect">
            <a:avLst/>
          </a:prstGeom>
          <a:solidFill>
            <a:srgbClr val="0F1E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36008" y="3529584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Q1 2027 launch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636008" y="3739896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Timeline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3264408" y="4005072"/>
            <a:ext cx="2633472" cy="475488"/>
          </a:xfrm>
          <a:prstGeom prst="rect">
            <a:avLst/>
          </a:prstGeom>
          <a:solidFill>
            <a:srgbClr val="0F1E36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310128" y="404164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97706"/>
                </a:solidFill>
              </a:rPr>
              <a:t>COMPETITIVE — DataForge manufacturing module launched in Q3</a:t>
            </a:r>
            <a:endParaRPr lang="en-US" sz="780" dirty="0"/>
          </a:p>
        </p:txBody>
      </p:sp>
      <p:sp>
        <p:nvSpPr>
          <p:cNvPr id="60" name="Shape 58"/>
          <p:cNvSpPr/>
          <p:nvPr/>
        </p:nvSpPr>
        <p:spPr>
          <a:xfrm>
            <a:off x="6172200" y="658368"/>
            <a:ext cx="2834640" cy="4005072"/>
          </a:xfrm>
          <a:prstGeom prst="rect">
            <a:avLst/>
          </a:prstGeom>
          <a:solidFill>
            <a:srgbClr val="0A1628"/>
          </a:solidFill>
          <a:ln w="15240">
            <a:solidFill>
              <a:srgbClr val="2E7FD9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172200" y="658368"/>
            <a:ext cx="2834640" cy="54864"/>
          </a:xfrm>
          <a:prstGeom prst="rect">
            <a:avLst/>
          </a:prstGeom>
          <a:solidFill>
            <a:srgbClr val="2E7FD9"/>
          </a:solidFill>
          <a:ln w="12700">
            <a:solidFill>
              <a:srgbClr val="2E7FD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281928" y="74980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7FD9"/>
                </a:solidFill>
              </a:rPr>
              <a:t>03</a:t>
            </a:r>
            <a:endParaRPr lang="en-US" sz="2600" dirty="0"/>
          </a:p>
        </p:txBody>
      </p:sp>
      <p:sp>
        <p:nvSpPr>
          <p:cNvPr id="63" name="Shape 61"/>
          <p:cNvSpPr/>
          <p:nvPr/>
        </p:nvSpPr>
        <p:spPr>
          <a:xfrm>
            <a:off x="6766560" y="822960"/>
            <a:ext cx="658368" cy="201168"/>
          </a:xfrm>
          <a:prstGeom prst="rect">
            <a:avLst/>
          </a:prstGeom>
          <a:solidFill>
            <a:srgbClr val="2E7FD9"/>
          </a:solidFill>
          <a:ln w="12700">
            <a:solidFill>
              <a:srgbClr val="2E7FD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775704" y="8229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DISCUSS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6281928" y="1133856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Series C Timing — Q2 2027 vs $30M ARR Milestone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6281928" y="1627632"/>
            <a:ext cx="2633472" cy="164592"/>
          </a:xfrm>
          <a:prstGeom prst="rect">
            <a:avLst/>
          </a:prstGeom>
          <a:solidFill>
            <a:srgbClr val="141F35"/>
          </a:solidFill>
          <a:ln w="12700">
            <a:solidFill>
              <a:srgbClr val="141F3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300216" y="1627632"/>
            <a:ext cx="2615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7FD9"/>
                </a:solidFill>
              </a:rPr>
              <a:t>RATIONALE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6300216" y="1819656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B0C4DE"/>
                </a:solidFill>
              </a:rPr>
              <a:t>·  Current runway: 81 months — not forced; can raise from position of strength</a:t>
            </a:r>
            <a:endParaRPr lang="en-US" sz="780" dirty="0"/>
          </a:p>
        </p:txBody>
      </p:sp>
      <p:sp>
        <p:nvSpPr>
          <p:cNvPr id="69" name="Text 67"/>
          <p:cNvSpPr/>
          <p:nvPr/>
        </p:nvSpPr>
        <p:spPr>
          <a:xfrm>
            <a:off x="6300216" y="2139696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B0C4DE"/>
                </a:solidFill>
              </a:rPr>
              <a:t>·  Option A: Q2 2027 at $22-25M ARR — momentum story, growth rate compelling</a:t>
            </a:r>
            <a:endParaRPr lang="en-US" sz="780" dirty="0"/>
          </a:p>
        </p:txBody>
      </p:sp>
      <p:sp>
        <p:nvSpPr>
          <p:cNvPr id="70" name="Text 68"/>
          <p:cNvSpPr/>
          <p:nvPr/>
        </p:nvSpPr>
        <p:spPr>
          <a:xfrm>
            <a:off x="6300216" y="2459736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B0C4DE"/>
                </a:solidFill>
              </a:rPr>
              <a:t>·  Option B: Wait for $30M ARR — stronger metrics but 2028 timeline, market risk</a:t>
            </a:r>
            <a:endParaRPr lang="en-US" sz="780" dirty="0"/>
          </a:p>
        </p:txBody>
      </p:sp>
      <p:sp>
        <p:nvSpPr>
          <p:cNvPr id="71" name="Shape 69"/>
          <p:cNvSpPr/>
          <p:nvPr/>
        </p:nvSpPr>
        <p:spPr>
          <a:xfrm>
            <a:off x="6281928" y="2825496"/>
            <a:ext cx="2633472" cy="164592"/>
          </a:xfrm>
          <a:prstGeom prst="rect">
            <a:avLst/>
          </a:prstGeom>
          <a:solidFill>
            <a:srgbClr val="141F35"/>
          </a:solidFill>
          <a:ln w="12700">
            <a:solidFill>
              <a:srgbClr val="141F3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300216" y="2825496"/>
            <a:ext cx="2615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7FD9"/>
                </a:solidFill>
              </a:rPr>
              <a:t>KEY METRICS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6281928" y="3017520"/>
            <a:ext cx="1261872" cy="438912"/>
          </a:xfrm>
          <a:prstGeom prst="rect">
            <a:avLst/>
          </a:prstGeom>
          <a:solidFill>
            <a:srgbClr val="0F1E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336792" y="3054096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FD9"/>
                </a:solidFill>
              </a:rPr>
              <a:t>$15.6M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6336792" y="3264408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Current ARR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7598664" y="3017520"/>
            <a:ext cx="1261872" cy="438912"/>
          </a:xfrm>
          <a:prstGeom prst="rect">
            <a:avLst/>
          </a:prstGeom>
          <a:solidFill>
            <a:srgbClr val="0F1E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653528" y="3054096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FD9"/>
                </a:solidFill>
              </a:rPr>
              <a:t>$18.2M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7653528" y="3264408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Cash on Hand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6281928" y="3493008"/>
            <a:ext cx="1261872" cy="438912"/>
          </a:xfrm>
          <a:prstGeom prst="rect">
            <a:avLst/>
          </a:prstGeom>
          <a:solidFill>
            <a:srgbClr val="0F1E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336792" y="3529584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FD9"/>
                </a:solidFill>
              </a:rPr>
              <a:t>0.36x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6336792" y="3739896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Burn Multiple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7598664" y="3493008"/>
            <a:ext cx="1261872" cy="438912"/>
          </a:xfrm>
          <a:prstGeom prst="rect">
            <a:avLst/>
          </a:prstGeom>
          <a:solidFill>
            <a:srgbClr val="0F1E3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653528" y="3529584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FD9"/>
                </a:solidFill>
              </a:rPr>
              <a:t>TBD — board input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7653528" y="3739896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Target Raise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6281928" y="4005072"/>
            <a:ext cx="2633472" cy="475488"/>
          </a:xfrm>
          <a:prstGeom prst="rect">
            <a:avLst/>
          </a:prstGeom>
          <a:solidFill>
            <a:srgbClr val="0F1E36"/>
          </a:solidFill>
          <a:ln w="6350">
            <a:solidFill>
              <a:srgbClr val="2E7FD9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327648" y="404164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E7FD9"/>
                </a:solidFill>
              </a:rPr>
              <a:t>STRATEGIC — Board input requested on timing and investor targets</a:t>
            </a:r>
            <a:endParaRPr lang="en-US" sz="780" dirty="0"/>
          </a:p>
        </p:txBody>
      </p:sp>
      <p:sp>
        <p:nvSpPr>
          <p:cNvPr id="87" name="Shape 85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80F1C"/>
          </a:solidFill>
          <a:ln w="12700">
            <a:solidFill>
              <a:srgbClr val="080F1C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74320" y="48874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D5470"/>
                </a:solidFill>
              </a:rPr>
              <a:t>NovaCrest  |  Q3 2026 Board Review  |  CONFIDENTIAL  |  For Board Use Only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 2026 Strategic Review — NovaCrest</dc:title>
  <dc:subject>PptxGenJS Presentation</dc:subject>
  <dc:creator>PptxGenJS</dc:creator>
  <cp:lastModifiedBy>PptxGenJS</cp:lastModifiedBy>
  <cp:revision>1</cp:revision>
  <dcterms:created xsi:type="dcterms:W3CDTF">2026-03-31T05:08:35Z</dcterms:created>
  <dcterms:modified xsi:type="dcterms:W3CDTF">2026-03-31T05:08:35Z</dcterms:modified>
</cp:coreProperties>
</file>