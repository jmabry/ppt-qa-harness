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Chimera: Monolith Decomposition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VP Engineering  |  April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874520" cy="676656"/>
          </a:xfrm>
          <a:prstGeom prst="rect">
            <a:avLst/>
          </a:prstGeom>
          <a:solidFill>
            <a:srgbClr val="162F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8745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9264"/>
            <a:ext cx="1874520" cy="351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12064" y="1306860"/>
            <a:ext cx="1764792" cy="243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914400"/>
            <a:ext cx="1874520" cy="676656"/>
          </a:xfrm>
          <a:prstGeom prst="rect">
            <a:avLst/>
          </a:prstGeom>
          <a:solidFill>
            <a:srgbClr val="162F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914400"/>
            <a:ext cx="18745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969264"/>
            <a:ext cx="1874520" cy="351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78024" y="1306860"/>
            <a:ext cx="1764792" cy="243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0" y="914400"/>
            <a:ext cx="1874520" cy="676656"/>
          </a:xfrm>
          <a:prstGeom prst="rect">
            <a:avLst/>
          </a:prstGeom>
          <a:solidFill>
            <a:srgbClr val="162F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914400"/>
            <a:ext cx="18745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969264"/>
            <a:ext cx="1874520" cy="351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443984" y="1306860"/>
            <a:ext cx="1764792" cy="243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55080" y="914400"/>
            <a:ext cx="1874520" cy="676656"/>
          </a:xfrm>
          <a:prstGeom prst="rect">
            <a:avLst/>
          </a:prstGeom>
          <a:solidFill>
            <a:srgbClr val="162F4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914400"/>
            <a:ext cx="18745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969264"/>
            <a:ext cx="1874520" cy="351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$133K/qtr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9944" y="1306860"/>
            <a:ext cx="1764792" cy="243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Engineering Cost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17556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METRICS — CURRENT STATE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1938528"/>
            <a:ext cx="8229600" cy="18288"/>
          </a:xfrm>
          <a:prstGeom prst="rect">
            <a:avLst/>
          </a:prstGeom>
          <a:solidFill>
            <a:srgbClr val="1E3A5F"/>
          </a:solidFill>
          <a:ln/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75104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463040"/>
                <a:gridCol w="21945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F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P50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0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frequency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F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0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1.8/wk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F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0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1/day–1/wk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F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0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 of "medium"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F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0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0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 days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0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1–7 days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0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over ceiling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0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failure 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F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0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F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0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F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0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threshold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F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0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MTTR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0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hours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0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 hr – &lt;1 day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0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but slow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D0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time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F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0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F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0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F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0E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Devs context-switch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F4A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57200" y="48920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Chimera — Monolith Decomposition Plan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8046720" y="4892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0" y="4855464"/>
            <a:ext cx="9144000" cy="18288"/>
          </a:xfrm>
          <a:prstGeom prst="rect">
            <a:avLst/>
          </a:prstGeom>
          <a:solidFill>
            <a:srgbClr val="CBD5E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4754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Architecture: Strangler Fig Pattern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BOUNDARIES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CBD5E1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86384"/>
          <a:ext cx="6309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1645920"/>
                <a:gridCol w="1280160"/>
                <a:gridCol w="73152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Squad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Style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+ gRPC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+ Events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+ Stripe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Elasticsearch 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+ SQS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27432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FLOW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2926080"/>
            <a:ext cx="822960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2962656"/>
            <a:ext cx="1280160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96265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755648" y="2962656"/>
            <a:ext cx="237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828800" y="2962656"/>
            <a:ext cx="12801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28800" y="296265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(Istio)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127248" y="2962656"/>
            <a:ext cx="237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749040" y="2962656"/>
            <a:ext cx="12801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49040" y="296265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Microservices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047488" y="2962656"/>
            <a:ext cx="237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669280" y="2962656"/>
            <a:ext cx="128016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0" y="296265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967728" y="2962656"/>
            <a:ext cx="237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949440" y="2962656"/>
            <a:ext cx="1280160" cy="329184"/>
          </a:xfrm>
          <a:prstGeom prst="rect">
            <a:avLst/>
          </a:prstGeom>
          <a:solidFill>
            <a:srgbClr val="0F274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49440" y="296265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Data Stores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57200" y="3419856"/>
            <a:ext cx="822960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3419856"/>
            <a:ext cx="54864" cy="32918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3"/>
          <p:cNvSpPr/>
          <p:nvPr/>
        </p:nvSpPr>
        <p:spPr>
          <a:xfrm>
            <a:off x="566928" y="3419856"/>
            <a:ext cx="806500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Decisions: Kong/AWS ALB for gateway  |  Istio service mesh  |  Kafka 3-broker cluster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57200" y="48920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Chimera — Monolith Decomposition Plan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8046720" y="4892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0" y="4855464"/>
            <a:ext cx="9144000" cy="18288"/>
          </a:xfrm>
          <a:prstGeom prst="rect">
            <a:avLst/>
          </a:prstGeom>
          <a:solidFill>
            <a:srgbClr val="CBD5E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4754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ADR: Why Strangler Fig, Not Rewrite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268224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66928"/>
            <a:ext cx="268224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66928"/>
            <a:ext cx="268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841248"/>
            <a:ext cx="249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Rewrite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133856"/>
            <a:ext cx="2499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14–18 months, 8 engineers, parallel systems risk.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"Basecamp, Netscape — rewrites 2–3× slower than estimated."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30880" y="566928"/>
            <a:ext cx="268224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30880" y="566928"/>
            <a:ext cx="268224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3230880" y="566928"/>
            <a:ext cx="268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22320" y="841248"/>
            <a:ext cx="249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Modularize Only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22320" y="1133856"/>
            <a:ext cx="2499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Q4 2025. Merge conflicts −30% but deploy frequency unchanged. Still one artifact.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04560" y="566928"/>
            <a:ext cx="268224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04560" y="566928"/>
            <a:ext cx="268224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4560" y="566928"/>
            <a:ext cx="268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96000" y="841248"/>
            <a:ext cx="249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Strangler Fig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6000" y="1133856"/>
            <a:ext cx="2499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Incremental, bounded risk. Already proven: User Service extraction Q1 2026 in 3 weeks, zero customer incidents.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1396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DECISIONS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322576"/>
            <a:ext cx="822960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359152"/>
            <a:ext cx="822960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359152"/>
            <a:ext cx="54864" cy="32918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359152"/>
            <a:ext cx="806500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+ Admin stay in monolith — low-traffic, low-change, extraction cost &gt; benefit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816352"/>
            <a:ext cx="8229600" cy="329184"/>
          </a:xfrm>
          <a:prstGeom prst="rect">
            <a:avLst/>
          </a:prstGeom>
          <a:solidFill>
            <a:srgbClr val="EBF5F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816352"/>
            <a:ext cx="54864" cy="32918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2816352"/>
            <a:ext cx="8065008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confidence: 65% confident Phase 1–2 on time  |  40% confident Phase 3 — ClickHouse learning curve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48920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Chimera — Monolith Decomposition Plan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046720" y="4892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0" y="4855464"/>
            <a:ext cx="9144000" cy="18288"/>
          </a:xfrm>
          <a:prstGeom prst="rect">
            <a:avLst/>
          </a:prstGeom>
          <a:solidFill>
            <a:srgbClr val="CBD5E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4754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Phased Migration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2743200" cy="347472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669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M1-2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36976" y="566928"/>
            <a:ext cx="274320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3236976" y="5669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M3-4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16752" y="566928"/>
            <a:ext cx="2743200" cy="3474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6016752" y="5669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M5-6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060704"/>
            <a:ext cx="268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Foundation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2682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49808"/>
                <a:gridCol w="5486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 setup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OpenTelemetry rollout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Svc extraction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cluster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migration tooling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3230880" y="1060704"/>
            <a:ext cx="268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Core Services</a:t>
            </a:r>
            <a:endParaRPr lang="en-US" sz="9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30880" y="1298448"/>
          <a:ext cx="2682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49808"/>
                <a:gridCol w="5486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Saga pattern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Service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6004560" y="1060704"/>
            <a:ext cx="268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Completion</a:t>
            </a:r>
            <a:endParaRPr lang="en-US" sz="9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04560" y="1298448"/>
          <a:ext cx="2682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49808"/>
                <a:gridCol w="5486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Svc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Svc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Decommission modules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Chaos engineering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2"/>
          <p:cNvSpPr/>
          <p:nvPr/>
        </p:nvSpPr>
        <p:spPr>
          <a:xfrm>
            <a:off x="457200" y="48920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Chimera — Monolith Decomposition Plan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8046720" y="4892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0" y="4855464"/>
            <a:ext cx="9144000" cy="18288"/>
          </a:xfrm>
          <a:prstGeom prst="rect">
            <a:avLst/>
          </a:prstGeom>
          <a:solidFill>
            <a:srgbClr val="CBD5E1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4754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Matrix &amp; Monitoring Stack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CBD5E1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86384"/>
          <a:ext cx="48463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57200"/>
                <a:gridCol w="502920"/>
                <a:gridCol w="502920"/>
                <a:gridCol w="2011680"/>
              </a:tblGrid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Saga failures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Compensation + feature flag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instability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Confluent Cloud + specialist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inconsist.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Debezium CDC + hourly recon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latency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200ms budget + circuit break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overload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Phased tools + office hours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 scope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review M2 + Stripe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66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STACK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CBD5E1"/>
          </a:solidFill>
          <a:ln/>
        </p:spPr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786384"/>
          <a:ext cx="32004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371600"/>
                <a:gridCol w="1188720"/>
                <a:gridCol w="132588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Threshold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+ Grafana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metrics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&gt;1% / 5min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Jaeger + OTEL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flow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&gt;2s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ELK Stack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JSON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&gt;50/min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K8s probes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Svc availability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fail → page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Datadog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flows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fail → page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48920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Chimera — Monolith Decomposition Plan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8046720" y="4892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0" y="4855464"/>
            <a:ext cx="9144000" cy="18288"/>
          </a:xfrm>
          <a:prstGeom prst="rect">
            <a:avLst/>
          </a:prstGeom>
          <a:solidFill>
            <a:srgbClr val="CBD5E1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4754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 &amp; Squad Structure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TARGETS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CBD5E1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86384"/>
          <a:ext cx="49377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  <a:gridCol w="804672"/>
                <a:gridCol w="86868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6-Month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12-Month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frequency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1.8/wk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3/wk/svc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1+/day/svc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 days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days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 days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failure 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MTTR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hrs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hrs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&lt;30 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 API latency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820ms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&lt;200ms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time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&lt;8 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flakiness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satisfaction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5.8/10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7.0/10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8.0/10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669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OWNERSHIP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CBD5E1"/>
          </a:solidFill>
          <a:ln/>
        </p:spPr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786384"/>
          <a:ext cx="31089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71600"/>
                <a:gridCol w="411480"/>
                <a:gridCol w="9601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On-Call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User, Auth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Order, Payment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Notifications, GW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Kafka, K8s, Monitor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(primary)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577840" y="2834640"/>
            <a:ext cx="3108960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577840" y="2834640"/>
            <a:ext cx="54864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9"/>
          <p:cNvSpPr/>
          <p:nvPr/>
        </p:nvSpPr>
        <p:spPr>
          <a:xfrm>
            <a:off x="5687568" y="2834640"/>
            <a:ext cx="294436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squad is primary on-call for all infrastructure. Service squads escalate Kafka/K8s issues to SRE first.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57200" y="48920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Chimera — Monolith Decomposition Plan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8046720" y="4892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0" y="4855464"/>
            <a:ext cx="9144000" cy="18288"/>
          </a:xfrm>
          <a:prstGeom prst="rect">
            <a:avLst/>
          </a:prstGeom>
          <a:solidFill>
            <a:srgbClr val="CBD5E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Chimera: Monolith Decomposition Plan</dc:title>
  <dc:subject>PptxGenJS Presentation</dc:subject>
  <dc:creator>Engineering</dc:creator>
  <cp:lastModifiedBy>Engineering</cp:lastModifiedBy>
  <cp:revision>1</cp:revision>
  <dcterms:created xsi:type="dcterms:W3CDTF">2026-03-30T21:35:18Z</dcterms:created>
  <dcterms:modified xsi:type="dcterms:W3CDTF">2026-03-30T21:35:18Z</dcterms:modified>
</cp:coreProperties>
</file>