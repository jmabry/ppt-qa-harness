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CHIMERA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Monolith</a:t>
            </a:r>
            <a:endParaRPr lang="en-US" sz="3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Decomposition</a:t>
            </a:r>
            <a:endParaRPr lang="en-US" sz="3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Atlas: 340K LOC  |  14 Django Apps  |  2,800 Tables  |  22 Engineers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760720" y="274320"/>
            <a:ext cx="1463040" cy="914400"/>
          </a:xfrm>
          <a:prstGeom prst="rect">
            <a:avLst>
              <a:gd name="adj" fmla="val 5000"/>
            </a:avLst>
          </a:prstGeom>
          <a:solidFill>
            <a:srgbClr val="001225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0" y="34747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340K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760720" y="7315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60720" y="93268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406640" y="274320"/>
            <a:ext cx="1463040" cy="914400"/>
          </a:xfrm>
          <a:prstGeom prst="rect">
            <a:avLst>
              <a:gd name="adj" fmla="val 5000"/>
            </a:avLst>
          </a:prstGeom>
          <a:solidFill>
            <a:srgbClr val="001225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34747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2,800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06640" y="7315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06640" y="93268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760720" y="1325880"/>
            <a:ext cx="1463040" cy="914400"/>
          </a:xfrm>
          <a:prstGeom prst="rect">
            <a:avLst>
              <a:gd name="adj" fmla="val 5000"/>
            </a:avLst>
          </a:prstGeom>
          <a:solidFill>
            <a:srgbClr val="001225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0" y="139903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760720" y="17830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60720" y="198424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squads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406640" y="1325880"/>
            <a:ext cx="1463040" cy="914400"/>
          </a:xfrm>
          <a:prstGeom prst="rect">
            <a:avLst>
              <a:gd name="adj" fmla="val 5000"/>
            </a:avLst>
          </a:prstGeom>
          <a:solidFill>
            <a:srgbClr val="001225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0" y="139903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$133K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406640" y="17830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Waste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06640" y="198424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~1,400 eng-hrs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468880"/>
            <a:ext cx="8229600" cy="27432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542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METRICS &amp; PAIN POINTS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645920"/>
                <a:gridCol w="2926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P50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/ 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frequency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1.8/week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1/day - 1/week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 of 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 (commit to prod)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 - 1 week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 over ceiling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failure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0 - 15%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threshold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MTTR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 hours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hour - 1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but slow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build 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Context-switch tax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conflicts/week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 avg (peak 8)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Cross-team coordination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Rollback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in 5.5 deploys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release confidence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flakiness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6.8% CI runs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Retry-and-pray culture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Strangler Fig  |  API Gateway  |  Event-Driven  |  Service per Domain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394960" cy="27432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4183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BOUNDARIES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53949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1005840"/>
                <a:gridCol w="109728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+ gRPC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C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+ events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C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 + Stripe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(sync)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Elasticsearch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 Svc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 + SQS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events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Svc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ClickHouse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gRPC internal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868680"/>
            <a:ext cx="2926080" cy="27432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9418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17920" y="1280160"/>
            <a:ext cx="2377440" cy="365760"/>
          </a:xfrm>
          <a:prstGeom prst="rect">
            <a:avLst>
              <a:gd name="adj" fmla="val 12500"/>
            </a:avLst>
          </a:prstGeom>
          <a:solidFill>
            <a:srgbClr val="003566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(Kong)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315200" y="1645920"/>
            <a:ext cx="182880" cy="182880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12" name="Shape 9"/>
          <p:cNvSpPr/>
          <p:nvPr/>
        </p:nvSpPr>
        <p:spPr>
          <a:xfrm>
            <a:off x="6035040" y="1920240"/>
            <a:ext cx="868680" cy="411480"/>
          </a:xfrm>
          <a:prstGeom prst="rect">
            <a:avLst>
              <a:gd name="adj" fmla="val 8889"/>
            </a:avLst>
          </a:prstGeom>
          <a:solidFill>
            <a:srgbClr val="0A3D6B"/>
          </a:solidFill>
          <a:ln/>
        </p:spPr>
      </p:sp>
      <p:sp>
        <p:nvSpPr>
          <p:cNvPr id="13" name="Text 10"/>
          <p:cNvSpPr/>
          <p:nvPr/>
        </p:nvSpPr>
        <p:spPr>
          <a:xfrm>
            <a:off x="6035040" y="192024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995160" y="1920240"/>
            <a:ext cx="868680" cy="411480"/>
          </a:xfrm>
          <a:prstGeom prst="rect">
            <a:avLst>
              <a:gd name="adj" fmla="val 8889"/>
            </a:avLst>
          </a:prstGeom>
          <a:solidFill>
            <a:srgbClr val="0A3D6B"/>
          </a:solidFill>
          <a:ln/>
        </p:spPr>
      </p:sp>
      <p:sp>
        <p:nvSpPr>
          <p:cNvPr id="15" name="Text 12"/>
          <p:cNvSpPr/>
          <p:nvPr/>
        </p:nvSpPr>
        <p:spPr>
          <a:xfrm>
            <a:off x="6995160" y="192024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955280" y="1920240"/>
            <a:ext cx="868680" cy="411480"/>
          </a:xfrm>
          <a:prstGeom prst="rect">
            <a:avLst>
              <a:gd name="adj" fmla="val 8889"/>
            </a:avLst>
          </a:prstGeom>
          <a:solidFill>
            <a:srgbClr val="0A3D6B"/>
          </a:solidFill>
          <a:ln/>
        </p:spPr>
      </p:sp>
      <p:sp>
        <p:nvSpPr>
          <p:cNvPr id="17" name="Text 14"/>
          <p:cNvSpPr/>
          <p:nvPr/>
        </p:nvSpPr>
        <p:spPr>
          <a:xfrm>
            <a:off x="7955280" y="192024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035040" y="2423160"/>
            <a:ext cx="868680" cy="411480"/>
          </a:xfrm>
          <a:prstGeom prst="rect">
            <a:avLst>
              <a:gd name="adj" fmla="val 8889"/>
            </a:avLst>
          </a:prstGeom>
          <a:solidFill>
            <a:srgbClr val="0D2240"/>
          </a:solidFill>
          <a:ln/>
        </p:spPr>
      </p:sp>
      <p:sp>
        <p:nvSpPr>
          <p:cNvPr id="19" name="Text 16"/>
          <p:cNvSpPr/>
          <p:nvPr/>
        </p:nvSpPr>
        <p:spPr>
          <a:xfrm>
            <a:off x="6035040" y="242316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995160" y="2423160"/>
            <a:ext cx="868680" cy="411480"/>
          </a:xfrm>
          <a:prstGeom prst="rect">
            <a:avLst>
              <a:gd name="adj" fmla="val 8889"/>
            </a:avLst>
          </a:prstGeom>
          <a:solidFill>
            <a:srgbClr val="0D2240"/>
          </a:solidFill>
          <a:ln/>
        </p:spPr>
      </p:sp>
      <p:sp>
        <p:nvSpPr>
          <p:cNvPr id="21" name="Text 18"/>
          <p:cNvSpPr/>
          <p:nvPr/>
        </p:nvSpPr>
        <p:spPr>
          <a:xfrm>
            <a:off x="6995160" y="242316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7955280" y="2423160"/>
            <a:ext cx="868680" cy="411480"/>
          </a:xfrm>
          <a:prstGeom prst="rect">
            <a:avLst>
              <a:gd name="adj" fmla="val 8889"/>
            </a:avLst>
          </a:prstGeom>
          <a:solidFill>
            <a:srgbClr val="0D2240"/>
          </a:solidFill>
          <a:ln/>
        </p:spPr>
      </p:sp>
      <p:sp>
        <p:nvSpPr>
          <p:cNvPr id="23" name="Text 20"/>
          <p:cNvSpPr/>
          <p:nvPr/>
        </p:nvSpPr>
        <p:spPr>
          <a:xfrm>
            <a:off x="7955280" y="242316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035040" y="2971800"/>
            <a:ext cx="2743200" cy="320040"/>
          </a:xfrm>
          <a:prstGeom prst="rect">
            <a:avLst>
              <a:gd name="adj" fmla="val 11429"/>
            </a:avLst>
          </a:prstGeom>
          <a:solidFill>
            <a:srgbClr val="1A1500"/>
          </a:solidFill>
          <a:ln/>
        </p:spPr>
      </p:sp>
      <p:sp>
        <p:nvSpPr>
          <p:cNvPr id="25" name="Text 22"/>
          <p:cNvSpPr/>
          <p:nvPr/>
        </p:nvSpPr>
        <p:spPr>
          <a:xfrm>
            <a:off x="603504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Bus (Kafka)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035040" y="3383280"/>
            <a:ext cx="2743200" cy="320040"/>
          </a:xfrm>
          <a:prstGeom prst="rect">
            <a:avLst>
              <a:gd name="adj" fmla="val 11429"/>
            </a:avLst>
          </a:prstGeom>
          <a:solidFill>
            <a:srgbClr val="0D1520"/>
          </a:solidFill>
          <a:ln/>
        </p:spPr>
      </p:sp>
      <p:sp>
        <p:nvSpPr>
          <p:cNvPr id="27" name="Text 24"/>
          <p:cNvSpPr/>
          <p:nvPr/>
        </p:nvSpPr>
        <p:spPr>
          <a:xfrm>
            <a:off x="603504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x4  |  ES  |  ClickHouse  |  Redis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274320" y="3337560"/>
            <a:ext cx="5394960" cy="27432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29" name="Text 26"/>
          <p:cNvSpPr/>
          <p:nvPr/>
        </p:nvSpPr>
        <p:spPr>
          <a:xfrm>
            <a:off x="274320" y="341071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274320" y="3657600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Database-per-service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shared tables. Each service owns its data. Cross-service queries via events or API calls.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async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Kafka for inter-service communication. Sync REST only for user-facing checkout flow.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Strangler Fig pattern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Incremental extraction behind API gateway. Monolith stays live. Rollback = route back to monolith.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3566"/>
          </a:solidFill>
          <a:ln/>
        </p:spPr>
      </p:sp>
      <p:sp>
        <p:nvSpPr>
          <p:cNvPr id="32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Decision Record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Strangler Fig, Not Rewrite, Not Modularize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2468880"/>
          </a:xfrm>
          <a:prstGeom prst="rect">
            <a:avLst>
              <a:gd name="adj" fmla="val 2222"/>
            </a:avLst>
          </a:prstGeom>
          <a:solidFill>
            <a:srgbClr val="00122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2412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REWRITE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2377440" cy="13716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54480"/>
            <a:ext cx="23774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B0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14-18 months with 8 engineers (Go + gRPC greenfield)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B0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Dual-system maintenance: monolith + new system in parallel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B0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340K lines of tested business logic must be re-discovered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B0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data: rewrites take 2-3x longer than estimated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B0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Netscape, Basecamp case studies show high failure rate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51760" cy="2468880"/>
          </a:xfrm>
          <a:prstGeom prst="rect">
            <a:avLst>
              <a:gd name="adj" fmla="val 2222"/>
            </a:avLst>
          </a:prstGeom>
          <a:solidFill>
            <a:srgbClr val="001225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02412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MODULARIZE MONOLITH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37560" y="126187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37560" y="1481328"/>
            <a:ext cx="2377440" cy="13716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554480"/>
            <a:ext cx="23774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B0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 Q4 2025: 6 weeks extracting Django apps into packages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B0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conflicts dropped 30% but deploy frequency unchanged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B0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47-min CI build didn't improve; blast radius didn't shrink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B0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code organization, not deployment coupling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B0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coupling is the actual bottleneck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35040" y="960120"/>
            <a:ext cx="2651760" cy="2468880"/>
          </a:xfrm>
          <a:prstGeom prst="rect">
            <a:avLst>
              <a:gd name="adj" fmla="val 2222"/>
            </a:avLst>
          </a:prstGeom>
          <a:solidFill>
            <a:srgbClr val="001225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02412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STRANGLER FIG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72200" y="126187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72200" y="1481328"/>
            <a:ext cx="2377440" cy="13716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1554480"/>
            <a:ext cx="23774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B0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extraction: ship value while de-risking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B0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validated in prod alongside monolith before cutover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B0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extraction fails, route traffic back to monolith instantly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B0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prototype: User Service extracted in 3 weeks, zero incidents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B0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bounded to one service at a time, not entire system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566160"/>
            <a:ext cx="8412480" cy="27432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6393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TIMELINE CONFIDENCE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88620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206240"/>
                <a:gridCol w="25603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Extracting (6 services)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User, Order, Payment, Search, Notification, Analytics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C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1-2: 65%  |  Phase 3: 40%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extracting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Reporting, Admin, Billing (low-traffic, low-change; cost &gt; benefit)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 in monolith indefinitely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 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 depends on ClickHouse adoption (unknown learning curve). Padded 2 weeks.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B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 on-time for Phase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3566"/>
          </a:solidFill>
          <a:ln/>
        </p:spPr>
      </p:sp>
      <p:sp>
        <p:nvSpPr>
          <p:cNvPr id="23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6-Month Migration Plan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2743200" cy="320040"/>
          </a:xfrm>
          <a:prstGeom prst="rect">
            <a:avLst>
              <a:gd name="adj" fmla="val 11429"/>
            </a:avLst>
          </a:prstGeom>
          <a:solidFill>
            <a:srgbClr val="0035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85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Foundation  (M1-M2)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46120" y="685800"/>
            <a:ext cx="2743200" cy="320040"/>
          </a:xfrm>
          <a:prstGeom prst="rect">
            <a:avLst>
              <a:gd name="adj" fmla="val 11429"/>
            </a:avLst>
          </a:prstGeom>
          <a:solidFill>
            <a:srgbClr val="0A3D6B"/>
          </a:solidFill>
          <a:ln/>
        </p:spPr>
      </p:sp>
      <p:sp>
        <p:nvSpPr>
          <p:cNvPr id="6" name="Text 4"/>
          <p:cNvSpPr/>
          <p:nvPr/>
        </p:nvSpPr>
        <p:spPr>
          <a:xfrm>
            <a:off x="3246120" y="685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Commerce Core  (M3-M4)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35040" y="685800"/>
            <a:ext cx="2743200" cy="320040"/>
          </a:xfrm>
          <a:prstGeom prst="rect">
            <a:avLst>
              <a:gd name="adj" fmla="val 11429"/>
            </a:avLst>
          </a:prstGeom>
          <a:solidFill>
            <a:srgbClr val="0D2240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0" y="685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Platform &amp; Optimize  (M5-M6)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4023360" cy="27432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1704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FOUNDATION (MONTH 1-2)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28016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API Gateway (Kong)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SPOF - need HA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 w/ OpenTelemetry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 + 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~2-3% overhead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User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migration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up Kafka (3 brokers)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Kafka exp.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migration tooling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consistency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0" y="1097280"/>
            <a:ext cx="4297680" cy="27432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0" y="117043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COMMERCE CORE (MONTH 3-4)</a:t>
            </a:r>
            <a:endParaRPr lang="en-US" sz="10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417320"/>
          <a:ext cx="42976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13716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Order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cross-imports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Payment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 scope change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checkout saga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Comm+Ident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failures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Service extraction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4hr reindex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2834640"/>
            <a:ext cx="4023360" cy="27432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16" name="Text 12"/>
          <p:cNvSpPr/>
          <p:nvPr/>
        </p:nvSpPr>
        <p:spPr>
          <a:xfrm>
            <a:off x="274320" y="29077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PLATFORM &amp; OPTIMIZATION (MONTH 5-6)</a:t>
            </a:r>
            <a:endParaRPr lang="en-US" sz="10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154680"/>
          <a:ext cx="4023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109728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18mo data migration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Decommission monolith modules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squads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coupling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 tuning + chaos eng.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unknowns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</a:tr>
            </a:tbl>
          </a:graphicData>
        </a:graphic>
      </p:graphicFrame>
      <p:sp>
        <p:nvSpPr>
          <p:cNvPr id="18" name="Shape 13"/>
          <p:cNvSpPr/>
          <p:nvPr/>
        </p:nvSpPr>
        <p:spPr>
          <a:xfrm>
            <a:off x="4572000" y="2834640"/>
            <a:ext cx="4297680" cy="27432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19" name="Text 14"/>
          <p:cNvSpPr/>
          <p:nvPr/>
        </p:nvSpPr>
        <p:spPr>
          <a:xfrm>
            <a:off x="4572000" y="29077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&amp; DEPENDENCIES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572000" y="3154680"/>
            <a:ext cx="4297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API Gateway must be live before any extraction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Gateway routes traffic; services are useless without it.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User Service extracted before Order Service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Orders depend on user identity. Extract dependency first.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Kafka operational before Commerce extractions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Order + Payment services communicate via events.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Checkout saga requires Order + Payment + User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All three services must be stable before saga goes live.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Monolith fallback active until Phase 3 complete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Feature flag per service; route back on failure.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3566"/>
          </a:solidFill>
          <a:ln/>
        </p:spPr>
      </p:sp>
      <p:sp>
        <p:nvSpPr>
          <p:cNvPr id="22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Matrix &amp; Observability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MATRIX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0040"/>
                <a:gridCol w="320040"/>
                <a:gridCol w="685800"/>
                <a:gridCol w="48920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 txn failures (checkout saga)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Compensation/rollback per saga step; feature flag fallback to monolith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instability (team inexperience)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8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Hire Kafka specialist 3mo; use Confluent Cloud managed; start with 3 topics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inconsistency (dual-write migration)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8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CDC with Debezium (not app-level dual-write); hourly reconciliation jobs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latency exceeds budget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B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P99 budget 200ms/call; Istio circuit breakers 500ms timeout; async-first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cognitive overload (new tools)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B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tool adoption: Kafka M1, Istio M3, ClickHouse M5; weekly arch hours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 scope expansion (Payment Svc)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B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review M2; use Stripe hosted checkout; document compliance bounds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2971800"/>
            <a:ext cx="8595360" cy="27432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30449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OBSERVABILITY STACK</a:t>
            </a:r>
            <a:endParaRPr lang="en-US" sz="10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291840"/>
          <a:ext cx="85953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645920"/>
                <a:gridCol w="2926080"/>
                <a:gridCol w="310896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Threshold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+ Grafana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RED: rate, error, duration; saturation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 &gt; 1% (5m) | P99 &gt; 500ms (10m)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Jaeger + OpenTelemetry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request flow across services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 &gt; 2s | Span errors &gt; 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ELK Stack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JSON; correlation IDs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rate &gt; 50/min per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K8s probes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Liveness + readiness; dependency health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Probe fail = restart; 3x = page SRE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Datadog Synthetics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 search, checkout, payment flows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failure = immediate page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PagerDuty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page | P2 Slack | P3 next biz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Tiered escalation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274320" y="4572000"/>
            <a:ext cx="8595360" cy="1828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0" name="Text 6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Grafana Dashboards: </a:t>
            </a:r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Overview (RED per svc)  |  Kafka Health (consumer lag, replication)  |  Checkout Saga (success rate, step failures)  |  Deploy Tracker (canary, rollbacks)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3566"/>
          </a:solidFill>
          <a:ln/>
        </p:spPr>
      </p:sp>
      <p:sp>
        <p:nvSpPr>
          <p:cNvPr id="12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Metrics &amp; Team Ownership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 TARGETS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371600"/>
                <a:gridCol w="1371600"/>
                <a:gridCol w="164592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6-Month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12-Month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frequency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1.8/week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3/week per svc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1+/day per svc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merge to deploy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failure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Hotfix / total deploys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MTTR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 hours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hours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30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PagerDuty incidents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P99 API latency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820ms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200ms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histograms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build 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min/svc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8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flakiness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failure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satisfaction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5.8/10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7.0/10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8.0/10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survey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200400"/>
            <a:ext cx="8595360" cy="27432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32735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TEAM STRUCTURE: YOU BUILD IT, YOU RUN IT</a:t>
            </a:r>
            <a:endParaRPr lang="en-US" sz="10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520440"/>
          <a:ext cx="8595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657600"/>
                <a:gridCol w="914400"/>
                <a:gridCol w="2926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 Owned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0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Service, Auth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eng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pager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Service, Payment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eng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pager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eng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w/ 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 Svc, API Gateway, shared libs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eng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pager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eng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w/ 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1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Kafka, Kubernetes, monitoring, incident response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eng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escalation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5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274320" y="4663440"/>
            <a:ext cx="8595360" cy="1828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0" name="Text 6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</a:t>
            </a:r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squad owns their service SLOs, deploys independently, and carries their own pager. SRE provides platform, not babysitting. Coordination overhead drops from O(n²) to O(n).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3566"/>
          </a:solidFill>
          <a:ln/>
        </p:spPr>
      </p:sp>
      <p:sp>
        <p:nvSpPr>
          <p:cNvPr id="12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Chimera: Monolith Decomposition Plan</dc:title>
  <dc:subject>PptxGenJS Presentation</dc:subject>
  <dc:creator>Project Chimera</dc:creator>
  <cp:lastModifiedBy>Project Chimera</cp:lastModifiedBy>
  <cp:revision>1</cp:revision>
  <dcterms:created xsi:type="dcterms:W3CDTF">2026-03-30T21:29:44Z</dcterms:created>
  <dcterms:modified xsi:type="dcterms:W3CDTF">2026-03-30T21:29:44Z</dcterms:modified>
</cp:coreProperties>
</file>