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23160"/>
            <a:ext cx="3200400" cy="36576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Migrating from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 to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Microservices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Backend Engineering Teams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Engineer, Platform Team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777240"/>
          </a:xfrm>
          <a:prstGeom prst="rect">
            <a:avLst/>
          </a:prstGeom>
          <a:solidFill>
            <a:srgbClr val="003566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920240"/>
            <a:ext cx="2743200" cy="777240"/>
          </a:xfrm>
          <a:prstGeom prst="rect">
            <a:avLst/>
          </a:prstGeom>
          <a:solidFill>
            <a:srgbClr val="001D3D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2926080"/>
            <a:ext cx="2743200" cy="777240"/>
          </a:xfrm>
          <a:prstGeom prst="rect">
            <a:avLst/>
          </a:prstGeom>
          <a:solidFill>
            <a:srgbClr val="003566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691640"/>
            <a:ext cx="0" cy="22860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697480"/>
            <a:ext cx="0" cy="22860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914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MICROSERVICES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Monolith: Where We Are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3291840"/>
          </a:xfrm>
          <a:prstGeom prst="rect">
            <a:avLst>
              <a:gd name="adj" fmla="val 1071"/>
            </a:avLst>
          </a:prstGeom>
          <a:solidFill>
            <a:srgbClr val="001D3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Bottleneck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artifact means every change requires full regression. Average deploy cycle: 2 weeks. One broken test blocks 20 engineers.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291840"/>
          </a:xfrm>
          <a:prstGeom prst="rect">
            <a:avLst>
              <a:gd name="adj" fmla="val 1071"/>
            </a:avLst>
          </a:prstGeom>
          <a:solidFill>
            <a:srgbClr val="001D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463040"/>
            <a:ext cx="457200" cy="45720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Blast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leak in payments takes down search, checkout, and user profiles. No fault isolation between domains.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560320" cy="3291840"/>
          </a:xfrm>
          <a:prstGeom prst="rect">
            <a:avLst>
              <a:gd name="adj" fmla="val 1071"/>
            </a:avLst>
          </a:prstGeom>
          <a:solidFill>
            <a:srgbClr val="001D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Coupling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codebase forces coordination overhead. Merge conflicts across teams. Code ownership is unclear.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640080"/>
          </a:xfrm>
          <a:prstGeom prst="rect">
            <a:avLst>
              <a:gd name="adj" fmla="val 4286"/>
            </a:avLst>
          </a:prstGeom>
          <a:solidFill>
            <a:srgbClr val="00356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88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0" cy="27432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103120"/>
            <a:ext cx="1371600" cy="914400"/>
          </a:xfrm>
          <a:prstGeom prst="rect">
            <a:avLst>
              <a:gd name="adj" fmla="val 3000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2103120"/>
            <a:ext cx="1371600" cy="914400"/>
          </a:xfrm>
          <a:prstGeom prst="rect">
            <a:avLst>
              <a:gd name="adj" fmla="val 3000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103120"/>
            <a:ext cx="1371600" cy="914400"/>
          </a:xfrm>
          <a:prstGeom prst="rect">
            <a:avLst>
              <a:gd name="adj" fmla="val 3000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103120"/>
            <a:ext cx="1371600" cy="914400"/>
          </a:xfrm>
          <a:prstGeom prst="rect">
            <a:avLst>
              <a:gd name="adj" fmla="val 3000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3017520"/>
            <a:ext cx="0" cy="274320"/>
          </a:xfrm>
          <a:prstGeom prst="line">
            <a:avLst/>
          </a:prstGeom>
          <a:noFill/>
          <a:ln w="12700">
            <a:solidFill>
              <a:srgbClr val="FFC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017520"/>
            <a:ext cx="0" cy="274320"/>
          </a:xfrm>
          <a:prstGeom prst="line">
            <a:avLst/>
          </a:prstGeom>
          <a:noFill/>
          <a:ln w="12700">
            <a:solidFill>
              <a:srgbClr val="FFC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017520"/>
            <a:ext cx="0" cy="274320"/>
          </a:xfrm>
          <a:prstGeom prst="line">
            <a:avLst/>
          </a:prstGeom>
          <a:noFill/>
          <a:ln w="12700">
            <a:solidFill>
              <a:srgbClr val="FFC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3017520"/>
            <a:ext cx="0" cy="274320"/>
          </a:xfrm>
          <a:prstGeom prst="line">
            <a:avLst/>
          </a:prstGeom>
          <a:noFill/>
          <a:ln w="12700">
            <a:solidFill>
              <a:srgbClr val="FFC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291840"/>
            <a:ext cx="6400800" cy="640080"/>
          </a:xfrm>
          <a:prstGeom prst="rect">
            <a:avLst>
              <a:gd name="adj" fmla="val 4286"/>
            </a:avLst>
          </a:prstGeom>
          <a:solidFill>
            <a:srgbClr val="003566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BUS  (Kafka / RabbitMQ)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03120" y="3931920"/>
            <a:ext cx="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417320" y="4160520"/>
            <a:ext cx="1371600" cy="4572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931920"/>
            <a:ext cx="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971800" y="4160520"/>
            <a:ext cx="1371600" cy="4572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3931920"/>
            <a:ext cx="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26280" y="4160520"/>
            <a:ext cx="1371600" cy="4572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931920"/>
            <a:ext cx="0" cy="22860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080760" y="4160520"/>
            <a:ext cx="1371600" cy="4572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" y="1188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1508760"/>
            <a:ext cx="36576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 Strategy: Strangler Fig Pattern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 replace monolith capabilities with services, routing traffic progressively.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38100">
            <a:solidFill>
              <a:srgbClr val="003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domain contexts.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APIs.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DB dependencies.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32918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API gateway.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traffic to monolith.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observability hooks.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10312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32918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one domain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time. Dual-write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consistency.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210312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legacy code.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data stores.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old infra.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Matrix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IMPACT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LIKELIHOOD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MITIGATION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inconsistency during dual-write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sourcing + idempotent consumers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Service-to-service latency spikes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breakers + timeout budgets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tracing 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trace context propagation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skill gaps with new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Pairing sessions + runbooks from week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8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and gold-plating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C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phase gates, no re-architecture mid-flight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D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6-Month Phased Rollout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0515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0515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0515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10515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43800" y="10515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371600"/>
            <a:ext cx="7406640" cy="0"/>
          </a:xfrm>
          <a:prstGeom prst="line">
            <a:avLst/>
          </a:prstGeom>
          <a:noFill/>
          <a:ln w="12700">
            <a:solidFill>
              <a:srgbClr val="00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Mapping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1508760"/>
            <a:ext cx="1851660" cy="411480"/>
          </a:xfrm>
          <a:prstGeom prst="rect">
            <a:avLst>
              <a:gd name="adj" fmla="val 6667"/>
            </a:avLst>
          </a:prstGeom>
          <a:solidFill>
            <a:srgbClr val="00356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508760"/>
            <a:ext cx="18516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Boundary Mapping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" y="20299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Setup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2029968"/>
            <a:ext cx="1851660" cy="411480"/>
          </a:xfrm>
          <a:prstGeom prst="rect">
            <a:avLst>
              <a:gd name="adj" fmla="val 6667"/>
            </a:avLst>
          </a:prstGeom>
          <a:solidFill>
            <a:srgbClr val="1B4965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029968"/>
            <a:ext cx="18516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Proxy Setup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" y="25511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User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2551176"/>
            <a:ext cx="2468880" cy="411480"/>
          </a:xfrm>
          <a:prstGeom prst="rect">
            <a:avLst>
              <a:gd name="adj" fmla="val 6667"/>
            </a:avLst>
          </a:prstGeom>
          <a:solidFill>
            <a:srgbClr val="003566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5511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User Service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" y="307238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92140" y="3072384"/>
            <a:ext cx="2468880" cy="411480"/>
          </a:xfrm>
          <a:prstGeom prst="rect">
            <a:avLst>
              <a:gd name="adj" fmla="val 6667"/>
            </a:avLst>
          </a:prstGeom>
          <a:solidFill>
            <a:srgbClr val="1B4965"/>
          </a:solidFill>
          <a:ln/>
        </p:spPr>
      </p:sp>
      <p:sp>
        <p:nvSpPr>
          <p:cNvPr id="23" name="Text 21"/>
          <p:cNvSpPr/>
          <p:nvPr/>
        </p:nvSpPr>
        <p:spPr>
          <a:xfrm>
            <a:off x="5692140" y="30723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" y="35935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Payment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26580" y="3593592"/>
            <a:ext cx="1851660" cy="411480"/>
          </a:xfrm>
          <a:prstGeom prst="rect">
            <a:avLst>
              <a:gd name="adj" fmla="val 6667"/>
            </a:avLst>
          </a:prstGeom>
          <a:solidFill>
            <a:srgbClr val="003566"/>
          </a:solidFill>
          <a:ln/>
        </p:spPr>
      </p:sp>
      <p:sp>
        <p:nvSpPr>
          <p:cNvPr id="26" name="Text 24"/>
          <p:cNvSpPr/>
          <p:nvPr/>
        </p:nvSpPr>
        <p:spPr>
          <a:xfrm>
            <a:off x="6926580" y="3593592"/>
            <a:ext cx="18516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Payment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" y="4114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4114800"/>
            <a:ext cx="2468880" cy="411480"/>
          </a:xfrm>
          <a:prstGeom prst="rect">
            <a:avLst>
              <a:gd name="adj" fmla="val 6667"/>
            </a:avLst>
          </a:prstGeom>
          <a:solidFill>
            <a:srgbClr val="1B4965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Hardening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31820" y="4572000"/>
            <a:ext cx="182880" cy="1828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1" name="Text 29"/>
          <p:cNvSpPr/>
          <p:nvPr/>
        </p:nvSpPr>
        <p:spPr>
          <a:xfrm>
            <a:off x="258318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572000"/>
            <a:ext cx="182880" cy="1828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Traffic Migrated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0" y="4572000"/>
            <a:ext cx="182880" cy="1828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Retired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 &amp; Observability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from day one. You cannot debug what you cannot see.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" cy="41148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 Tracing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/ OpenTelemetry across every service boundary. Mandatory trace-id propagation.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Logging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with correlation IDs. Ship to centralized ELK stack. Standardize log levels.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&amp; Dashboards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metrics (Rate, Errors, Duration) per service. Grafana dashboards per squad.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411480" cy="41148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 &amp; SLOs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9496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SLOs before launch. Alert on burn rate, not raw thresholds. PagerDuty integration.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411480" cy="41148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Checks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94960" y="2880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readiness probes. Dependency health checks. Circuit breaker status.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794760"/>
            <a:ext cx="411480" cy="41148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 Monitoring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canary tests. Continuously verify critical user journeys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Structure: Service-Aligned Squads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657600"/>
          </a:xfrm>
          <a:prstGeom prst="rect">
            <a:avLst>
              <a:gd name="adj" fmla="val 750"/>
            </a:avLst>
          </a:prstGeom>
          <a:solidFill>
            <a:srgbClr val="001D3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3657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Feature 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engineers in one monolith repo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merge conflicts daily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on-call rotation (noisy)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code ownership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overhead scales O(n^2)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657600"/>
            <a:ext cx="2560320" cy="731520"/>
          </a:xfrm>
          <a:prstGeom prst="rect">
            <a:avLst>
              <a:gd name="adj" fmla="val 3750"/>
            </a:avLst>
          </a:prstGeom>
          <a:solidFill>
            <a:srgbClr val="00356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 REPO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3657600"/>
          </a:xfrm>
          <a:prstGeom prst="rect">
            <a:avLst>
              <a:gd name="adj" fmla="val 750"/>
            </a:avLst>
          </a:prstGeom>
          <a:solidFill>
            <a:srgbClr val="001D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97280"/>
            <a:ext cx="64008" cy="3657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Service Squads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7373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engineers per squad, owns 1 service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 cadence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scoped to own service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ownership: build, run, support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for shared infra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3657600"/>
            <a:ext cx="777240" cy="731520"/>
          </a:xfrm>
          <a:prstGeom prst="rect">
            <a:avLst>
              <a:gd name="adj" fmla="val 3750"/>
            </a:avLst>
          </a:prstGeom>
          <a:solidFill>
            <a:srgbClr val="00356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65760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3657600"/>
            <a:ext cx="777240" cy="731520"/>
          </a:xfrm>
          <a:prstGeom prst="rect">
            <a:avLst>
              <a:gd name="adj" fmla="val 3750"/>
            </a:avLst>
          </a:prstGeom>
          <a:solidFill>
            <a:srgbClr val="003566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65760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3657600"/>
            <a:ext cx="777240" cy="731520"/>
          </a:xfrm>
          <a:prstGeom prst="rect">
            <a:avLst>
              <a:gd name="adj" fmla="val 3750"/>
            </a:avLst>
          </a:prstGeom>
          <a:solidFill>
            <a:srgbClr val="00356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65760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3657600"/>
            <a:ext cx="777240" cy="731520"/>
          </a:xfrm>
          <a:prstGeom prst="rect">
            <a:avLst>
              <a:gd name="adj" fmla="val 3750"/>
            </a:avLst>
          </a:prstGeom>
          <a:solidFill>
            <a:srgbClr val="003566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365760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828800"/>
          </a:xfrm>
          <a:prstGeom prst="rect">
            <a:avLst>
              <a:gd name="adj" fmla="val 1500"/>
            </a:avLst>
          </a:prstGeom>
          <a:solidFill>
            <a:srgbClr val="001D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200ms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 Latency Target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Per-service, measured at gateway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828800"/>
          </a:xfrm>
          <a:prstGeom prst="rect">
            <a:avLst>
              <a:gd name="adj" fmla="val 1500"/>
            </a:avLst>
          </a:prstGeom>
          <a:solidFill>
            <a:srgbClr val="001D3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10x/day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Frequency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service, independent pipelines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828800"/>
          </a:xfrm>
          <a:prstGeom prst="rect">
            <a:avLst>
              <a:gd name="adj" fmla="val 1500"/>
            </a:avLst>
          </a:prstGeom>
          <a:solidFill>
            <a:srgbClr val="001D3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30min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Target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 per incident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965960" cy="1508760"/>
          </a:xfrm>
          <a:prstGeom prst="rect">
            <a:avLst>
              <a:gd name="adj" fmla="val 1818"/>
            </a:avLst>
          </a:prstGeom>
          <a:solidFill>
            <a:srgbClr val="001D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83280"/>
            <a:ext cx="164592" cy="164592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Failure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today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246120"/>
            <a:ext cx="1965960" cy="1508760"/>
          </a:xfrm>
          <a:prstGeom prst="rect">
            <a:avLst>
              <a:gd name="adj" fmla="val 1818"/>
            </a:avLst>
          </a:prstGeom>
          <a:solidFill>
            <a:srgbClr val="001D3D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3383280"/>
            <a:ext cx="164592" cy="164592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4" name="Text 22"/>
          <p:cNvSpPr/>
          <p:nvPr/>
        </p:nvSpPr>
        <p:spPr>
          <a:xfrm>
            <a:off x="29718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Time for Changes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703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day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743200" y="4206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weeks today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246120"/>
            <a:ext cx="1965960" cy="1508760"/>
          </a:xfrm>
          <a:prstGeom prst="rect">
            <a:avLst>
              <a:gd name="adj" fmla="val 1818"/>
            </a:avLst>
          </a:prstGeom>
          <a:solidFill>
            <a:srgbClr val="001D3D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383280"/>
            <a:ext cx="164592" cy="164592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Availability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703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99.95%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92040" y="4206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(monolith)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3246120"/>
            <a:ext cx="1965960" cy="1508760"/>
          </a:xfrm>
          <a:prstGeom prst="rect">
            <a:avLst>
              <a:gd name="adj" fmla="val 1818"/>
            </a:avLst>
          </a:prstGeom>
          <a:solidFill>
            <a:srgbClr val="001D3D"/>
          </a:solidFill>
          <a:ln/>
        </p:spPr>
      </p:sp>
      <p:sp>
        <p:nvSpPr>
          <p:cNvPr id="33" name="Shape 31"/>
          <p:cNvSpPr/>
          <p:nvPr/>
        </p:nvSpPr>
        <p:spPr>
          <a:xfrm>
            <a:off x="7040880" y="3383280"/>
            <a:ext cx="164592" cy="164592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On-Call Alert Noise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703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-70%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040880" y="4206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 service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254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971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lets us migrate incrementally without big-bang risk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 follow domain contexts, not technical layers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not optional -- instrument from day one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topology drives architecture; align squads to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4297680"/>
            <a:ext cx="4572000" cy="548640"/>
          </a:xfrm>
          <a:prstGeom prst="rect">
            <a:avLst>
              <a:gd name="adj" fmla="val 5000"/>
            </a:avLst>
          </a:prstGeom>
          <a:solidFill>
            <a:srgbClr val="001D3D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  |  achen@company.dev  |  #platform-eng on Slack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Migrating from Monolith to Microservices</dc:title>
  <dc:subject>PptxGenJS Presentation</dc:subject>
  <dc:creator>Platform Engineering Team</dc:creator>
  <cp:lastModifiedBy>Platform Engineering Team</cp:lastModifiedBy>
  <cp:revision>1</cp:revision>
  <dcterms:created xsi:type="dcterms:W3CDTF">2026-03-30T17:55:49Z</dcterms:created>
  <dcterms:modified xsi:type="dcterms:W3CDTF">2026-03-30T17:55:49Z</dcterms:modified>
</cp:coreProperties>
</file>