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UNITED AIRLINES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HOLDINGS, INC.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Full-Year Results &amp; 2026 Outlook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January 20,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6863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UAL    |    Star Alliance Member    |    World's Largest Airline by ASMs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331720"/>
            <a:ext cx="69174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is the world's largest airline by ASMs, operating from seven fortress hubs with #1 market share in six of seven. 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2022–2025 EPS plateau ($10.05–$10.62) masks a deliberate transformation: revenue grew 31% while the company absorbed $10B+ in pilot contract costs and $2B+ in flight attendant increases — the largest labor cost step-up in airline history. That cost absorption cycle is now largely complete.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guidance of $12–14 EPS (+22% at midpoint) marks the first time UAL would materially exceed its 2019 peak of $12.05, signaling the multi-year fleet investment cycle is producing returns rather than absorbing costs. Premium revenue (+11% YoY), a loyalty program potentially worth $22B+ standalone, 630+ aircraft on order, and a clear path to investment-grade credit create a compounding value creation story that the market has not fully re-rated.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1417320" cy="86868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018642"/>
            <a:ext cx="1417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$59.1B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06640" y="1435608"/>
            <a:ext cx="123444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920240"/>
            <a:ext cx="1417320" cy="86868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2024482"/>
            <a:ext cx="1417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$13.00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06640" y="2441448"/>
            <a:ext cx="123444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 EPS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2926080"/>
            <a:ext cx="1417320" cy="86868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3030322"/>
            <a:ext cx="1417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3447288"/>
            <a:ext cx="123444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on 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3931920"/>
            <a:ext cx="1417320" cy="86868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4036162"/>
            <a:ext cx="1417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4453128"/>
            <a:ext cx="123444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&lt;2.0× Target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MULTI-YEAR FINANCIAL RECOVERY ARC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COVID trough through 2025 actual and 2026 guidance — the EPS plateau explained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1162594"/>
                <a:gridCol w="1162594"/>
                <a:gridCol w="1162594"/>
                <a:gridCol w="1162594"/>
                <a:gridCol w="1162594"/>
                <a:gridCol w="1162594"/>
                <a:gridCol w="1162594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$12–14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Pre-Tax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ASMs (B)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(year-end)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200400"/>
            <a:ext cx="8138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CONTEXT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349300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flat at ~$10.60 for four years is not a value trap — it’s a deliberate cost absorption cycle. Revenue grew 31% since 2022 on 33% ASM growth. The pilot contract ($10B cumulative, 34–40% raises) and flight attendant deal (20–28% raises) created a multi-year earnings plateau now largely behind the company. The 2026 $12–14 guidance is the first time UAL expects to materially exceed the 2019 peak of $12.05 EPS, signaling the investment cycle is finally producing returns.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FY2025 QUARTERLY P&amp;L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cadence, Q4 comp challenge, and the guidance revision/outperformance narrative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Pax 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ASMs (B)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6060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60604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60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COMP CHALLENGE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289864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vs Q4 2024: revenue +4.8% but EPS –4.9% ($3.10 vs $3.26) and margin –120 bps (8.5% vs 9.7%). Capacity grew faster than unit revenue recovered; holiday demand that supercharged Q4 2024 had partially normalized. This is a comps problem, not structural deterioration.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26060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0604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660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TRACK RECORD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89864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2025 guide: $11.50–$13.50. Mid-year cut (domestic PRASM softness + macro): $9.00–$11.00. Actual: $10.62 — at/near top of revised range, above consensus. This conservative re-guidance + outperformance pattern has been consistent since 2022. The $12–14 range for 2026 was issued in a similar cautious window.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Q2 GAAP vs. adjusted gap was the largest ($447M in special charges, primarily fleet write-offs for early retirements). Full-year GAAP EPS of $10.20 vs. $10.62 adjusted.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TRASM decline was a 2025 industry phenomenon, not structural demand deterioration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TRENDS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78992"/>
          <a:ext cx="4475988" cy="914400"/>
        </p:xfrm>
        <a:graphic>
          <a:graphicData uri="http://schemas.openxmlformats.org/drawingml/2006/table">
            <a:tbl>
              <a:tblPr/>
              <a:tblGrid>
                <a:gridCol w="559499"/>
                <a:gridCol w="559499"/>
                <a:gridCol w="559499"/>
                <a:gridCol w="559499"/>
                <a:gridCol w="559499"/>
                <a:gridCol w="559499"/>
                <a:gridCol w="559499"/>
                <a:gridCol w="559499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Fuel/Gal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16.99¢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12.03¢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20.05¢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223053" y="868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FY2025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3053" y="1078992"/>
          <a:ext cx="3418027" cy="914400"/>
        </p:xfrm>
        <a:graphic>
          <a:graphicData uri="http://schemas.openxmlformats.org/drawingml/2006/table">
            <a:tbl>
              <a:tblPr/>
              <a:tblGrid>
                <a:gridCol w="569671"/>
                <a:gridCol w="569671"/>
                <a:gridCol w="569671"/>
                <a:gridCol w="569671"/>
                <a:gridCol w="569671"/>
                <a:gridCol w="569671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Fuel/Gal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17.42¢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12.15¢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16.71¢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2423160"/>
            <a:ext cx="8138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" y="242316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25328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TRASM –2.5% YoY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" y="2807208"/>
            <a:ext cx="249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overcapacity, not demand weakness. Passengers hit record 181M. UAL responded by cutting 4 pts of domestic capacity mid-year and retiring 21 aircraft ahead of plan.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322320" y="25328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CASM-ex +0.5%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22320" y="2807208"/>
            <a:ext cx="249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 ~$360M (price/gal: $2.65→$2.44). Labor consumed +$969M. Net: costs grew slightly faster than revenue. Labor headwinds are known and peaking; fuel efficiency compounds with new aircraft.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958840" y="25328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THESIS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958840" y="2807208"/>
            <a:ext cx="249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TRASM inflects up as industry capacity normalizes. CASM-ex stabilizes as deliveries bring efficiency. The gap between revenue and cost lines widens into margin expansion. That is the entire 2026 thesis.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02920" y="46863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SENSITIVITY: UAL carries no financial fuel hedges. Every $0.10/gal move = ~$466M annual P&amp;L impact (4.663B gal consumed). A return to 2023’s $3.01/gal = ~$2.7B headwind vs. ~$4.6B adj. pre-tax income.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OPERATING EXPENSE COMPOSITION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+4.6% vs. revenue +3.5% — the composition tells different stories about durability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1356360"/>
                <a:gridCol w="1356360"/>
                <a:gridCol w="1356360"/>
                <a:gridCol w="1356360"/>
                <a:gridCol w="1356360"/>
                <a:gridCol w="13563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 &amp; related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$17.65B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$16.68B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+$969M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fuel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$11.76B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–$360M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fees &amp; rent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+$412M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capacity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–$122M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+$866M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$54.36B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$51.97B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+$2.39B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246120"/>
            <a:ext cx="26212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3246120"/>
            <a:ext cx="2621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355848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LABOR: KNOWN &amp; BOUNDED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3593592"/>
            <a:ext cx="243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+$2.9B in two years. Pilot contract ($10B value, 34–40% raises) front-loaded — steps down by 2026–27. FA deal removes multi-year overhang. Gauge-up: labor cost per seat served rising less than cost per employee.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1360" y="3246120"/>
            <a:ext cx="26212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1360" y="3246120"/>
            <a:ext cx="2621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352800" y="3355848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FEES: GOOD COST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52800" y="3593592"/>
            <a:ext cx="243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is almost entirely self-inflicted: $2.7B EWR Terminal A, ORD T2 renovation, DEN gate expansion. Correlation between this line and NPS improvement is not coincidental. Deferred premium spending in the OpEx line.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19800" y="3246120"/>
            <a:ext cx="26212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19800" y="3246120"/>
            <a:ext cx="2621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111240" y="3355848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 HIDDEN TAILWIND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11240" y="3593592"/>
            <a:ext cx="243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–5.5% as booking mix shifts to direct channels. App handles 85% of check-ins. Direct bookings capture more ancillary revenue + better loyalty data. Engagement metrics accelerating, not plateauing.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BY REGION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two-speed airline: domestic fare softness vs. international structural strength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PASSENGER REVENUE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69848"/>
          <a:ext cx="3906317" cy="914400"/>
        </p:xfrm>
        <a:graphic>
          <a:graphicData uri="http://schemas.openxmlformats.org/drawingml/2006/table">
            <a:tbl>
              <a:tblPr/>
              <a:tblGrid>
                <a:gridCol w="781263"/>
                <a:gridCol w="781263"/>
                <a:gridCol w="781263"/>
                <a:gridCol w="781263"/>
                <a:gridCol w="781263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CAGR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~$31.6B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 — Europe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~$10.1B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 — MEIA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~$6.9B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34763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DETAIL</a:t>
            </a:r>
            <a:endParaRPr lang="en-US" sz="8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4763" y="1069848"/>
          <a:ext cx="3906317" cy="914400"/>
        </p:xfrm>
        <a:graphic>
          <a:graphicData uri="http://schemas.openxmlformats.org/drawingml/2006/table">
            <a:tbl>
              <a:tblPr/>
              <a:tblGrid>
                <a:gridCol w="781263"/>
                <a:gridCol w="781263"/>
                <a:gridCol w="781263"/>
                <a:gridCol w="781263"/>
                <a:gridCol w="781263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PRASM 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ASM 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$8,301M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$2,274M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+56.0%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$1,626M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$1,317M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2606040"/>
            <a:ext cx="40005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" y="2606040"/>
            <a:ext cx="54864" cy="2057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679192"/>
            <a:ext cx="3726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MEIA: EMERGING GROWTH VECTOR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40080" y="2907792"/>
            <a:ext cx="37261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+58.7% Q4 revenue with +56% capacity deployment — all new route ramps (EWR–Dubai, EWR–Delhi, SFO–Bangalore). India is a structural opportunity: world’s most populous country with rapidly growing outbound travel. UAL is the most aggressive U.S. airline in India/Gulf. A321XLR in 2026 gives more tools to expand beyond gateway hubs.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PACIFIC: +24.5% 3-Yr CAGR. “Only U.S. carrier” monopoly routes to Bangkok, Adelaide, Ho Chi Minh City carry premium business passengers with no alternative.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40580" y="2606040"/>
            <a:ext cx="40005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0580" y="2606040"/>
            <a:ext cx="54864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4777740" y="2679192"/>
            <a:ext cx="3726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DOMESTIC: THE VARIABLE THAT MATTERS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777740" y="2907792"/>
            <a:ext cx="37261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PRASM negative in every quarter of 2025 (worst: –7.0% in Q2). Industry added seats faster than domestic fares could absorb. But domestic is 54%+ of pax revenue — even modest PRASM improvement on that base compounds quickly into earnings leverage.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AMERICA: Genuine softness (PRASM –13.5% Q3, –7.6% Q4). Brazilian carrier competition + LatAm macro headwinds. Only ~10% of pax revenue — manageable drag, not a thesis-breaker.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QUALITY — PREMIUM &amp; LOYALTY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quality-of-earnings story that gets the least credit in bear-case analyses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Cabin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57984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57984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157984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49424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YoY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13048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3048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813048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04488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Card Spend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YoY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68112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8112" y="960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68112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27.4M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59552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Seats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Flown FY2025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23176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960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130M+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14616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1965960"/>
            <a:ext cx="397764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1965960"/>
            <a:ext cx="39776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207568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MIX SHIFT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" y="2313432"/>
            <a:ext cx="3758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+11% vs. Basic Economy +5%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deliberate mix shift toward higher-yield passengers less likely to trade down in a downturn.
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Interior rollout: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aircraft (68% of NB fleet) with new seatback screens + larger bins. NPS +10 pts on equipped aircraft.
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seats per N. American departure +40% since 2021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gauge-up: retiring 50-seat RJs, replacing with mainline aircraft carrying more premium rows.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965960"/>
            <a:ext cx="397764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65960"/>
            <a:ext cx="39776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207568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&amp; MILEAGEPLUS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2313432"/>
            <a:ext cx="3758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new Chase cards/yr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3rd consecutive year. Card spend +12% YoY on large base — a compounding flywheel.
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MileagePlus valuation: ~$22B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as collateral for $6.8B COVID financing, now fully repaid). Program has grown since. UAL market cap: ~$28B. Market ascribes minimal standalone value above embedded.
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Chase card benefits: 2× miles for cardholders, 10–15% discount on award redemptions.
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target: 2× MileagePlus profits by 2030.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MODERNIZATION &amp; UNITED NEXT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630+ new aircraft by 2034 — the largest fleet transformation in UAL 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93167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22299"/>
            <a:ext cx="193167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1,490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1410919"/>
            <a:ext cx="17487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Dec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1750" y="960120"/>
            <a:ext cx="193167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1750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571750" y="1022299"/>
            <a:ext cx="193167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~1,610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63190" y="1410919"/>
            <a:ext cx="17487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Dec 2026E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0580" y="960120"/>
            <a:ext cx="193167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0580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640580" y="1022299"/>
            <a:ext cx="193167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2020" y="1410919"/>
            <a:ext cx="17487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Deliveries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(Largest since 1988)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09410" y="960120"/>
            <a:ext cx="193167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9410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709410" y="1022299"/>
            <a:ext cx="193167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00850" y="1410919"/>
            <a:ext cx="17487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Seats/Departure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151 in 2019)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BOOK THROUGH 2034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21408"/>
          <a:ext cx="4882896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/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787-9 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Long-haul premium intl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next wave; 30+ by end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737 MAX (8/9/10)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/ short-haul NB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remaining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A321neo (standard)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domestic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18+ remaining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A321neo Coastliner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transcon lie-flat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ordered; 40 by Apr 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A321XLR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transatlantic + S. Am.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ordered; 25+ by 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CRJ450 (SkyWest)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regional upgrade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total; 50 by 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629961" y="2121408"/>
            <a:ext cx="3011119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29961" y="2121408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5739689" y="2167128"/>
            <a:ext cx="27916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DELIVERY RISK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39689" y="2359152"/>
            <a:ext cx="27916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cap of 38 MAX/month post-door plug incident. MAX 10 certification pending (200 aircraft). Each month of delay = ~$30–40M deferred efficiency benefits. A321neo/XLR orders explicitly hedge Boeing timing uncertainty.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629961" y="3246120"/>
            <a:ext cx="3011119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29961" y="324612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5739689" y="3291840"/>
            <a:ext cx="27916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GAUGE-UP ECONOMICS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39689" y="3483864"/>
            <a:ext cx="27916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737 MAX / A321neo burns ~20% less fuel per seat and requires fewer crew per seat served. 50-seat RJs replaced by 150+ seat mainline — a labor productivity strategy disguised as fleet strategy.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$5.9B in 2025 | &lt;$8.0B guided 2026 | $7–9B/yr multi-year guidance as delivery ramp continues through 2027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PRODUCT ARCHITECTURE: 2026–2028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aircraft products that redefine UAL’s competitive position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14400"/>
            <a:ext cx="3931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0584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787-9 ELEVATED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67128" y="1005840"/>
            <a:ext cx="2162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Inaugural: SFO–Singapore, Apr 22,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4360" y="1243584"/>
            <a:ext cx="3749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seats / 44.6% premium — highest among U.S. widebodies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Studio: 8 suites, 25% larger than standard Polaris, 27” 4K OLED (largest on any U.S. carrier), privacy door, double-bed center config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Polaris: 56 lie-flat | PPL: 35 | E+: 39 | Econ: 84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cabins: 4K OLED, Bluetooth, wireless charging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30+ aircraft by end 2027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0584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A321neo COASTLINER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36208" y="1005840"/>
            <a:ext cx="2162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summer 2026: SFO/LAX ↔ EWR/JFK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3440" y="1243584"/>
            <a:ext cx="3749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seats / First lie-flat on any U.S. domestic narrowbody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Polaris: 20 (1-1 lie-flat) — directly targets Delta One and JetBlue Mint on transcon routes where UAL currently has no competitive answer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Plus: 12 (2-2) — first PPL on domestic NB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129 with rear snack bar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ordered; 40 by April 2028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88036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71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A321XLR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67128" y="2971800"/>
            <a:ext cx="2162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summer 2026: new European &amp; S. American routes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3209544"/>
            <a:ext cx="3749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seats / 4,700 nm range unlocks entirely new markets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Polaris: 20 all-aisle-access lie-flat with privacy door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PPL: 12 | Economy: ~118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enables direct EWR to Bari, Split, Glasgow, Santiago de Compostela, and deeper S. American cities — routes neither 757-200 nor standard A321 can serve. Not incremental — new addressable market.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ordered; 25+ by 2028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88036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971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CRJ450 REGIONAL PREMIUM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36208" y="2971800"/>
            <a:ext cx="2162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fall 2026: DEN + ORD hubs (SkyWest)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3440" y="3209544"/>
            <a:ext cx="3749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seats / Credible premium product on regional routes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First: 7 seats, 37” pitch, overhead luggage closet (industry first on regional). Economy Plus: 16. Economy: 18.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Starlink Wi-Fi for MileagePlus members.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regional from “middle-seat-blocked + snack box” to real premium. Critical for business travelers connecting through DEN/ORD.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fleet; 50 by 2028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STARLINK + KINECTIVE MEDIA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as infrastructure for advertising and loyalty data — a nascent high-margin revenue stream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418027" cy="32918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31437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ROLLOUT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14370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2025: First E175 regional with Starlink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15, 2025: First mainline commercial flight (EWR)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2026: 300+ mainline aircraft equipped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2026: 800+ total aircraft (~25%+ of departures)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2027: Full fleet completion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pace: 50+ aircraft per month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all MileagePlus members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58107" y="1097280"/>
            <a:ext cx="4582973" cy="32918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95267" y="1188720"/>
            <a:ext cx="43086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KINECTIVE MEDIA NETWORK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5267" y="1463040"/>
            <a:ext cx="430865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assets no other airline possesses simultaneously: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227,000+ seatback screens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 captive audience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108M unique annual flyers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known demographics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130M MileagePlus members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deep first-party transaction data — miles, redemptions, card spend, hotel/car bookings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audience profile than most digital ad platforms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behavioral + purchase-intent data, not just demographics.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CFO: Kinective "will really start to accelerate in ’26 and beyond."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margins dramatically exceed seat revenue margins. The market currently values this business at approximately zero.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6405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IMPACT: Signature Interior aircraft score +10 NPS pts vs. planes they replace. For a 40×/yr business traveler, that translates to retention and card spend.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passengers, record on-time, record NPS — and the demand signals that matter most for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60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181.1M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Record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57984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57984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157984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49424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D:14 On-Time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Rank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13048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3048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813048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04488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Widebody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(Record)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68112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8112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68112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ConnectionSaver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Rescues (+42% YoY)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23176" y="960120"/>
            <a:ext cx="1517904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9601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1022299"/>
            <a:ext cx="151790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14616" y="1410919"/>
            <a:ext cx="133502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(Q1 Record)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1965960"/>
            <a:ext cx="81381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1965960"/>
            <a:ext cx="8138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DEMAND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ending Jan 4, 2026: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flown revenue week in UAL history.
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ending Jan 11, 2026: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the highest ticketing week AND the highest business sales week ever recorded.
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data is forward-looking — it reflects purchases for future travel. Record business bookings entering 2026 is the single strongest real-time indicator that 2025’s domestic PRASM softness was temporary, not structural. Business travel leads leisure in recovery cycles.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383280"/>
            <a:ext cx="2621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383280"/>
            <a:ext cx="54864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4564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3675888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system completion factor in company history. United Express achieved 134 days with zero cancellations.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61360" y="3383280"/>
            <a:ext cx="2621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61360" y="338328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3398520" y="34564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8520" y="3675888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Company-record NPS in Q4 2025. November 2025 = highest-ever monthly NPS. Signature Interior: +10 pts vs. old interiors.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19800" y="3383280"/>
            <a:ext cx="2621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19800" y="338328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156960" y="34564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56960" y="3675888"/>
            <a:ext cx="234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new international destinations in 2025 (Nuuk, Ulaanbaatar, Faro, Palermo, Bangkok, Adelaide...) + 29 domestic/Canadian routes.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BALANCE SHEET &amp; DELEVERAGING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bond payoff completed — investment-grade path increasingly visible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1017270"/>
                <a:gridCol w="1017270"/>
                <a:gridCol w="1017270"/>
                <a:gridCol w="1017270"/>
                <a:gridCol w="1017270"/>
                <a:gridCol w="1017270"/>
                <a:gridCol w="1017270"/>
                <a:gridCol w="101727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Liquidity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+ Leases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Leverage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&lt;2.0×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Rating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Expense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&lt;$1.2E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423160"/>
            <a:ext cx="4069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423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780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MILEAGEPLUS BOND PAYOFF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2025: Prepaid remaining $1.5B of MileagePlus secured bonds, fully retiring $6.8B in MileagePlus-backed COVID financing by July 2025. Frees the MileagePlus asset, eliminates collateral restrictions, signals management confidence. Interest expense –15.7% YoY ($1.629B → $1.373B) — flows directly to EPS.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16145" y="2423160"/>
            <a:ext cx="3824935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16145" y="242316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4953305" y="2478024"/>
            <a:ext cx="35506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INVESTMENT-GRADE PATH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53305" y="269748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~$3–4B/yr deleveraging, UAL reaches &lt;2.0× by year-end 2026. S&amp;P IG criteria for airlines: 2.0–2.5× with earnings stability. Three consequences: (1) Lower aircraft financing cost (–50–75 bps on $25B = $125–190M/yr); (2) IG mandates open larger investor universe; (3) Multiple re-rating from “COVID bankruptcy risk” to “investment-quality enterprise.” Delta already carries BBB–.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3977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net debt: $18.8B (Q1 2025) vs. $22.5B (Q1 2024). Deleveraging pace: ~$3–4B per year. The question is not whether IG happens — but whether to own the stock before or after the rating action.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FLOW &amp; CAPITAL ALLOCATION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bulge through 2027 delivery ramp, then normalization to $3–4B sustained FCF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4475988" cy="914400"/>
        </p:xfrm>
        <a:graphic>
          <a:graphicData uri="http://schemas.openxmlformats.org/drawingml/2006/table">
            <a:tbl>
              <a:tblPr/>
              <a:tblGrid>
                <a:gridCol w="895198"/>
                <a:gridCol w="895198"/>
                <a:gridCol w="895198"/>
                <a:gridCol w="895198"/>
                <a:gridCol w="895198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Cash Flow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CapEx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&lt;$8.0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Multi-Yr CapEx Guidance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$7–9B/yr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223053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REPURCHASES</a:t>
            </a:r>
            <a:endParaRPr lang="en-US" sz="8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3053" y="1069848"/>
          <a:ext cx="3418027" cy="914400"/>
        </p:xfrm>
        <a:graphic>
          <a:graphicData uri="http://schemas.openxmlformats.org/drawingml/2006/table">
            <a:tbl>
              <a:tblPr/>
              <a:tblGrid>
                <a:gridCol w="1139342"/>
                <a:gridCol w="1139342"/>
                <a:gridCol w="113934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/ Period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preservation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Breakout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Q3–Q4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Slowed; CapEx accel.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Oct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Shares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~325M FY2026E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2377440"/>
            <a:ext cx="36621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377440"/>
            <a:ext cx="3662172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12648" y="2468880"/>
            <a:ext cx="3442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 PRIORITY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" y="2697480"/>
            <a:ext cx="34427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Fleet CapEx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Non-negotiable given firm orders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Debt Reduction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$3.7B total debt reduction in FY2025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Share Buybacks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$640M in 2025; likely higher in 2026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Dividend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None planned near-term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409237" y="2377440"/>
            <a:ext cx="4231843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09237" y="23774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546397" y="2468880"/>
            <a:ext cx="39575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POST-2027 FCF NORMALIZATION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46397" y="2697480"/>
            <a:ext cx="39575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step-down ($3.4B → $2.7B) despite higher net income is a CapEx story. ~120 aircraft in 2026 at $50–70M each creates a bulge persisting through 2027.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backlog thins (~2028), CapEx normalizes to $5–6B maintenance-plus-growth vs. $8–9B operating CF = sustained $3–4B FCF.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FCF/share: $3.5B on ~320M shares (2027–28E) ≈ ~$11/share. At 5–8× airline sector FCF multiples, that implies significant equity value vs. current price.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02920" y="4023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TTM peak: Operating CF $10.3B, Free CF $5.0B — temporarily boosted by advance ticket sales and delivery timing, but illustrates underlying cash generation capacity.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SUSTAINABILITY &amp; CLIMATE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absolute emissions rise with growth; intensity falls with fleet efficiency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GHG EMISSIONS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69848"/>
          <a:ext cx="4475988" cy="914400"/>
        </p:xfrm>
        <a:graphic>
          <a:graphicData uri="http://schemas.openxmlformats.org/drawingml/2006/table">
            <a:tbl>
              <a:tblPr/>
              <a:tblGrid>
                <a:gridCol w="745998"/>
                <a:gridCol w="745998"/>
                <a:gridCol w="745998"/>
                <a:gridCol w="745998"/>
                <a:gridCol w="745998"/>
                <a:gridCol w="74599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Δ2023–24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1 (M MT CO2e)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2 Market (K MT)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3 (M MT)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CO2e / M ASMs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223053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 PROGRESS</a:t>
            </a:r>
            <a:endParaRPr lang="en-US" sz="8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3053" y="1069848"/>
          <a:ext cx="3418027" cy="914400"/>
        </p:xfrm>
        <a:graphic>
          <a:graphicData uri="http://schemas.openxmlformats.org/drawingml/2006/table">
            <a:tbl>
              <a:tblPr/>
              <a:tblGrid>
                <a:gridCol w="854507"/>
                <a:gridCol w="854507"/>
                <a:gridCol w="854507"/>
                <a:gridCol w="854507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Gal (M)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Reduction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CO2e Avoided (MT)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126,174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2377440"/>
            <a:ext cx="40005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" y="2377440"/>
            <a:ext cx="40005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" y="2468880"/>
            <a:ext cx="3781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12648" y="2670048"/>
            <a:ext cx="37810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GHG by 2050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global airline to commit without traditional offsets
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emissions intensity reduction by 2035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2019 baseline, SBTi-validated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Score: A–  |  $200M+ UAL SAF Fund
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Eco-Skies Alliance: 50+ corporate partners co-investing in SAF — socializes supply development cost across corporate customers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40580" y="2377440"/>
            <a:ext cx="40005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0580" y="2377440"/>
            <a:ext cx="40005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4750308" y="2468880"/>
            <a:ext cx="3781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INVESTOR FRAMING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750308" y="2670048"/>
            <a:ext cx="37810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at 13.6M gal vs. 4.2B+ total fuel = &lt;0.35%. Doubling annually since 2021, but the gap between current penetration and 2050 target is enormous.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emissions will rise with capacity growth for the foreseeable future. 2035 target is intensity-based (per RTK/ASM) — achievable with newer aircraft. 2050 net zero depends on technologies that don’t exist at commercial scale today (green hydrogen, next-gen SAF, carbon removal).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 Ventures ($200M+): Twelve, ZeroAvia, Dimensional Energy, Cemvita, Svante — shaping the supply curve, not just procurement. Genuine strategic investment, not greenwashing.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8B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GUIDANCE &amp; RISK MATRIX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$12–14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EPS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8214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8214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$13.00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7358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136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136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~10%+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280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4058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058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~$2.7B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3202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1980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1980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&lt;$8.0B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1124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99020" y="822960"/>
            <a:ext cx="1242060" cy="73152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99020" y="910742"/>
            <a:ext cx="12420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&lt;2.0×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0460" y="1261872"/>
            <a:ext cx="105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TO THE 2026 THESIS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8404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recession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–1.5–2% rev per 1% GDP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Premium/intl mix; loyalty is contract-based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spike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$0.10/gal = ~$466M; unhedged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aircraft burn ~20% less/seat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MAX delays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~$30–40M/mo deferred efficiency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A321neo/XLR hedge; existing fleet performing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PRASM stays negative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expansion stalls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Mid-year capacity cuts showed discipline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10 certification slip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aircraft in tranche waiting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defer CapEx; no hard date committed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MileagePlus re-contract (2029)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deal terms uncertain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Delta/AmEx parity gives pricing leverage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BULL CASE: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TRASM inflects positive in Q1–Q2 2026 as industry capacity tightens, UAL tracks toward $14 EPS or higher. At the current multiple, that represents significant equity upside.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of $13 midpoint is already a ~22% EPS growth year — which in a normal market commands a premium multiple for an airline finally breaking through into double-digit pre-tax margins.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A — FINANCIAL 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income statement, hub network, workforce, and fleet 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NETWORK (2026 SCHEDULE)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69848"/>
          <a:ext cx="4475988" cy="914400"/>
        </p:xfrm>
        <a:graphic>
          <a:graphicData uri="http://schemas.openxmlformats.org/drawingml/2006/table">
            <a:tbl>
              <a:tblPr/>
              <a:tblGrid>
                <a:gridCol w="895198"/>
                <a:gridCol w="895198"/>
                <a:gridCol w="895198"/>
                <a:gridCol w="895198"/>
                <a:gridCol w="895198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Dep.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Seats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 O'Hare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250,306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(31 consec. qtrs)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(11 consec. qtrs)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 Bush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176,734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141,087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NYC intl gateway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Francisco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104,442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 Dulles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95,037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1,896,990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U.S. by ASMs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223053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LABOR CONTRACTS</a:t>
            </a:r>
            <a:endParaRPr lang="en-US" sz="8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3053" y="1069848"/>
          <a:ext cx="3418027" cy="914400"/>
        </p:xfrm>
        <a:graphic>
          <a:graphicData uri="http://schemas.openxmlformats.org/drawingml/2006/table">
            <a:tbl>
              <a:tblPr/>
              <a:tblGrid>
                <a:gridCol w="1139342"/>
                <a:gridCol w="1139342"/>
                <a:gridCol w="113934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 ($B)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3053" y="1965960"/>
          <a:ext cx="3418027" cy="914400"/>
        </p:xfrm>
        <a:graphic>
          <a:graphicData uri="http://schemas.openxmlformats.org/drawingml/2006/table">
            <a:tbl>
              <a:tblPr/>
              <a:tblGrid>
                <a:gridCol w="1139342"/>
                <a:gridCol w="1139342"/>
                <a:gridCol w="113934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Ratified mid-2023; ~$10B; through ~2027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Attendants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early 2025; 20–28% raise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Ratified 2024; substantial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Workers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2024–25; inflation-adj.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223053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UNITED NEXT TARGETS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223053" y="3246120"/>
            <a:ext cx="34180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Investment-grade credit rating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Double-digit pre-tax margin (10%+) sustained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 &lt;2.0× by year-end 2026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MileagePlus profits by 2030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630+ new aircraft by 2034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Full-fleet Starlink by end 2027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emissions by 2050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0292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TRAJECTORY</a:t>
            </a:r>
            <a:endParaRPr lang="en-US" sz="800" dirty="0"/>
          </a:p>
        </p:txBody>
      </p:sp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2034540" cy="914400"/>
        </p:xfrm>
        <a:graphic>
          <a:graphicData uri="http://schemas.openxmlformats.org/drawingml/2006/table">
            <a:tbl>
              <a:tblPr/>
              <a:tblGrid>
                <a:gridCol w="1017270"/>
                <a:gridCol w="101727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2026E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700223" y="3246120"/>
            <a:ext cx="227868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MACRO: Every –1% GDP ≈ –1.5–2% revenue. Intl revenue (&gt;35% pax) provides structural diversification. Premium/loyalty (~60%+ of rev) provides pricing buffer.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B — UNIT ECONOMICS &amp; OPERATING 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unit economics, fuel statistics, revenue quality detail, and new route additions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NASDAQ: UAL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UNIT ECONOMICS — FY2025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69848"/>
          <a:ext cx="8138160" cy="914400"/>
        </p:xfrm>
        <a:graphic>
          <a:graphicData uri="http://schemas.openxmlformats.org/drawingml/2006/table">
            <a:tbl>
              <a:tblPr/>
              <a:tblGrid>
                <a:gridCol w="1017270"/>
                <a:gridCol w="1017270"/>
                <a:gridCol w="1017270"/>
                <a:gridCol w="1017270"/>
                <a:gridCol w="1017270"/>
                <a:gridCol w="1017270"/>
                <a:gridCol w="1017270"/>
                <a:gridCol w="101727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Fuel/Gal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19.93¢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16.49¢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17.42¢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18.73¢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15.82¢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12.15¢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16.71¢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20.41¢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16.81¢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16.66¢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20.05¢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16.70¢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12.58¢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18.44¢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20.07¢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16.99¢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12.03¢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2743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QUALITY</a:t>
            </a:r>
            <a:endParaRPr lang="en-US" sz="8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2685593" cy="914400"/>
        </p:xfrm>
        <a:graphic>
          <a:graphicData uri="http://schemas.openxmlformats.org/drawingml/2006/table">
            <a:tbl>
              <a:tblPr/>
              <a:tblGrid>
                <a:gridCol w="895198"/>
                <a:gridCol w="895198"/>
                <a:gridCol w="89519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 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cabin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MileagePlus / Loyalty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Economy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co-brand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432658" y="2743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MILEAGEPLUS DETAIL</a:t>
            </a:r>
            <a:endParaRPr lang="en-US" sz="8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32658" y="2926080"/>
          <a:ext cx="2522830" cy="914400"/>
        </p:xfrm>
        <a:graphic>
          <a:graphicData uri="http://schemas.openxmlformats.org/drawingml/2006/table">
            <a:tbl>
              <a:tblPr/>
              <a:tblGrid>
                <a:gridCol w="1261415"/>
                <a:gridCol w="1261415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members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130M+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awards redeemed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10.9M (10.3% RPMs)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Non-flight awards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Chase cards/yr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1M+ (3rd consec. yr)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agreement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2029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collateral valuation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199632" y="2743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 ROUTE ADDITIONS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6199632" y="2926080"/>
            <a:ext cx="2441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Nuuk, Ulaanbaatar, Faro, Palermo, Bilbao, Madeira, Bangkok, Adelaide, Ho Chi Minh City + 29 domestic/Canadian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</a:t>
            </a:r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Bari, Split, Glasgow, Santiago de Compostela, Seoul expansion, Reykjavik expansion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U.S. carrier" routes: Bangkok, Ho Chi Minh City, Adelaide, Tepic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02920" y="47777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CASM-ex Bridge (Q1 2025): CASM 16.77¢ → less fuel (3.59)¢ → less profit sharing (0.06)¢ → less third-party (0.09)¢ → add back special charges 0.14¢ → CASM-ex 13.17¢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UAL FY2025 Results &amp; 2026 Outlook</dc:title>
  <dc:subject>PptxGenJS Presentation</dc:subject>
  <dc:creator>United Airlines Holdings, Inc.</dc:creator>
  <cp:lastModifiedBy>United Airlines Holdings, Inc.</cp:lastModifiedBy>
  <cp:revision>1</cp:revision>
  <dcterms:created xsi:type="dcterms:W3CDTF">2026-03-30T21:29:44Z</dcterms:created>
  <dcterms:modified xsi:type="dcterms:W3CDTF">2026-03-30T21:29:44Z</dcterms:modified>
</cp:coreProperties>
</file>