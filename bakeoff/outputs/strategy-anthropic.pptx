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4978908"/>
            <a:ext cx="164592" cy="16459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89136" y="4046220"/>
            <a:ext cx="54864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5088636"/>
            <a:ext cx="109728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0"/>
            <a:ext cx="45720" cy="514350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502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NovaCrest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2377440" cy="4114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89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Strategic Review — CONFIDENTIAL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17830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21284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58568"/>
            <a:ext cx="165506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$15.6M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38912" y="2607869"/>
            <a:ext cx="1655064" cy="23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017520"/>
            <a:ext cx="17830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01752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63240"/>
            <a:ext cx="165506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118%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38912" y="3412541"/>
            <a:ext cx="1655064" cy="23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822192"/>
            <a:ext cx="17830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822192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67912"/>
            <a:ext cx="165506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78.2%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38912" y="4217213"/>
            <a:ext cx="1655064" cy="23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66360" y="2212848"/>
            <a:ext cx="17830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221284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258568"/>
            <a:ext cx="165506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$18.2M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257800" y="2607869"/>
            <a:ext cx="1655064" cy="23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Hand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66360" y="3017520"/>
            <a:ext cx="17830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301752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063240"/>
            <a:ext cx="165506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 mo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257800" y="3412541"/>
            <a:ext cx="1655064" cy="23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66360" y="3822192"/>
            <a:ext cx="17830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3822192"/>
            <a:ext cx="54864" cy="65836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867912"/>
            <a:ext cx="165506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0.36x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257800" y="4217213"/>
            <a:ext cx="1655064" cy="23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Multiple (Excellent &lt;1x)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84174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— October 2026  |  Prepared by: Finance &amp; Strategy  |  Do not distribute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Q3 2026 — ARR, Unit Economics &amp; Retention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874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8874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1480" y="804672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04672"/>
            <a:ext cx="5029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77824"/>
            <a:ext cx="1865376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$15.6M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" y="1209568"/>
            <a:ext cx="1865376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1208" y="1374526"/>
            <a:ext cx="1865376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+10.6% QoQ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804672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804672"/>
            <a:ext cx="5029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877824"/>
            <a:ext cx="1865376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24328" y="1209568"/>
            <a:ext cx="1865376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24328" y="1374526"/>
            <a:ext cx="1865376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from 121% — monitor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804672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804672"/>
            <a:ext cx="50292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877824"/>
            <a:ext cx="1865376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27448" y="1209568"/>
            <a:ext cx="1865376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27448" y="1374526"/>
            <a:ext cx="1865376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80%+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0840" y="804672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804672"/>
            <a:ext cx="5029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877824"/>
            <a:ext cx="1865376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30568" y="1209568"/>
            <a:ext cx="1865376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30568" y="1374526"/>
            <a:ext cx="1865376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(&gt;0.75)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1682496"/>
            <a:ext cx="50292" cy="18745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" y="1682496"/>
            <a:ext cx="392734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1746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 GROWTH TREND ($M)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8985" y="2698852"/>
            <a:ext cx="300785" cy="5472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409" y="2515972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$7.2M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12409" y="3264408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267580" y="2600039"/>
            <a:ext cx="300785" cy="646081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1004" y="2417159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$8.5M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31004" y="3264408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Q2'25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786176" y="2501227"/>
            <a:ext cx="300785" cy="744893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49600" y="2318347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749600" y="3264408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304771" y="2379612"/>
            <a:ext cx="300785" cy="8665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68195" y="2196732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$11.4M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268195" y="3264408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823367" y="2273198"/>
            <a:ext cx="300785" cy="97292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86791" y="2090318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$12.8M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86791" y="3264408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Q1'26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341962" y="2174386"/>
            <a:ext cx="300785" cy="107173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05386" y="1991506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$14.1M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305386" y="3264408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Q2'26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860558" y="2060372"/>
            <a:ext cx="300785" cy="118574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23982" y="1877492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$15.6M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823982" y="3264408"/>
            <a:ext cx="37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Q3'26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72000" y="1682496"/>
            <a:ext cx="50292" cy="187452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81728" y="17465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ECONOMICS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5152" y="1984248"/>
          <a:ext cx="4087368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658368"/>
                <a:gridCol w="658368"/>
                <a:gridCol w="768096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120%+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 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Retention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 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LTV:CAC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4.0x+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Payback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 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 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&lt;16 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 Number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&gt;0.75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5" name="Text 52"/>
          <p:cNvSpPr/>
          <p:nvPr/>
        </p:nvSpPr>
        <p:spPr>
          <a:xfrm>
            <a:off x="411480" y="47320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ARR growth: +10.6%  |  YoY growth: +59.2%  |  Logo retention decline requires immediate CS investment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GTM + CUSTOMER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Channel Performance &amp; Q3 Churn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874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8874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1480" y="804672"/>
            <a:ext cx="50292" cy="360273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41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1051560"/>
          <a:ext cx="3950208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640080"/>
                <a:gridCol w="640080"/>
                <a:gridCol w="822960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+21.1%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+2.3pp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+10.5%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Cycle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−5.6%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Attainment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+18pp 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11480" y="2688336"/>
            <a:ext cx="50292" cy="141274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7157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334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BREAKDOWN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2916936"/>
          <a:ext cx="3950208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94360"/>
                <a:gridCol w="502920"/>
                <a:gridCol w="502920"/>
                <a:gridCol w="731520"/>
              </a:tblGrid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$24.1K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617720" y="804672"/>
            <a:ext cx="50292" cy="3602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09160" y="841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CHURN ANALYSIS — Q3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681728" y="1051560"/>
            <a:ext cx="3950208" cy="320040"/>
          </a:xfrm>
          <a:prstGeom prst="rect">
            <a:avLst/>
          </a:prstGeom>
          <a:solidFill>
            <a:srgbClr val="FEF2F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36592" y="107899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Churn: $500K gross  (+67% vs $300K in Q2)</a:t>
            </a:r>
            <a:endParaRPr lang="en-US" sz="95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0872" y="1408176"/>
          <a:ext cx="3950208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75488"/>
                <a:gridCol w="804672"/>
                <a:gridCol w="804672"/>
              </a:tblGrid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Preventable?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Apex Mfg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Dynamics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build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SMB accounts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(DataForge)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TechFab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impl — CS fail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SMB accounts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onboarded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Consolidated Parts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4681728" y="3379622"/>
            <a:ext cx="3950208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81728" y="3379622"/>
            <a:ext cx="41148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64024" y="343448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58% PREVENTABLE — $290K of $500K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17720" y="3781958"/>
            <a:ext cx="5029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09160" y="380939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AT-RISK Q4 ACCOUNTS</a:t>
            </a:r>
            <a:endParaRPr lang="en-US" sz="800" dirty="0"/>
          </a:p>
        </p:txBody>
      </p:sp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0872" y="4010558"/>
          <a:ext cx="3950208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75488"/>
                <a:gridCol w="1700784"/>
              </a:tblGrid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Signal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Mfg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 departed — outreach stalled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Midwest Parts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down -40% last 60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ClearPath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+ competitive POC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+ TEAM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Shipped Features, Q4 Roadmap &amp; Headcount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874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8874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1480" y="804672"/>
            <a:ext cx="50292" cy="1435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412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SHIPPED FEATURES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1051560"/>
          <a:ext cx="53492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645920"/>
                <a:gridCol w="18288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Maintenance v2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 enterprise accounts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 pipeline (3 deals)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Dashboards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 boards, 89 accounts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tickets −18%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Integration (native)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accounts connected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channel accelerant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 issued 8/15/26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$380K pipeline unblocked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804672"/>
            <a:ext cx="50292" cy="143560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8412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334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ROADMAP</a:t>
            </a:r>
            <a:endParaRPr lang="en-US" sz="8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16752" y="1051560"/>
          <a:ext cx="2715768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417320"/>
                <a:gridCol w="82296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analytics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dev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deals $200K+ 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MindSphere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starting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 TAM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 pricing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complete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58% prev churn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health 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11480" y="2404872"/>
            <a:ext cx="50292" cy="216164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2441448"/>
            <a:ext cx="54086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HEADCOUNT</a:t>
            </a:r>
            <a:endParaRPr lang="en-US" sz="8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2651760"/>
          <a:ext cx="39319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548640"/>
                <a:gridCol w="548640"/>
                <a:gridCol w="685800"/>
              </a:tblGrid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Design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Success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4526280" y="2404872"/>
            <a:ext cx="50292" cy="216164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617720" y="24414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Q3 HIRES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590288" y="2679192"/>
            <a:ext cx="41330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90288" y="2679192"/>
            <a:ext cx="41148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81728" y="27523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Customer Success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681728" y="29718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ex-Datadog — heads $700K churn recovery plan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590288" y="3337560"/>
            <a:ext cx="41330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90288" y="3337560"/>
            <a:ext cx="41148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681728" y="3410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Partnerships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681728" y="36301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ex-Siemens — leads MindSphere integration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590288" y="3995928"/>
            <a:ext cx="41330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90288" y="3995928"/>
            <a:ext cx="41148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681728" y="40690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Senior ML Engineers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681728" y="42885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PhD, Georgia Tech — Predictive Maintenance v3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OUTLOOK + COMPETITIVE POSITION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Summary, Cash Position &amp; Market Landscape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874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138160" y="48874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1480" y="804672"/>
            <a:ext cx="50292" cy="224942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412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P&amp;L SUMMARY ($K)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" y="1051560"/>
          <a:ext cx="49377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640080"/>
                <a:gridCol w="640080"/>
                <a:gridCol w="640080"/>
                <a:gridCol w="658368"/>
                <a:gridCol w="85039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YoY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$3,700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($740)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($830)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($890)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($3,340)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($1,420)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($1,580)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($1,720)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($6,480)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($1,340)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($1,480)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($1,620)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($6,040)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($580)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($700)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($670)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($2,520)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11480" y="3191256"/>
            <a:ext cx="11521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3191256"/>
            <a:ext cx="5029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3264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$18.2M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1208" y="34381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Hand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618488" y="3191256"/>
            <a:ext cx="11521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618488" y="3191256"/>
            <a:ext cx="5029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28216" y="3264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$223K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728216" y="34381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Burn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825496" y="3191256"/>
            <a:ext cx="11521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825496" y="3191256"/>
            <a:ext cx="5029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35224" y="3264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 mo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935224" y="34381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032504" y="3191256"/>
            <a:ext cx="115214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32504" y="3191256"/>
            <a:ext cx="5029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42232" y="3264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0.36x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142232" y="34381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Multiple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550408" y="804672"/>
            <a:ext cx="50292" cy="1956816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41848" y="84124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334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051560"/>
          <a:ext cx="310896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685800"/>
                <a:gridCol w="685800"/>
                <a:gridCol w="685800"/>
                <a:gridCol w="685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DataForge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 Analytics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Zenith 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~$180M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Mid-mkt mfg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SMB-Mid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Mid-mkt mfg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 vs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 (depth)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 (brand)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(threat)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Threat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Mfg module $199/mo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 Lite Q1'27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hiring spree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5623560" y="314553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= our win rate when competing head-to-head. Zenith AI is a growing threat in same ICP.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4978908"/>
            <a:ext cx="164592" cy="16459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89136" y="4046220"/>
            <a:ext cx="54864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5088636"/>
            <a:ext cx="109728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Board Asks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11480" y="804672"/>
            <a:ext cx="2194560" cy="4114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5953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  |  NovaCrest Board of Directors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170432"/>
            <a:ext cx="8321040" cy="1170432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170432"/>
            <a:ext cx="54864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" y="1280160"/>
            <a:ext cx="804672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2801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1280160"/>
            <a:ext cx="724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$2.5M CS Investment — 8 FTEs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" y="160934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onboarding specialists  |  2 renewal managers  |  1 SMB CS lead  |  1 CS ops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" y="1837944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1837944"/>
            <a:ext cx="8028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Reduce preventable churn 60% → save ~$700K ARR/yr  |  Payback: 14 months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9496" y="2057400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2057400"/>
            <a:ext cx="8028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inaction: Q4 churn forecast $600K+ based on current at-risk pipeline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450592"/>
            <a:ext cx="8321040" cy="1170432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450592"/>
            <a:ext cx="54864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" y="2560320"/>
            <a:ext cx="804672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560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17320" y="2560320"/>
            <a:ext cx="724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Usage-Based Pricing Tier — $499/mo entry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" y="288950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current $2.5K/mo minimum — 60+ prospects/qtr currently lost on price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" y="3118104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3118104"/>
            <a:ext cx="8028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+$1.2M new ARR in 12 months  |  Down-tier risk ~$200K (net positive)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9496" y="3337560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3337560"/>
            <a:ext cx="8028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58% of preventable churn via down-tier option; no implementation risk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3730752"/>
            <a:ext cx="8321040" cy="1170432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730752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" y="3840480"/>
            <a:ext cx="8046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" y="384048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17320" y="3840480"/>
            <a:ext cx="724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C Timing — 81-month runway, grow from strength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" y="416966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Q2 2027 at $22–25M ARR  |  Option B: Wait for $30M ARR milestone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9496" y="4398264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" y="4398264"/>
            <a:ext cx="8028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Raise size: $40–60M  |  Board input needed: timing, size, investor targets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9496" y="4617720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4617720"/>
            <a:ext cx="8028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growth may compress optionality — raise from strength preferred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48874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138160" y="48874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NovaCrest Q3 2026 Strategic Review</dc:title>
  <dc:subject>PptxGenJS Presentation</dc:subject>
  <dc:creator>NovaCrest</dc:creator>
  <cp:lastModifiedBy>NovaCrest</cp:lastModifiedBy>
  <cp:revision>1</cp:revision>
  <dcterms:created xsi:type="dcterms:W3CDTF">2026-03-30T21:38:56Z</dcterms:created>
  <dcterms:modified xsi:type="dcterms:W3CDTF">2026-03-30T21:38:56Z</dcterms:modified>
</cp:coreProperties>
</file>