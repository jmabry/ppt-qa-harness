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28016"/>
            <a:ext cx="8723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Chimera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56032" y="667512"/>
            <a:ext cx="8723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 Decomposition Plan  ·  Atlas → Microservices  ·  VP Engineering + 20 Backend Engineers  ·  March 2026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56032" y="850392"/>
            <a:ext cx="8723376" cy="2286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32688"/>
            <a:ext cx="2093976" cy="621792"/>
          </a:xfrm>
          <a:prstGeom prst="rect">
            <a:avLst/>
          </a:prstGeom>
          <a:solidFill>
            <a:srgbClr val="0F2638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941832"/>
            <a:ext cx="2093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340K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56032" y="1280160"/>
            <a:ext cx="2093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Python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23160" y="932688"/>
            <a:ext cx="2093976" cy="621792"/>
          </a:xfrm>
          <a:prstGeom prst="rect">
            <a:avLst/>
          </a:prstGeom>
          <a:solidFill>
            <a:srgbClr val="0F2638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941832"/>
            <a:ext cx="2093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2,800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423160" y="1280160"/>
            <a:ext cx="2093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Tables (single PG)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90288" y="932688"/>
            <a:ext cx="2093976" cy="621792"/>
          </a:xfrm>
          <a:prstGeom prst="rect">
            <a:avLst/>
          </a:prstGeom>
          <a:solidFill>
            <a:srgbClr val="0F2638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941832"/>
            <a:ext cx="2093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90288" y="1280160"/>
            <a:ext cx="2093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Apps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57416" y="932688"/>
            <a:ext cx="2093976" cy="621792"/>
          </a:xfrm>
          <a:prstGeom prst="rect">
            <a:avLst/>
          </a:prstGeom>
          <a:solidFill>
            <a:srgbClr val="0F2638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57416" y="941832"/>
            <a:ext cx="2093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757416" y="1280160"/>
            <a:ext cx="2093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6032" y="1645920"/>
            <a:ext cx="8723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 Metrics vs. Industry P50 — Measured, Not Anecdotal</a:t>
            </a:r>
            <a:endParaRPr lang="en-US" sz="9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828800"/>
          <a:ext cx="8723376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993392"/>
                <a:gridCol w="1536192"/>
                <a:gridCol w="2907792"/>
              </a:tblGrid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(Atlas)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DORA Industry P50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Frequency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 / week  (every 3.9 days)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1/day – 1/week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Bottom of 'Medium'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Time (commit → prod)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day – 1 week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 over Medium ceiling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Failure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 Medium threshold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Time to Recover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 hours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hr – &lt; 1 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but slow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Build 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 min (full suite)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Forced context-switching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256032" y="3566160"/>
            <a:ext cx="8723376" cy="548640"/>
          </a:xfrm>
          <a:prstGeom prst="rect">
            <a:avLst/>
          </a:prstGeom>
          <a:solidFill>
            <a:srgbClr val="200B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3575304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Friction:  ~1,400 engineer-hours / quarter  →  ~$133K / quarter wasted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Breakdown: deployment delays + conflict resolution + rollback recovery + flaky-test investigation  @  $95 / hr loaded cost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55448"/>
            <a:ext cx="8723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Architecture — Strangler Fig Decomposition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56032" y="612648"/>
            <a:ext cx="8723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Domain-driven service boundaries · Kong API Gateway · Istio Service Mesh · Kafka · Isolated data store per service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56032" y="813816"/>
            <a:ext cx="8723376" cy="22860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969264"/>
          <a:ext cx="5029200" cy="914400"/>
        </p:xfrm>
        <a:graphic>
          <a:graphicData uri="http://schemas.openxmlformats.org/drawingml/2006/table">
            <a:tbl>
              <a:tblPr/>
              <a:tblGrid>
                <a:gridCol w="1243584"/>
                <a:gridCol w="804672"/>
                <a:gridCol w="1371600"/>
                <a:gridCol w="932688"/>
                <a:gridCol w="676656"/>
              </a:tblGrid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Service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(isolated)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+ gRPC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 — 1st Extract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Service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(isolated)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+ Events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 — High Coupling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Service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+ Stripe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(sync)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— After Orders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Service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Elasticsearch 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— Low Coupling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 Svc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+ SQS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Async/Events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 — Low Risk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Service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ClickHouse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gRPC (int.)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 — Read-Only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56032" y="2980944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Strangler Fig: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627632" y="29809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extraction behind gateway — not a big-bang rewrite.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256032" y="3218688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Isolation: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627632" y="32186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owns its schema — no shared tables, no cross-service joins.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256032" y="345643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Async-first: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627632" y="34564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events for consistency; sync only on checkout-critical paths.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56032" y="3694176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 it: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627632" y="36941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squad owns SLOs, deploys independently, carries their own pager.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56032" y="3931920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scope: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627632" y="3931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Admin stay in monolith — goal is friction removal, not purity.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468112" y="969264"/>
            <a:ext cx="3419856" cy="4005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A7E8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468112" y="1024128"/>
            <a:ext cx="3419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ARCHITECTURE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144768" y="1243584"/>
            <a:ext cx="2066544" cy="246888"/>
          </a:xfrm>
          <a:prstGeom prst="rect">
            <a:avLst/>
          </a:prstGeom>
          <a:solidFill>
            <a:srgbClr val="0A7E8C"/>
          </a:solidFill>
          <a:ln w="9525">
            <a:solidFill>
              <a:srgbClr val="0A7E8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44768" y="1243584"/>
            <a:ext cx="20665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 (Web · Mobile · API)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7114032" y="1490472"/>
            <a:ext cx="118872" cy="155448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870448" y="1655064"/>
            <a:ext cx="2615184" cy="384048"/>
          </a:xfrm>
          <a:prstGeom prst="rect">
            <a:avLst/>
          </a:prstGeom>
          <a:solidFill>
            <a:srgbClr val="0F2638"/>
          </a:solidFill>
          <a:ln w="9525">
            <a:solidFill>
              <a:srgbClr val="14B8C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70448" y="1655064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 · Rate Limit · Auth · Circuit Breaker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7114032" y="2039112"/>
            <a:ext cx="118872" cy="155448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9280" y="2185416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  (Istio)</a:t>
            </a:r>
            <a:endParaRPr lang="en-US" sz="600" dirty="0"/>
          </a:p>
        </p:txBody>
      </p:sp>
      <p:sp>
        <p:nvSpPr>
          <p:cNvPr id="26" name="Shape 23"/>
          <p:cNvSpPr/>
          <p:nvPr/>
        </p:nvSpPr>
        <p:spPr>
          <a:xfrm>
            <a:off x="5669280" y="2322576"/>
            <a:ext cx="1005840" cy="420624"/>
          </a:xfrm>
          <a:prstGeom prst="rect">
            <a:avLst/>
          </a:prstGeom>
          <a:solidFill>
            <a:srgbClr val="193A4F"/>
          </a:solidFill>
          <a:ln w="9525">
            <a:solidFill>
              <a:srgbClr val="0A7E8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69280" y="232257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6766560" y="2322576"/>
            <a:ext cx="1005840" cy="420624"/>
          </a:xfrm>
          <a:prstGeom prst="rect">
            <a:avLst/>
          </a:prstGeom>
          <a:solidFill>
            <a:srgbClr val="193A4F"/>
          </a:solidFill>
          <a:ln w="9525">
            <a:solidFill>
              <a:srgbClr val="0A7E8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766560" y="232257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7863840" y="2322576"/>
            <a:ext cx="1005840" cy="420624"/>
          </a:xfrm>
          <a:prstGeom prst="rect">
            <a:avLst/>
          </a:prstGeom>
          <a:solidFill>
            <a:srgbClr val="193A4F"/>
          </a:solidFill>
          <a:ln w="9525">
            <a:solidFill>
              <a:srgbClr val="0A7E8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863840" y="232257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5669280" y="2834640"/>
            <a:ext cx="3017520" cy="329184"/>
          </a:xfrm>
          <a:prstGeom prst="rect">
            <a:avLst/>
          </a:prstGeom>
          <a:solidFill>
            <a:srgbClr val="1A2F1A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69280" y="28346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Bus  (Kafka)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Topics: user.* · order.* · payment.*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5669280" y="3255264"/>
            <a:ext cx="1005840" cy="420624"/>
          </a:xfrm>
          <a:prstGeom prst="rect">
            <a:avLst/>
          </a:prstGeom>
          <a:solidFill>
            <a:srgbClr val="193A4F"/>
          </a:solidFill>
          <a:ln w="9525">
            <a:solidFill>
              <a:srgbClr val="0A7E8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669280" y="325526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6766560" y="3255264"/>
            <a:ext cx="1005840" cy="420624"/>
          </a:xfrm>
          <a:prstGeom prst="rect">
            <a:avLst/>
          </a:prstGeom>
          <a:solidFill>
            <a:srgbClr val="193A4F"/>
          </a:solidFill>
          <a:ln w="9525">
            <a:solidFill>
              <a:srgbClr val="0A7E8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766560" y="325526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Notif.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7863840" y="3255264"/>
            <a:ext cx="1005840" cy="420624"/>
          </a:xfrm>
          <a:prstGeom prst="rect">
            <a:avLst/>
          </a:prstGeom>
          <a:solidFill>
            <a:srgbClr val="193A4F"/>
          </a:solidFill>
          <a:ln w="9525">
            <a:solidFill>
              <a:srgbClr val="0A7E8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863840" y="325526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5669280" y="3767328"/>
            <a:ext cx="3017520" cy="384048"/>
          </a:xfrm>
          <a:prstGeom prst="rect">
            <a:avLst/>
          </a:prstGeom>
          <a:solidFill>
            <a:srgbClr val="1C1030"/>
          </a:solidFill>
          <a:ln w="9525">
            <a:solidFill>
              <a:srgbClr val="9C27B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669280" y="37673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Data Stores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PostgreSQL×4 · Elasticsearch · ClickHouse · Redis/svc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55448"/>
            <a:ext cx="8723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 Record — Why Strangler Fig, Not Rewrite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56032" y="612648"/>
            <a:ext cx="8723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evaluation spike  ·  April 14–25, 2026  ·  Three options scored against risk, timeline, and reversibility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56032" y="813816"/>
            <a:ext cx="8723376" cy="2286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69264"/>
            <a:ext cx="2798064" cy="2560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9692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1: Full Rewrite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6032" y="1225296"/>
            <a:ext cx="2798064" cy="1847088"/>
          </a:xfrm>
          <a:prstGeom prst="rect">
            <a:avLst/>
          </a:prstGeom>
          <a:solidFill>
            <a:srgbClr val="0F2638"/>
          </a:solidFill>
          <a:ln w="9525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28016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rebuild in Go + gRPC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7472" y="1503274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14–18 months, 8 dedicated engineers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7472" y="1726387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 still needs maintenance concurrently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1949501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systems running in parallel for 12+ months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47472" y="2172614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data: rewrites take 2–3× est. timeline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2395728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Netscape, Basecamp: frequently fail to ship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7472" y="261884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340K lines of tested logic — all edge cases must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7472" y="2841955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be rediscovered the hard way during rewrite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3090672"/>
            <a:ext cx="822960" cy="2011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0906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136392" y="969264"/>
            <a:ext cx="2798064" cy="25603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9544" y="9692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2: Modularize Monolith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136392" y="1225296"/>
            <a:ext cx="2798064" cy="1847088"/>
          </a:xfrm>
          <a:prstGeom prst="rect">
            <a:avLst/>
          </a:prstGeom>
          <a:solidFill>
            <a:srgbClr val="0F2638"/>
          </a:solidFill>
          <a:ln w="9525">
            <a:solidFill>
              <a:srgbClr val="F57C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27832" y="128016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Tried Q4 2025 as 'Atlas Modular' initiative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27832" y="1503274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weeks: Django apps → discrete packages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27832" y="1726387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conflicts ↓30% — deploy freq. unchanged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27832" y="1949501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one artifact → 47-min CI build unchanged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27832" y="2172614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 unchanged — one deploy breaks all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27832" y="2395728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code coupling, not deploy coupling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27832" y="261884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is artifact cohesion, not structure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227832" y="2841955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path to independent deploys without extraction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27832" y="3090672"/>
            <a:ext cx="822960" cy="20116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27832" y="30906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016752" y="969264"/>
            <a:ext cx="2798064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9904" y="9692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3: Strangler Fig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016752" y="1225296"/>
            <a:ext cx="2798064" cy="1847088"/>
          </a:xfrm>
          <a:prstGeom prst="rect">
            <a:avLst/>
          </a:prstGeom>
          <a:solidFill>
            <a:srgbClr val="0F2638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08192" y="128016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extraction behind API Gateway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08192" y="1503274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validated in prod before cutover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108192" y="1726387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= reroute traffic back to monolith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08192" y="1949501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bounded to one service at a time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08192" y="2172614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in Q1 2026 prototype: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108192" y="2395728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User Svc: 3 wks extract, 2 wks parallel run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108192" y="261884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Cutover with zero customer-facing incidents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108192" y="2841955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harder extractions (Orders, Payments)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108192" y="3090672"/>
            <a:ext cx="822960" cy="2011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08192" y="30906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56032" y="3310128"/>
            <a:ext cx="8723376" cy="219456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" y="3310128"/>
            <a:ext cx="8540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BOUNDARIES &amp; TIMELINE CONFIDENCE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56032" y="3566160"/>
            <a:ext cx="4306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NOT Doing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56032" y="3749040"/>
            <a:ext cx="4306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Reporting &amp; Admin stay in monolith; low-traffic, low-change — extraction cost &gt; benefit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56032" y="4059936"/>
            <a:ext cx="4306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self-hosting Kafka — Confluent Cloud managed; team has zero Kafka experience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56032" y="4370832"/>
            <a:ext cx="4306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Istio deferred to Month 3; ClickHouse to Month 5 — stagger tools to avoid overload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672584" y="3566160"/>
            <a:ext cx="4306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Confidence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672584" y="3749040"/>
            <a:ext cx="4306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65% confident: Phase 1–2 on schedule — validated by Q1 2026 User Service prototype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672584" y="4059936"/>
            <a:ext cx="4306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40% confident: Phase 3 on time — ClickHouse adoption has unknown learning curve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672584" y="4370832"/>
            <a:ext cx="4306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Checkout Saga is highest-risk item; may slip Phase 2 by 1 week — flagged proactively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55448"/>
            <a:ext cx="8723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Plan — 6-Month Phased Rollout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56032" y="612648"/>
            <a:ext cx="8723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Foundation (M1–2) · Phase 2: Commerce Core (M3–4) · Phase 3: Platform &amp; Optimization (M5–6)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56032" y="813816"/>
            <a:ext cx="8723376" cy="22860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69264"/>
            <a:ext cx="2852928" cy="20116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969264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Foundation  ·  Months 1–2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191256" y="969264"/>
            <a:ext cx="2852928" cy="2011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91256" y="969264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Commerce Core  ·  Months 3–4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126480" y="969264"/>
            <a:ext cx="2852928" cy="20116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969264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Platform &amp; Opt.  ·  Months 5–6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56032" y="1207008"/>
            <a:ext cx="8723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Foundation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371600"/>
          <a:ext cx="8723376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591056"/>
                <a:gridCol w="3657600"/>
              </a:tblGrid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API Gateway (Kong)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traffic via gateway; monolith = upstream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Instrument with OpenTelemetry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 + all squads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Distributed tracing: HTTP + Celery tasks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User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squad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CRUD, auth, permissions standalone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 up Kafka (3 brokers)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bus; user.created / user.updated topics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migration tooling (CDC)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Debezium CDC; dual-write; reconciliation jobs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256032" y="2569464"/>
            <a:ext cx="8723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Commerce Core</a:t>
            </a:r>
            <a:endParaRPr lang="en-US" sz="9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2706624"/>
          <a:ext cx="8723376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591056"/>
                <a:gridCol w="3657600"/>
              </a:tblGrid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Order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 squad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Orders, carts, pricing standalone; Kafka consumer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Payment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 squad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Stripe, invoicing, refunds standalone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Checkout Saga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 + Identity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Distributed txn: order → inventory → charge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Search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 squad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Elasticsearch standalone; monolith → Kafka producer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256032" y="3675888"/>
            <a:ext cx="8723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Platform &amp; Optimization</a:t>
            </a:r>
            <a:endParaRPr lang="en-US" sz="90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3813048"/>
          <a:ext cx="8723376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591056"/>
                <a:gridCol w="3657600"/>
              </a:tblGrid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6E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6E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6E7A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Notification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squad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Email/SMS/push via SQS; template management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Analytics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squad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ClickHouse ingestion; dashboards migrate to new APIs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Decommission monolith modules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squads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extracted code; monolith = thin orchestrator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Chaos engineering + perf tuning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targets met; circuit breakers tested; runbooks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55448"/>
            <a:ext cx="8723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Matrix &amp; Observability Stack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56032" y="612648"/>
            <a:ext cx="8723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Severity-coded risks with bounded mitigations · Full-stack monitoring instrumented from Phase 1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56032" y="813816"/>
            <a:ext cx="8723376" cy="22860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32688"/>
            <a:ext cx="8723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Matrix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115568"/>
          <a:ext cx="8723376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96112"/>
                <a:gridCol w="768096"/>
                <a:gridCol w="896112"/>
                <a:gridCol w="4151376"/>
              </a:tblGrid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Distributed transaction failures (checkout saga)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360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360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Compensation/rollback per saga step; feature flag → monolith checkout fallback; integration tests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 instability (team inexperience)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7C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360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360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Hire Kafka specialist 3 months; Confluent Cloud managed; start with 3 low-throughput topics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inconsistency during dual-write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360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7C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360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Debezium CDC instead of app dual-write; hourly reconciliation jobs; rollback documented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Service-to-service latency overrun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7C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7C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7C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P99 200ms budget per hop; Istio circuit breakers 500ms; async events over sync calls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 scope expansion (Payment Service)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360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7C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review M2 before extraction; Stripe hosted checkout minimises PCI surface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56032" y="2651760"/>
            <a:ext cx="8723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Stack</a:t>
            </a:r>
            <a:endParaRPr lang="en-US" sz="9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2798064"/>
          <a:ext cx="8723376" cy="914400"/>
        </p:xfrm>
        <a:graphic>
          <a:graphicData uri="http://schemas.openxmlformats.org/drawingml/2006/table">
            <a:tbl>
              <a:tblPr/>
              <a:tblGrid>
                <a:gridCol w="1078992"/>
                <a:gridCol w="1700784"/>
                <a:gridCol w="3236976"/>
                <a:gridCol w="2706624"/>
              </a:tblGrid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Threshold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 + Grafana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(rate, errors, duration); saturation (CPU, mem, conns)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rate &gt;1% / 5 min  ·  P99 &gt;500ms / 10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Jaeger + OpenTelemetry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request flow; latency per service hop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 &gt;2 s  ·  Span error rate &gt;5%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ELK Stack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JSON logs; correlation IDs across services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log rate &gt;50 / min per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Checks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K8s liveness + readiness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availability; DB / Redis / Kafka health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Probe failure → restart; 3× → page SRE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PagerDuty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Tiered: P1 page → P2 Slack → P3 next business 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thresholds above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256032" y="4224528"/>
            <a:ext cx="8723376" cy="402336"/>
          </a:xfrm>
          <a:prstGeom prst="rect">
            <a:avLst/>
          </a:prstGeom>
          <a:solidFill>
            <a:srgbClr val="D6EEF2"/>
          </a:solidFill>
          <a:ln w="6350">
            <a:solidFill>
              <a:srgbClr val="0A7E8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47472" y="4224528"/>
            <a:ext cx="8540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Grafana Dashboards:  Service Overview (RED per service)  ·  Kafka Health (consumer lag, broker disk, replication)  ·  Checkout Saga (success %, avg duration, failure by step)  ·  Deploy Tracker (last deploy, canary %, rollback count)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55448"/>
            <a:ext cx="8723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 &amp; Target Team Structure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56032" y="612648"/>
            <a:ext cx="8723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DORA targets · 6-month and 12-month checkpoints · Squad ownership · You build it, you run it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56032" y="813816"/>
            <a:ext cx="8723376" cy="2286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32688"/>
            <a:ext cx="8723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After — DORA &amp; Engineering Health Targets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133856"/>
          <a:ext cx="8723376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554480"/>
                <a:gridCol w="1956816"/>
                <a:gridCol w="3291840"/>
              </a:tblGrid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(Atlas)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12-Month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Frequency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8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 / week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9F6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1+ / day per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 pipeline metrics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Time (→ prod)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8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9F6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 merge → deploy timestamp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Failure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8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9F6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Hotfix deploys / 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MTTR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8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 hours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9F6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30 minutes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PagerDuty incident duration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P99 API Latency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8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820 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9F6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200 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 histograms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Build 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8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 minutes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9F6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8 min /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 duration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Flakiness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8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9F6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failure rate (excl. bugs)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Satisfaction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8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 / 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9F6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 / 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eng survey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56032" y="3072384"/>
            <a:ext cx="146304" cy="128016"/>
          </a:xfrm>
          <a:prstGeom prst="rect">
            <a:avLst/>
          </a:prstGeom>
          <a:solidFill>
            <a:srgbClr val="3B1010"/>
          </a:solidFill>
          <a:ln w="6350">
            <a:solidFill>
              <a:srgbClr val="FF8A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072384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— problem state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090672" y="3072384"/>
            <a:ext cx="146304" cy="128016"/>
          </a:xfrm>
          <a:prstGeom prst="rect">
            <a:avLst/>
          </a:prstGeom>
          <a:solidFill>
            <a:srgbClr val="082210"/>
          </a:solidFill>
          <a:ln w="6350">
            <a:solidFill>
              <a:srgbClr val="B9F6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91840" y="3072384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F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Target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256032" y="3236976"/>
            <a:ext cx="8723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Squad Structure — Service Ownership Model</a:t>
            </a:r>
            <a:endParaRPr lang="en-US" sz="9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3401568"/>
          <a:ext cx="8723376" cy="914400"/>
        </p:xfrm>
        <a:graphic>
          <a:graphicData uri="http://schemas.openxmlformats.org/drawingml/2006/table">
            <a:tbl>
              <a:tblPr/>
              <a:tblGrid>
                <a:gridCol w="987552"/>
                <a:gridCol w="2340864"/>
                <a:gridCol w="640080"/>
                <a:gridCol w="1463040"/>
                <a:gridCol w="3291840"/>
              </a:tblGrid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 Owned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On-Call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Responsibility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Service, Auth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eng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own pager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CRUD, org mgmt, JWT / SSO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Service, Payment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eng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own pager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 saga, Stripe, invoicing, pricing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eng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w/ Platform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Elasticsearch, product index, query logs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Notif. Svc, API Gateway, shared libs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eng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own pager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SQS templates, Kong routing, dev tooling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eng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w/ Platform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ClickHouse, Kafka consumers, metrics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Kafka, K8s, monitoring, incidents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eng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primary escalation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reliability, chaos eng., runbooks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Chimera: Monolith Decomposition Plan</dc:title>
  <dc:subject>PptxGenJS Presentation</dc:subject>
  <dc:creator>Engineering Leadership</dc:creator>
  <cp:lastModifiedBy>Engineering Leadership</cp:lastModifiedBy>
  <cp:revision>1</cp:revision>
  <dcterms:created xsi:type="dcterms:W3CDTF">2026-03-31T19:56:22Z</dcterms:created>
  <dcterms:modified xsi:type="dcterms:W3CDTF">2026-03-31T19:56:22Z</dcterms:modified>
</cp:coreProperties>
</file>