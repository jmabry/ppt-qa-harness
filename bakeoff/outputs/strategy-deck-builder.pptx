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7.2</c:v>
                </c:pt>
                <c:pt idx="1">
                  <c:v>8.5</c:v>
                </c:pt>
                <c:pt idx="2">
                  <c:v>9.8</c:v>
                </c:pt>
                <c:pt idx="3">
                  <c:v>11.4</c:v>
                </c:pt>
                <c:pt idx="4">
                  <c:v>12.8</c:v>
                </c:pt>
                <c:pt idx="5">
                  <c:v>14.1</c:v>
                </c:pt>
                <c:pt idx="6">
                  <c:v>15.6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8FAFC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</c:v>
                </c:pt>
                <c:pt idx="1">
                  <c:v>74</c:v>
                </c:pt>
                <c:pt idx="2">
                  <c:v>80</c:v>
                </c:pt>
                <c:pt idx="3">
                  <c:v>86</c:v>
                </c:pt>
                <c:pt idx="4">
                  <c:v>92</c:v>
                </c:pt>
                <c:pt idx="5">
                  <c:v>98</c:v>
                </c:pt>
                <c:pt idx="6">
                  <c:v>112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EA5E9"/>
            </a:solidFill>
            <a:ln w="25400" cap="flat">
              <a:solidFill>
                <a:srgbClr val="0EA5E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2.2</c:v>
                </c:pt>
                <c:pt idx="1">
                  <c:v>2.55</c:v>
                </c:pt>
                <c:pt idx="2">
                  <c:v>2.65</c:v>
                </c:pt>
                <c:pt idx="3">
                  <c:v>2.8</c:v>
                </c:pt>
                <c:pt idx="4">
                  <c:v>3.4</c:v>
                </c:pt>
                <c:pt idx="5">
                  <c:v>3.7</c:v>
                </c:pt>
                <c:pt idx="6">
                  <c:v>4.1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92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  |  Q3 2026 Strategic Review  |  CONFIDENTIAL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Strategic Review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SaaS  |  $32M (March 2025)  |  B2B Predictive Analytics for Manufacturing  |  118 Employees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Sarah Chen (CEO)  ·  Jeff Blackwell (Insight)  ·  Priya Sharma (Accel)  ·  Tom Nguyen (Independent)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3840480" cy="1645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01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WINS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084832"/>
            <a:ext cx="4114800" cy="1371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579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ARR +10.6% QoQ to $15.6M — ahead of plan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4048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record: $8.6M generated (best-ever quarter)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Q3 hiring complete: VP CS + Head Partnerships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9535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CONCERNS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3136392"/>
            <a:ext cx="4114800" cy="1371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95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Churn spike: $500K (up from $300K) — $290K preventable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4564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Competitive pressure: DataForge mfg module + Zenith Series 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75818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REQUIRED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941064"/>
            <a:ext cx="4114800" cy="1371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142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CS Investment: Approve $2.5M to address $290K preventable churn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0" y="475488"/>
            <a:ext cx="1828800" cy="987552"/>
          </a:xfrm>
          <a:prstGeom prst="rect">
            <a:avLst/>
          </a:prstGeom>
          <a:solidFill>
            <a:srgbClr val="162340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6672" y="530352"/>
            <a:ext cx="1682496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$15.6M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58384" y="96926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58384" y="117043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+10.6% QoQ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42048" y="475488"/>
            <a:ext cx="1828800" cy="987552"/>
          </a:xfrm>
          <a:prstGeom prst="rect">
            <a:avLst/>
          </a:prstGeom>
          <a:solidFill>
            <a:srgbClr val="162340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530352"/>
            <a:ext cx="1682496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96912" y="96926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96912" y="117043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121%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03520" y="1572768"/>
            <a:ext cx="1828800" cy="987552"/>
          </a:xfrm>
          <a:prstGeom prst="rect">
            <a:avLst/>
          </a:prstGeom>
          <a:solidFill>
            <a:srgbClr val="162340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1627632"/>
            <a:ext cx="1682496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$8.6M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58384" y="206654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358384" y="226771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quarter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242048" y="1572768"/>
            <a:ext cx="1828800" cy="987552"/>
          </a:xfrm>
          <a:prstGeom prst="rect">
            <a:avLst/>
          </a:prstGeom>
          <a:solidFill>
            <a:srgbClr val="162340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1627632"/>
            <a:ext cx="1682496" cy="4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$18.2M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296912" y="206654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296912" y="226771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81mo runway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212080" y="2606040"/>
            <a:ext cx="3794760" cy="13716"/>
          </a:xfrm>
          <a:prstGeom prst="rect">
            <a:avLst/>
          </a:prstGeom>
          <a:solidFill>
            <a:srgbClr val="2A3A5E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0" y="2651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Meeting  ·  Q3 2026  ·  March 30, 2026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03520" y="28712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36208" y="28712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05472" y="28712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38160" y="28712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$223K/mo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03520" y="3145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Number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36208" y="3145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05472" y="3145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138160" y="3145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months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03520" y="34198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Retention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36208" y="34198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05472" y="34198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138160" y="34198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(+20 Q3)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Dashboard — Q3 2026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  |  Q3 2026 Strategic Review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1920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21792"/>
            <a:ext cx="177393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$15.6M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" y="97840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12064" y="11795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+10.6% QoQ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96312" y="566928"/>
            <a:ext cx="1920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9464" y="621792"/>
            <a:ext cx="177393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51176" y="97840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51176" y="11795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121% ↓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35424" y="566928"/>
            <a:ext cx="1920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621792"/>
            <a:ext cx="177393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0288" y="97840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90288" y="11795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80%+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74536" y="566928"/>
            <a:ext cx="1920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621792"/>
            <a:ext cx="177393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97840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Number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29400" y="11795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0.98 ↑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15727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TREND ($M)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1755648"/>
            <a:ext cx="4206240" cy="13716"/>
          </a:xfrm>
          <a:prstGeom prst="rect">
            <a:avLst/>
          </a:prstGeom>
          <a:solidFill>
            <a:srgbClr val="0284C7"/>
          </a:solidFill>
          <a:ln/>
        </p:spPr>
      </p:sp>
      <p:graphicFrame>
        <p:nvGraphicFramePr>
          <p:cNvPr id="24" name="Chart 0" descr=""/>
          <p:cNvGraphicFramePr/>
          <p:nvPr/>
        </p:nvGraphicFramePr>
        <p:xfrm>
          <a:off x="457200" y="1810512"/>
          <a:ext cx="4206240" cy="14264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4937760" y="15727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937760" y="1755648"/>
            <a:ext cx="3749040" cy="13716"/>
          </a:xfrm>
          <a:prstGeom prst="rect">
            <a:avLst/>
          </a:prstGeom>
          <a:solidFill>
            <a:srgbClr val="0284C7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792224"/>
          <a:ext cx="37490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58368"/>
                <a:gridCol w="658368"/>
                <a:gridCol w="658368"/>
                <a:gridCol w="630936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Improv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120%+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Churn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 Retention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Declin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LTV:CAC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4.0x+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Payback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&lt;16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Improv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 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&gt;0.75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493776" y="3630168"/>
            <a:ext cx="1984248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30352" y="3648456"/>
            <a:ext cx="9258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530352" y="383133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$18.2M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2551176" y="3630168"/>
            <a:ext cx="1984248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587752" y="3648456"/>
            <a:ext cx="9258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Burn/mo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2587752" y="383133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$223K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608576" y="3630168"/>
            <a:ext cx="1984248" cy="457200"/>
          </a:xfrm>
          <a:prstGeom prst="rect">
            <a:avLst/>
          </a:prstGeom>
          <a:solidFill>
            <a:srgbClr val="D1FAE5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645152" y="3648456"/>
            <a:ext cx="9258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4645152" y="383133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mo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665976" y="3630168"/>
            <a:ext cx="1984248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702552" y="3648456"/>
            <a:ext cx="9258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Multiple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6702552" y="383133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0.36x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Performance + Customer Health — Q3 2026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  |  Q3 2026 Strategic Review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4114800" cy="13716"/>
          </a:xfrm>
          <a:prstGeom prst="rect">
            <a:avLst/>
          </a:prstGeom>
          <a:solidFill>
            <a:srgbClr val="0284C7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86384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822960"/>
                <a:gridCol w="82296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QoQ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Generated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Deal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$42K ACV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$38K ACV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Cycle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Attainment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41401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BY CHANNEL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2596896"/>
            <a:ext cx="4114800" cy="13716"/>
          </a:xfrm>
          <a:prstGeom prst="rect">
            <a:avLst/>
          </a:prstGeom>
          <a:solidFill>
            <a:srgbClr val="0284C7"/>
          </a:solidFill>
          <a:ln/>
        </p:spPr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33472"/>
          <a:ext cx="41148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13232"/>
                <a:gridCol w="457200"/>
                <a:gridCol w="548640"/>
                <a:gridCol w="59436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ACV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SDR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 Mktg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PLG/Self-Serve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Partner/Referral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846320" y="566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DEEP DIVE — Q3 ($500K TOTAL)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846320" y="749808"/>
            <a:ext cx="3840480" cy="13716"/>
          </a:xfrm>
          <a:prstGeom prst="rect">
            <a:avLst/>
          </a:prstGeom>
          <a:solidFill>
            <a:srgbClr val="0284C7"/>
          </a:solidFill>
          <a:ln/>
        </p:spPr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786384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58368"/>
                <a:gridCol w="1463040"/>
                <a:gridCol w="502920"/>
              </a:tblGrid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Lost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Apex Manufacturing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M&amp;A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Dynamics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SMB accounts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/ DataForge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TechFab Solutions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implementation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SMB accounts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usage/onboarding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Consolidated Parts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cuts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4846320" y="2665476"/>
            <a:ext cx="3840480" cy="65836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937760" y="27203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$290K of $500K (58%) preventable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937760" y="29306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causes: weak SMB onboarding  ·  no down-tier option  ·  1 CS implementation failure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Delivery + Team — Q3 2026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  |  Q3 2026 Strategic Review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SHIPPED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4114800" cy="13716"/>
          </a:xfrm>
          <a:prstGeom prst="rect">
            <a:avLst/>
          </a:prstGeom>
          <a:solidFill>
            <a:srgbClr val="0284C7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86384"/>
          <a:ext cx="41148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280160"/>
                <a:gridCol w="12344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Maint v2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 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$1.2M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 dashboards, 89 accts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tickets -18%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connected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accelerant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Type 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8/15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deals unlocked ($380K)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2677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BY FUNCTION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2450592"/>
            <a:ext cx="4114800" cy="13716"/>
          </a:xfrm>
          <a:prstGeom prst="rect">
            <a:avLst/>
          </a:prstGeom>
          <a:solidFill>
            <a:srgbClr val="0284C7"/>
          </a:solidFill>
          <a:ln/>
        </p:spPr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87168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40080"/>
                <a:gridCol w="594360"/>
                <a:gridCol w="777240"/>
              </a:tblGrid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Target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846320" y="566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ROADMAP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846320" y="749808"/>
            <a:ext cx="3840480" cy="13716"/>
          </a:xfrm>
          <a:prstGeom prst="rect">
            <a:avLst/>
          </a:prstGeom>
          <a:solidFill>
            <a:srgbClr val="0284C7"/>
          </a:solidFill>
          <a:ln/>
        </p:spPr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786384"/>
          <a:ext cx="3840480" cy="914400"/>
        </p:xfrm>
        <a:graphic>
          <a:graphicData uri="http://schemas.openxmlformats.org/drawingml/2006/table">
            <a:tbl>
              <a:tblPr/>
              <a:tblGrid>
                <a:gridCol w="347472"/>
                <a:gridCol w="1298448"/>
                <a:gridCol w="86868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deals $200K+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Siemens MindSphere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→ Dev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$4M TAM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Usage-based pricing (SMB)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complete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Fixes 58% prev churn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warning 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Freq. requested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4846320" y="25237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HEADCOUNT GROWTH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846320" y="2706624"/>
            <a:ext cx="3840480" cy="13716"/>
          </a:xfrm>
          <a:prstGeom prst="rect">
            <a:avLst/>
          </a:prstGeom>
          <a:solidFill>
            <a:srgbClr val="0284C7"/>
          </a:solidFill>
          <a:ln/>
        </p:spPr>
      </p:sp>
      <p:graphicFrame>
        <p:nvGraphicFramePr>
          <p:cNvPr id="17" name="Chart 0" descr=""/>
          <p:cNvGraphicFramePr/>
          <p:nvPr/>
        </p:nvGraphicFramePr>
        <p:xfrm>
          <a:off x="4846320" y="2743200"/>
          <a:ext cx="3840480" cy="13898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 + Competitive Landscape — Q3 2026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  |  Q3 2026 Strategic Review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SUMMARY ($M)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4846320" cy="13716"/>
          </a:xfrm>
          <a:prstGeom prst="rect">
            <a:avLst/>
          </a:prstGeom>
          <a:solidFill>
            <a:srgbClr val="0284C7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86384"/>
          <a:ext cx="48463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66928"/>
                <a:gridCol w="566928"/>
                <a:gridCol w="566928"/>
                <a:gridCol w="658368"/>
                <a:gridCol w="658368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YoY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($580K)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($700K)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($670K)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($2.52M)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24942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POSITION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2432304"/>
            <a:ext cx="4846320" cy="1371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4688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Hand: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755648" y="2468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$18.2M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2715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Burn: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755648" y="2715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$223K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29626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755648" y="29626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months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32095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Multiple: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755648" y="3209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0.36x  (Excellent)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356616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TREND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4846320" cy="13716"/>
          </a:xfrm>
          <a:prstGeom prst="rect">
            <a:avLst/>
          </a:prstGeom>
          <a:solidFill>
            <a:srgbClr val="0284C7"/>
          </a:solidFill>
          <a:ln/>
        </p:spPr>
      </p:sp>
      <p:graphicFrame>
        <p:nvGraphicFramePr>
          <p:cNvPr id="21" name="Chart 0" descr=""/>
          <p:cNvGraphicFramePr/>
          <p:nvPr/>
        </p:nvGraphicFramePr>
        <p:xfrm>
          <a:off x="457200" y="3785616"/>
          <a:ext cx="4846320" cy="960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8"/>
          <p:cNvSpPr/>
          <p:nvPr/>
        </p:nvSpPr>
        <p:spPr>
          <a:xfrm>
            <a:off x="5577840" y="5669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5577840" y="749808"/>
            <a:ext cx="3108960" cy="13716"/>
          </a:xfrm>
          <a:prstGeom prst="rect">
            <a:avLst/>
          </a:prstGeom>
          <a:solidFill>
            <a:srgbClr val="0284C7"/>
          </a:solidFill>
          <a:ln/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786384"/>
          <a:ext cx="310896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640080"/>
                <a:gridCol w="640080"/>
                <a:gridCol w="640080"/>
                <a:gridCol w="640080"/>
              </a:tblGrid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NovaCrest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DataForge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Acme Analytics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Zenith 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Mfg (pure)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Mfg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depth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speed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vs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Zenith: 72%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NC: 31%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overlap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00" marR="3657600" marT="0" marB="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Text 20"/>
          <p:cNvSpPr/>
          <p:nvPr/>
        </p:nvSpPr>
        <p:spPr>
          <a:xfrm>
            <a:off x="5577840" y="27477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5577840" y="2930652"/>
            <a:ext cx="3108960" cy="1371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7" name="Text 22"/>
          <p:cNvSpPr/>
          <p:nvPr/>
        </p:nvSpPr>
        <p:spPr>
          <a:xfrm>
            <a:off x="5577840" y="29672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DataForge mfg module — monitor win/loss tightly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5577840" y="32049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SMB churn continues without pricing fix (P1)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5577840" y="34427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 capacity: 2 FTE open roles slow to close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5577840" y="36804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Series C timing: raise momentum vs optionality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Asks — Q3 2026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  |  Q3 2026 Strategic Review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8229600" cy="1389888"/>
          </a:xfrm>
          <a:prstGeom prst="rect">
            <a:avLst/>
          </a:prstGeom>
          <a:solidFill>
            <a:srgbClr val="162340"/>
          </a:solidFill>
          <a:ln w="7620">
            <a:solidFill>
              <a:srgbClr val="2A3A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66928"/>
            <a:ext cx="54864" cy="13898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85216" y="658368"/>
            <a:ext cx="6583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6583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280160" y="6583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" y="877824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$2.5M CS Investment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" y="1152144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8 FTEs: 4 onboarding specialists · 2 renewal managers · 1 SMB CS lead · 1 CS ops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1792" y="1353312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Addresses $290K/yr preventable churn — saves ~$700K ARR/yr at full effectiveness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21792" y="155448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Payback: 14 months  ·  Risk without action: Q4 churn could reach $600K+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11696" y="877824"/>
            <a:ext cx="1810512" cy="987552"/>
          </a:xfrm>
          <a:prstGeom prst="rect">
            <a:avLst/>
          </a:prstGeom>
          <a:solidFill>
            <a:srgbClr val="1A274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91440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$700K/yr saved  |  14mo payback  |  NRR recovery from 118% → 122%+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048256"/>
            <a:ext cx="8229600" cy="1389888"/>
          </a:xfrm>
          <a:prstGeom prst="rect">
            <a:avLst/>
          </a:prstGeom>
          <a:solidFill>
            <a:srgbClr val="162340"/>
          </a:solidFill>
          <a:ln w="7620">
            <a:solidFill>
              <a:srgbClr val="2A3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048256"/>
            <a:ext cx="54864" cy="13898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585216" y="2139696"/>
            <a:ext cx="6583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" y="21396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280160" y="21396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5216" y="2359152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Usage-Based SMB Pricing Tier ($499/mo entry point)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" y="2633472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Current floor $2.5K/mo loses 60+ qualified prospects per quarter on price alone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1792" y="283464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Down-tier risk on existing base: ~$200K ARR · Net impact positive within 2 quarters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1792" y="3035808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+$1.2M new ARR in 12 months at current pipeline conversion rates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11696" y="2359152"/>
            <a:ext cx="1810512" cy="987552"/>
          </a:xfrm>
          <a:prstGeom prst="rect">
            <a:avLst/>
          </a:prstGeom>
          <a:solidFill>
            <a:srgbClr val="1A274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2395728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+$1.2M net new ARR in 12 mo  |  Opens 300+ prospect ICP segment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NovaCrest Q3 2026 Strategic Review</dc:title>
  <dc:subject>PptxGenJS Presentation</dc:subject>
  <dc:creator>NovaCrest</dc:creator>
  <cp:lastModifiedBy>NovaCrest</cp:lastModifiedBy>
  <cp:revision>1</cp:revision>
  <dcterms:created xsi:type="dcterms:W3CDTF">2026-03-30T21:37:32Z</dcterms:created>
  <dcterms:modified xsi:type="dcterms:W3CDTF">2026-03-30T21:37:32Z</dcterms:modified>
</cp:coreProperties>
</file>